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D21"/>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93408"/>
            <a:ext cx="12191695" cy="164592"/>
          </a:xfrm>
          <a:prstGeom prst="rect">
            <a:avLst/>
          </a:prstGeom>
          <a:solidFill>
            <a:srgbClr val="E6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051560"/>
            <a:ext cx="9144000" cy="457200"/>
          </a:xfrm>
          <a:prstGeom prst="rect">
            <a:avLst/>
          </a:prstGeom>
          <a:noFill/>
        </p:spPr>
        <p:txBody>
          <a:bodyPr wrap="square">
            <a:spAutoFit/>
          </a:bodyPr>
          <a:lstStyle/>
          <a:p>
            <a:pPr algn="l"/>
            <a:r>
              <a:rPr sz="1500" b="1" i="0">
                <a:solidFill>
                  <a:srgbClr val="E69A1F"/>
                </a:solidFill>
                <a:latin typeface="Calibri"/>
              </a:rPr>
              <a:t>FINAL YEAR PROJECT DOCUMENTATION</a:t>
            </a:r>
          </a:p>
        </p:txBody>
      </p:sp>
      <p:sp>
        <p:nvSpPr>
          <p:cNvPr id="5" name="TextBox 4"/>
          <p:cNvSpPr txBox="1"/>
          <p:nvPr/>
        </p:nvSpPr>
        <p:spPr>
          <a:xfrm>
            <a:off x="777240" y="1600200"/>
            <a:ext cx="10515600" cy="1737360"/>
          </a:xfrm>
          <a:prstGeom prst="rect">
            <a:avLst/>
          </a:prstGeom>
          <a:noFill/>
        </p:spPr>
        <p:txBody>
          <a:bodyPr wrap="square">
            <a:spAutoFit/>
          </a:bodyPr>
          <a:lstStyle/>
          <a:p>
            <a:pPr algn="l"/>
            <a:r>
              <a:rPr sz="6400" b="1" i="0">
                <a:solidFill>
                  <a:srgbClr val="FFFFFF"/>
                </a:solidFill>
                <a:latin typeface="Calibri"/>
              </a:rPr>
              <a:t>KopaAlert</a:t>
            </a:r>
          </a:p>
        </p:txBody>
      </p:sp>
      <p:sp>
        <p:nvSpPr>
          <p:cNvPr id="6" name="TextBox 5"/>
          <p:cNvSpPr txBox="1"/>
          <p:nvPr/>
        </p:nvSpPr>
        <p:spPr>
          <a:xfrm>
            <a:off x="822960" y="2880360"/>
            <a:ext cx="10058400" cy="914400"/>
          </a:xfrm>
          <a:prstGeom prst="rect">
            <a:avLst/>
          </a:prstGeom>
          <a:noFill/>
        </p:spPr>
        <p:txBody>
          <a:bodyPr wrap="square">
            <a:spAutoFit/>
          </a:bodyPr>
          <a:lstStyle/>
          <a:p>
            <a:pPr algn="l"/>
            <a:r>
              <a:rPr sz="2200" b="0" i="0">
                <a:solidFill>
                  <a:srgbClr val="CFE3E0"/>
                </a:solidFill>
                <a:latin typeface="Calibri"/>
              </a:rPr>
              <a:t>An Automated Debt-Tracking and SMS/Email Payment-Reminder
System for Small Businesses</a:t>
            </a:r>
          </a:p>
        </p:txBody>
      </p:sp>
      <p:sp>
        <p:nvSpPr>
          <p:cNvPr id="7" name="Rectangle 6"/>
          <p:cNvSpPr/>
          <p:nvPr/>
        </p:nvSpPr>
        <p:spPr>
          <a:xfrm>
            <a:off x="822960" y="3977639"/>
            <a:ext cx="3840480" cy="3175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4251960"/>
            <a:ext cx="2377440" cy="320040"/>
          </a:xfrm>
          <a:prstGeom prst="rect">
            <a:avLst/>
          </a:prstGeom>
          <a:noFill/>
        </p:spPr>
        <p:txBody>
          <a:bodyPr wrap="square">
            <a:spAutoFit/>
          </a:bodyPr>
          <a:lstStyle/>
          <a:p>
            <a:pPr algn="l"/>
            <a:r>
              <a:rPr sz="1300" b="1" i="0">
                <a:solidFill>
                  <a:srgbClr val="E69A1F"/>
                </a:solidFill>
                <a:latin typeface="Calibri"/>
              </a:rPr>
              <a:t>Prepared by</a:t>
            </a:r>
          </a:p>
        </p:txBody>
      </p:sp>
      <p:sp>
        <p:nvSpPr>
          <p:cNvPr id="9" name="TextBox 8"/>
          <p:cNvSpPr txBox="1"/>
          <p:nvPr/>
        </p:nvSpPr>
        <p:spPr>
          <a:xfrm>
            <a:off x="3291840" y="4251960"/>
            <a:ext cx="7863840" cy="365760"/>
          </a:xfrm>
          <a:prstGeom prst="rect">
            <a:avLst/>
          </a:prstGeom>
          <a:noFill/>
        </p:spPr>
        <p:txBody>
          <a:bodyPr wrap="square">
            <a:spAutoFit/>
          </a:bodyPr>
          <a:lstStyle/>
          <a:p>
            <a:pPr algn="l"/>
            <a:r>
              <a:rPr sz="1300" b="0" i="0">
                <a:solidFill>
                  <a:srgbClr val="FFFFFF"/>
                </a:solidFill>
                <a:latin typeface="Calibri"/>
              </a:rPr>
              <a:t>Stanley Murangiri</a:t>
            </a:r>
          </a:p>
        </p:txBody>
      </p:sp>
      <p:sp>
        <p:nvSpPr>
          <p:cNvPr id="10" name="TextBox 9"/>
          <p:cNvSpPr txBox="1"/>
          <p:nvPr/>
        </p:nvSpPr>
        <p:spPr>
          <a:xfrm>
            <a:off x="822960" y="4599432"/>
            <a:ext cx="2377440" cy="320040"/>
          </a:xfrm>
          <a:prstGeom prst="rect">
            <a:avLst/>
          </a:prstGeom>
          <a:noFill/>
        </p:spPr>
        <p:txBody>
          <a:bodyPr wrap="square">
            <a:spAutoFit/>
          </a:bodyPr>
          <a:lstStyle/>
          <a:p>
            <a:pPr algn="l"/>
            <a:r>
              <a:rPr sz="1300" b="1" i="0">
                <a:solidFill>
                  <a:srgbClr val="E69A1F"/>
                </a:solidFill>
                <a:latin typeface="Calibri"/>
              </a:rPr>
              <a:t>Institution</a:t>
            </a:r>
          </a:p>
        </p:txBody>
      </p:sp>
      <p:sp>
        <p:nvSpPr>
          <p:cNvPr id="11" name="TextBox 10"/>
          <p:cNvSpPr txBox="1"/>
          <p:nvPr/>
        </p:nvSpPr>
        <p:spPr>
          <a:xfrm>
            <a:off x="3291840" y="4599432"/>
            <a:ext cx="7863840" cy="365760"/>
          </a:xfrm>
          <a:prstGeom prst="rect">
            <a:avLst/>
          </a:prstGeom>
          <a:noFill/>
        </p:spPr>
        <p:txBody>
          <a:bodyPr wrap="square">
            <a:spAutoFit/>
          </a:bodyPr>
          <a:lstStyle/>
          <a:p>
            <a:pPr algn="l"/>
            <a:r>
              <a:rPr sz="1300" b="0" i="0">
                <a:solidFill>
                  <a:srgbClr val="FFFFFF"/>
                </a:solidFill>
                <a:latin typeface="Calibri"/>
              </a:rPr>
              <a:t>Mama Ngina University College</a:t>
            </a:r>
          </a:p>
        </p:txBody>
      </p:sp>
      <p:sp>
        <p:nvSpPr>
          <p:cNvPr id="12" name="TextBox 11"/>
          <p:cNvSpPr txBox="1"/>
          <p:nvPr/>
        </p:nvSpPr>
        <p:spPr>
          <a:xfrm>
            <a:off x="822960" y="4946904"/>
            <a:ext cx="2377440" cy="320040"/>
          </a:xfrm>
          <a:prstGeom prst="rect">
            <a:avLst/>
          </a:prstGeom>
          <a:noFill/>
        </p:spPr>
        <p:txBody>
          <a:bodyPr wrap="square">
            <a:spAutoFit/>
          </a:bodyPr>
          <a:lstStyle/>
          <a:p>
            <a:pPr algn="l"/>
            <a:r>
              <a:rPr sz="1300" b="1" i="0">
                <a:solidFill>
                  <a:srgbClr val="E69A1F"/>
                </a:solidFill>
                <a:latin typeface="Calibri"/>
              </a:rPr>
              <a:t>Programme</a:t>
            </a:r>
          </a:p>
        </p:txBody>
      </p:sp>
      <p:sp>
        <p:nvSpPr>
          <p:cNvPr id="13" name="TextBox 12"/>
          <p:cNvSpPr txBox="1"/>
          <p:nvPr/>
        </p:nvSpPr>
        <p:spPr>
          <a:xfrm>
            <a:off x="3291840" y="4946904"/>
            <a:ext cx="7863840" cy="365760"/>
          </a:xfrm>
          <a:prstGeom prst="rect">
            <a:avLst/>
          </a:prstGeom>
          <a:noFill/>
        </p:spPr>
        <p:txBody>
          <a:bodyPr wrap="square">
            <a:spAutoFit/>
          </a:bodyPr>
          <a:lstStyle/>
          <a:p>
            <a:pPr algn="l"/>
            <a:r>
              <a:rPr sz="1300" b="0" i="0">
                <a:solidFill>
                  <a:srgbClr val="FFFFFF"/>
                </a:solidFill>
                <a:latin typeface="Calibri"/>
              </a:rPr>
              <a:t>[Add your degree programme / course code]</a:t>
            </a:r>
          </a:p>
        </p:txBody>
      </p:sp>
      <p:sp>
        <p:nvSpPr>
          <p:cNvPr id="14" name="TextBox 13"/>
          <p:cNvSpPr txBox="1"/>
          <p:nvPr/>
        </p:nvSpPr>
        <p:spPr>
          <a:xfrm>
            <a:off x="822960" y="5294376"/>
            <a:ext cx="2377440" cy="320040"/>
          </a:xfrm>
          <a:prstGeom prst="rect">
            <a:avLst/>
          </a:prstGeom>
          <a:noFill/>
        </p:spPr>
        <p:txBody>
          <a:bodyPr wrap="square">
            <a:spAutoFit/>
          </a:bodyPr>
          <a:lstStyle/>
          <a:p>
            <a:pPr algn="l"/>
            <a:r>
              <a:rPr sz="1300" b="1" i="0">
                <a:solidFill>
                  <a:srgbClr val="E69A1F"/>
                </a:solidFill>
                <a:latin typeface="Calibri"/>
              </a:rPr>
              <a:t>Registration No.</a:t>
            </a:r>
          </a:p>
        </p:txBody>
      </p:sp>
      <p:sp>
        <p:nvSpPr>
          <p:cNvPr id="15" name="TextBox 14"/>
          <p:cNvSpPr txBox="1"/>
          <p:nvPr/>
        </p:nvSpPr>
        <p:spPr>
          <a:xfrm>
            <a:off x="3291840" y="5294376"/>
            <a:ext cx="7863840" cy="365760"/>
          </a:xfrm>
          <a:prstGeom prst="rect">
            <a:avLst/>
          </a:prstGeom>
          <a:noFill/>
        </p:spPr>
        <p:txBody>
          <a:bodyPr wrap="square">
            <a:spAutoFit/>
          </a:bodyPr>
          <a:lstStyle/>
          <a:p>
            <a:pPr algn="l"/>
            <a:r>
              <a:rPr sz="1300" b="0" i="0">
                <a:solidFill>
                  <a:srgbClr val="FFFFFF"/>
                </a:solidFill>
                <a:latin typeface="Calibri"/>
              </a:rPr>
              <a:t>[Add your registration / admission number]</a:t>
            </a:r>
          </a:p>
        </p:txBody>
      </p:sp>
      <p:sp>
        <p:nvSpPr>
          <p:cNvPr id="16" name="TextBox 15"/>
          <p:cNvSpPr txBox="1"/>
          <p:nvPr/>
        </p:nvSpPr>
        <p:spPr>
          <a:xfrm>
            <a:off x="822960" y="5641848"/>
            <a:ext cx="2377440" cy="320040"/>
          </a:xfrm>
          <a:prstGeom prst="rect">
            <a:avLst/>
          </a:prstGeom>
          <a:noFill/>
        </p:spPr>
        <p:txBody>
          <a:bodyPr wrap="square">
            <a:spAutoFit/>
          </a:bodyPr>
          <a:lstStyle/>
          <a:p>
            <a:pPr algn="l"/>
            <a:r>
              <a:rPr sz="1300" b="1" i="0">
                <a:solidFill>
                  <a:srgbClr val="E69A1F"/>
                </a:solidFill>
                <a:latin typeface="Calibri"/>
              </a:rPr>
              <a:t>Supervisor</a:t>
            </a:r>
          </a:p>
        </p:txBody>
      </p:sp>
      <p:sp>
        <p:nvSpPr>
          <p:cNvPr id="17" name="TextBox 16"/>
          <p:cNvSpPr txBox="1"/>
          <p:nvPr/>
        </p:nvSpPr>
        <p:spPr>
          <a:xfrm>
            <a:off x="3291840" y="5641848"/>
            <a:ext cx="7863840" cy="365760"/>
          </a:xfrm>
          <a:prstGeom prst="rect">
            <a:avLst/>
          </a:prstGeom>
          <a:noFill/>
        </p:spPr>
        <p:txBody>
          <a:bodyPr wrap="square">
            <a:spAutoFit/>
          </a:bodyPr>
          <a:lstStyle/>
          <a:p>
            <a:pPr algn="l"/>
            <a:r>
              <a:rPr sz="1300" b="0" i="0">
                <a:solidFill>
                  <a:srgbClr val="FFFFFF"/>
                </a:solidFill>
                <a:latin typeface="Calibri"/>
              </a:rPr>
              <a:t>[Add supervisor's name]</a:t>
            </a:r>
          </a:p>
        </p:txBody>
      </p:sp>
      <p:sp>
        <p:nvSpPr>
          <p:cNvPr id="18" name="TextBox 17"/>
          <p:cNvSpPr txBox="1"/>
          <p:nvPr/>
        </p:nvSpPr>
        <p:spPr>
          <a:xfrm>
            <a:off x="822960" y="5989320"/>
            <a:ext cx="2377440" cy="320040"/>
          </a:xfrm>
          <a:prstGeom prst="rect">
            <a:avLst/>
          </a:prstGeom>
          <a:noFill/>
        </p:spPr>
        <p:txBody>
          <a:bodyPr wrap="square">
            <a:spAutoFit/>
          </a:bodyPr>
          <a:lstStyle/>
          <a:p>
            <a:pPr algn="l"/>
            <a:r>
              <a:rPr sz="1300" b="1" i="0">
                <a:solidFill>
                  <a:srgbClr val="E69A1F"/>
                </a:solidFill>
                <a:latin typeface="Calibri"/>
              </a:rPr>
              <a:t>Submitted</a:t>
            </a:r>
          </a:p>
        </p:txBody>
      </p:sp>
      <p:sp>
        <p:nvSpPr>
          <p:cNvPr id="19" name="TextBox 18"/>
          <p:cNvSpPr txBox="1"/>
          <p:nvPr/>
        </p:nvSpPr>
        <p:spPr>
          <a:xfrm>
            <a:off x="3291840" y="5989320"/>
            <a:ext cx="7863840" cy="365760"/>
          </a:xfrm>
          <a:prstGeom prst="rect">
            <a:avLst/>
          </a:prstGeom>
          <a:noFill/>
        </p:spPr>
        <p:txBody>
          <a:bodyPr wrap="square">
            <a:spAutoFit/>
          </a:bodyPr>
          <a:lstStyle/>
          <a:p>
            <a:pPr algn="l"/>
            <a:r>
              <a:rPr sz="1300" b="0" i="0">
                <a:solidFill>
                  <a:srgbClr val="FFFFFF"/>
                </a:solidFill>
                <a:latin typeface="Calibri"/>
              </a:rPr>
              <a:t>In partial fulfilment of the requirements for the award of [Add degree title],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AF9"/>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7315200" cy="320040"/>
          </a:xfrm>
          <a:prstGeom prst="rect">
            <a:avLst/>
          </a:prstGeom>
          <a:noFill/>
        </p:spPr>
        <p:txBody>
          <a:bodyPr wrap="square">
            <a:spAutoFit/>
          </a:bodyPr>
          <a:lstStyle/>
          <a:p>
            <a:pPr algn="l"/>
            <a:r>
              <a:rPr sz="1300" b="1" i="0">
                <a:solidFill>
                  <a:srgbClr val="E69A1F"/>
                </a:solidFill>
                <a:latin typeface="Calibri"/>
              </a:rPr>
              <a:t>ROADMAP</a:t>
            </a:r>
          </a:p>
        </p:txBody>
      </p:sp>
      <p:sp>
        <p:nvSpPr>
          <p:cNvPr id="4" name="TextBox 3"/>
          <p:cNvSpPr txBox="1"/>
          <p:nvPr/>
        </p:nvSpPr>
        <p:spPr>
          <a:xfrm>
            <a:off x="640080" y="621792"/>
            <a:ext cx="10515600" cy="731520"/>
          </a:xfrm>
          <a:prstGeom prst="rect">
            <a:avLst/>
          </a:prstGeom>
          <a:noFill/>
        </p:spPr>
        <p:txBody>
          <a:bodyPr wrap="square">
            <a:spAutoFit/>
          </a:bodyPr>
          <a:lstStyle/>
          <a:p>
            <a:pPr algn="l"/>
            <a:r>
              <a:rPr sz="3000" b="1" i="0">
                <a:solidFill>
                  <a:srgbClr val="121D21"/>
                </a:solidFill>
                <a:latin typeface="Calibri"/>
              </a:rPr>
              <a:t>Table of Contents</a:t>
            </a:r>
          </a:p>
        </p:txBody>
      </p:sp>
      <p:sp>
        <p:nvSpPr>
          <p:cNvPr id="5" name="Rectangle 4"/>
          <p:cNvSpPr/>
          <p:nvPr/>
        </p:nvSpPr>
        <p:spPr>
          <a:xfrm>
            <a:off x="658368" y="1298448"/>
            <a:ext cx="1005840" cy="4445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473952"/>
            <a:ext cx="5486400" cy="274320"/>
          </a:xfrm>
          <a:prstGeom prst="rect">
            <a:avLst/>
          </a:prstGeom>
          <a:noFill/>
        </p:spPr>
        <p:txBody>
          <a:bodyPr wrap="square">
            <a:spAutoFit/>
          </a:bodyPr>
          <a:lstStyle/>
          <a:p>
            <a:pPr algn="l"/>
            <a:r>
              <a:rPr sz="1000" b="0" i="0">
                <a:solidFill>
                  <a:srgbClr val="4B5A5E"/>
                </a:solidFill>
                <a:latin typeface="Calibri"/>
              </a:rPr>
              <a:t>KopaAlert — Stanley Murangiri</a:t>
            </a:r>
          </a:p>
        </p:txBody>
      </p:sp>
      <p:sp>
        <p:nvSpPr>
          <p:cNvPr id="7" name="TextBox 6"/>
          <p:cNvSpPr txBox="1"/>
          <p:nvPr/>
        </p:nvSpPr>
        <p:spPr>
          <a:xfrm>
            <a:off x="10972800" y="6473952"/>
            <a:ext cx="548640" cy="274320"/>
          </a:xfrm>
          <a:prstGeom prst="rect">
            <a:avLst/>
          </a:prstGeom>
          <a:noFill/>
        </p:spPr>
        <p:txBody>
          <a:bodyPr wrap="square">
            <a:spAutoFit/>
          </a:bodyPr>
          <a:lstStyle/>
          <a:p>
            <a:pPr algn="r"/>
            <a:r>
              <a:rPr sz="1000" b="0" i="0">
                <a:solidFill>
                  <a:srgbClr val="4B5A5E"/>
                </a:solidFill>
                <a:latin typeface="Calibri"/>
              </a:rPr>
              <a:t>2</a:t>
            </a:r>
          </a:p>
        </p:txBody>
      </p:sp>
      <p:sp>
        <p:nvSpPr>
          <p:cNvPr id="8" name="TextBox 7"/>
          <p:cNvSpPr txBox="1"/>
          <p:nvPr/>
        </p:nvSpPr>
        <p:spPr>
          <a:xfrm>
            <a:off x="731520" y="1691640"/>
            <a:ext cx="5212080" cy="4572000"/>
          </a:xfrm>
          <a:prstGeom prst="rect">
            <a:avLst/>
          </a:prstGeom>
          <a:noFill/>
        </p:spPr>
        <p:txBody>
          <a:bodyPr wrap="square">
            <a:spAutoFit/>
          </a:bodyPr>
          <a:lstStyle/>
          <a:p>
            <a:pPr>
              <a:lnSpc>
                <a:spcPct val="108000"/>
              </a:lnSpc>
              <a:spcAft>
                <a:spcPts val="1600"/>
              </a:spcAft>
            </a:pPr>
            <a:r>
              <a:rPr sz="1700">
                <a:solidFill>
                  <a:srgbClr val="121D21"/>
                </a:solidFill>
                <a:latin typeface="Calibri"/>
              </a:rPr>
              <a:t>•  1. Abstract</a:t>
            </a:r>
          </a:p>
          <a:p>
            <a:pPr>
              <a:lnSpc>
                <a:spcPct val="108000"/>
              </a:lnSpc>
              <a:spcAft>
                <a:spcPts val="1600"/>
              </a:spcAft>
            </a:pPr>
            <a:r>
              <a:rPr sz="1700">
                <a:solidFill>
                  <a:srgbClr val="121D21"/>
                </a:solidFill>
                <a:latin typeface="Calibri"/>
              </a:rPr>
              <a:t>•  2. Introduction / Background</a:t>
            </a:r>
          </a:p>
          <a:p>
            <a:pPr>
              <a:lnSpc>
                <a:spcPct val="108000"/>
              </a:lnSpc>
              <a:spcAft>
                <a:spcPts val="1600"/>
              </a:spcAft>
            </a:pPr>
            <a:r>
              <a:rPr sz="1700">
                <a:solidFill>
                  <a:srgbClr val="121D21"/>
                </a:solidFill>
                <a:latin typeface="Calibri"/>
              </a:rPr>
              <a:t>•  3. Problem Statement — The Gap I Identified</a:t>
            </a:r>
          </a:p>
          <a:p>
            <a:pPr>
              <a:lnSpc>
                <a:spcPct val="108000"/>
              </a:lnSpc>
              <a:spcAft>
                <a:spcPts val="1600"/>
              </a:spcAft>
            </a:pPr>
            <a:r>
              <a:rPr sz="1700">
                <a:solidFill>
                  <a:srgbClr val="121D21"/>
                </a:solidFill>
                <a:latin typeface="Calibri"/>
              </a:rPr>
              <a:t>•  4. Objectives</a:t>
            </a:r>
          </a:p>
          <a:p>
            <a:pPr>
              <a:lnSpc>
                <a:spcPct val="108000"/>
              </a:lnSpc>
              <a:spcAft>
                <a:spcPts val="1600"/>
              </a:spcAft>
            </a:pPr>
            <a:r>
              <a:rPr sz="1700">
                <a:solidFill>
                  <a:srgbClr val="121D21"/>
                </a:solidFill>
                <a:latin typeface="Calibri"/>
              </a:rPr>
              <a:t>•  5. Vision</a:t>
            </a:r>
          </a:p>
          <a:p>
            <a:pPr>
              <a:lnSpc>
                <a:spcPct val="108000"/>
              </a:lnSpc>
              <a:spcAft>
                <a:spcPts val="1600"/>
              </a:spcAft>
            </a:pPr>
            <a:r>
              <a:rPr sz="1700">
                <a:solidFill>
                  <a:srgbClr val="121D21"/>
                </a:solidFill>
                <a:latin typeface="Calibri"/>
              </a:rPr>
              <a:t>•  6. Scope of the Project</a:t>
            </a:r>
          </a:p>
          <a:p>
            <a:pPr>
              <a:lnSpc>
                <a:spcPct val="108000"/>
              </a:lnSpc>
              <a:spcAft>
                <a:spcPts val="1600"/>
              </a:spcAft>
            </a:pPr>
            <a:r>
              <a:rPr sz="1700">
                <a:solidFill>
                  <a:srgbClr val="121D21"/>
                </a:solidFill>
                <a:latin typeface="Calibri"/>
              </a:rPr>
              <a:t>•  7. Significance of the Study</a:t>
            </a:r>
          </a:p>
          <a:p>
            <a:pPr>
              <a:lnSpc>
                <a:spcPct val="108000"/>
              </a:lnSpc>
              <a:spcAft>
                <a:spcPts val="1600"/>
              </a:spcAft>
            </a:pPr>
            <a:r>
              <a:rPr sz="1700">
                <a:solidFill>
                  <a:srgbClr val="121D21"/>
                </a:solidFill>
                <a:latin typeface="Calibri"/>
              </a:rPr>
              <a:t>•  8. Technology Stack</a:t>
            </a:r>
          </a:p>
          <a:p>
            <a:pPr>
              <a:lnSpc>
                <a:spcPct val="108000"/>
              </a:lnSpc>
              <a:spcAft>
                <a:spcPts val="1600"/>
              </a:spcAft>
            </a:pPr>
            <a:r>
              <a:rPr sz="1700">
                <a:solidFill>
                  <a:srgbClr val="121D21"/>
                </a:solidFill>
                <a:latin typeface="Calibri"/>
              </a:rPr>
              <a:t>•  9. System Architecture — Developer View</a:t>
            </a:r>
          </a:p>
          <a:p>
            <a:pPr>
              <a:lnSpc>
                <a:spcPct val="108000"/>
              </a:lnSpc>
              <a:spcAft>
                <a:spcPts val="1600"/>
              </a:spcAft>
            </a:pPr>
            <a:r>
              <a:rPr sz="1700">
                <a:solidFill>
                  <a:srgbClr val="121D21"/>
                </a:solidFill>
                <a:latin typeface="Calibri"/>
              </a:rPr>
              <a:t>•  10. System Architecture — User View</a:t>
            </a:r>
          </a:p>
        </p:txBody>
      </p:sp>
      <p:sp>
        <p:nvSpPr>
          <p:cNvPr id="9" name="TextBox 8"/>
          <p:cNvSpPr txBox="1"/>
          <p:nvPr/>
        </p:nvSpPr>
        <p:spPr>
          <a:xfrm>
            <a:off x="6309360" y="1691640"/>
            <a:ext cx="5212080" cy="4572000"/>
          </a:xfrm>
          <a:prstGeom prst="rect">
            <a:avLst/>
          </a:prstGeom>
          <a:noFill/>
        </p:spPr>
        <p:txBody>
          <a:bodyPr wrap="square">
            <a:spAutoFit/>
          </a:bodyPr>
          <a:lstStyle/>
          <a:p>
            <a:pPr>
              <a:lnSpc>
                <a:spcPct val="108000"/>
              </a:lnSpc>
              <a:spcAft>
                <a:spcPts val="1600"/>
              </a:spcAft>
            </a:pPr>
            <a:r>
              <a:rPr sz="1700">
                <a:solidFill>
                  <a:srgbClr val="121D21"/>
                </a:solidFill>
                <a:latin typeface="Calibri"/>
              </a:rPr>
              <a:t>•  11. Core Modules and Features</a:t>
            </a:r>
          </a:p>
          <a:p>
            <a:pPr>
              <a:lnSpc>
                <a:spcPct val="108000"/>
              </a:lnSpc>
              <a:spcAft>
                <a:spcPts val="1600"/>
              </a:spcAft>
            </a:pPr>
            <a:r>
              <a:rPr sz="1700">
                <a:solidFill>
                  <a:srgbClr val="121D21"/>
                </a:solidFill>
                <a:latin typeface="Calibri"/>
              </a:rPr>
              <a:t>•  12. Database Design Overview</a:t>
            </a:r>
          </a:p>
          <a:p>
            <a:pPr>
              <a:lnSpc>
                <a:spcPct val="108000"/>
              </a:lnSpc>
              <a:spcAft>
                <a:spcPts val="1600"/>
              </a:spcAft>
            </a:pPr>
            <a:r>
              <a:rPr sz="1700">
                <a:solidFill>
                  <a:srgbClr val="121D21"/>
                </a:solidFill>
                <a:latin typeface="Calibri"/>
              </a:rPr>
              <a:t>•  13. Methodology</a:t>
            </a:r>
          </a:p>
          <a:p>
            <a:pPr>
              <a:lnSpc>
                <a:spcPct val="108000"/>
              </a:lnSpc>
              <a:spcAft>
                <a:spcPts val="1600"/>
              </a:spcAft>
            </a:pPr>
            <a:r>
              <a:rPr sz="1700">
                <a:solidFill>
                  <a:srgbClr val="121D21"/>
                </a:solidFill>
                <a:latin typeface="Calibri"/>
              </a:rPr>
              <a:t>•  14. Challenges Encountered</a:t>
            </a:r>
          </a:p>
          <a:p>
            <a:pPr>
              <a:lnSpc>
                <a:spcPct val="108000"/>
              </a:lnSpc>
              <a:spcAft>
                <a:spcPts val="1600"/>
              </a:spcAft>
            </a:pPr>
            <a:r>
              <a:rPr sz="1700">
                <a:solidFill>
                  <a:srgbClr val="121D21"/>
                </a:solidFill>
                <a:latin typeface="Calibri"/>
              </a:rPr>
              <a:t>•  15. Testing and Quality Assurance</a:t>
            </a:r>
          </a:p>
          <a:p>
            <a:pPr>
              <a:lnSpc>
                <a:spcPct val="108000"/>
              </a:lnSpc>
              <a:spcAft>
                <a:spcPts val="1600"/>
              </a:spcAft>
            </a:pPr>
            <a:r>
              <a:rPr sz="1700">
                <a:solidFill>
                  <a:srgbClr val="121D21"/>
                </a:solidFill>
                <a:latin typeface="Calibri"/>
              </a:rPr>
              <a:t>•  16. Results and Outcomes</a:t>
            </a:r>
          </a:p>
          <a:p>
            <a:pPr>
              <a:lnSpc>
                <a:spcPct val="108000"/>
              </a:lnSpc>
              <a:spcAft>
                <a:spcPts val="1600"/>
              </a:spcAft>
            </a:pPr>
            <a:r>
              <a:rPr sz="1700">
                <a:solidFill>
                  <a:srgbClr val="121D21"/>
                </a:solidFill>
                <a:latin typeface="Calibri"/>
              </a:rPr>
              <a:t>•  17. Future Enhancements</a:t>
            </a:r>
          </a:p>
          <a:p>
            <a:pPr>
              <a:lnSpc>
                <a:spcPct val="108000"/>
              </a:lnSpc>
              <a:spcAft>
                <a:spcPts val="1600"/>
              </a:spcAft>
            </a:pPr>
            <a:r>
              <a:rPr sz="1700">
                <a:solidFill>
                  <a:srgbClr val="121D21"/>
                </a:solidFill>
                <a:latin typeface="Calibri"/>
              </a:rPr>
              <a:t>•  18. Conclusion</a:t>
            </a:r>
          </a:p>
          <a:p>
            <a:pPr>
              <a:lnSpc>
                <a:spcPct val="108000"/>
              </a:lnSpc>
              <a:spcAft>
                <a:spcPts val="1600"/>
              </a:spcAft>
            </a:pPr>
            <a:r>
              <a:rPr sz="1700">
                <a:solidFill>
                  <a:srgbClr val="121D21"/>
                </a:solidFill>
                <a:latin typeface="Calibri"/>
              </a:rPr>
              <a:t>•  19. References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AF9"/>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7315200" cy="320040"/>
          </a:xfrm>
          <a:prstGeom prst="rect">
            <a:avLst/>
          </a:prstGeom>
          <a:noFill/>
        </p:spPr>
        <p:txBody>
          <a:bodyPr wrap="square">
            <a:spAutoFit/>
          </a:bodyPr>
          <a:lstStyle/>
          <a:p>
            <a:pPr algn="l"/>
            <a:r>
              <a:rPr sz="1300" b="1" i="0">
                <a:solidFill>
                  <a:srgbClr val="E69A1F"/>
                </a:solidFill>
                <a:latin typeface="Calibri"/>
              </a:rPr>
              <a:t>OVERVIEW</a:t>
            </a:r>
          </a:p>
        </p:txBody>
      </p:sp>
      <p:sp>
        <p:nvSpPr>
          <p:cNvPr id="4" name="TextBox 3"/>
          <p:cNvSpPr txBox="1"/>
          <p:nvPr/>
        </p:nvSpPr>
        <p:spPr>
          <a:xfrm>
            <a:off x="640080" y="621792"/>
            <a:ext cx="10515600" cy="731520"/>
          </a:xfrm>
          <a:prstGeom prst="rect">
            <a:avLst/>
          </a:prstGeom>
          <a:noFill/>
        </p:spPr>
        <p:txBody>
          <a:bodyPr wrap="square">
            <a:spAutoFit/>
          </a:bodyPr>
          <a:lstStyle/>
          <a:p>
            <a:pPr algn="l"/>
            <a:r>
              <a:rPr sz="3000" b="1" i="0">
                <a:solidFill>
                  <a:srgbClr val="121D21"/>
                </a:solidFill>
                <a:latin typeface="Calibri"/>
              </a:rPr>
              <a:t>Abstract</a:t>
            </a:r>
          </a:p>
        </p:txBody>
      </p:sp>
      <p:sp>
        <p:nvSpPr>
          <p:cNvPr id="5" name="Rectangle 4"/>
          <p:cNvSpPr/>
          <p:nvPr/>
        </p:nvSpPr>
        <p:spPr>
          <a:xfrm>
            <a:off x="658368" y="1298448"/>
            <a:ext cx="1005840" cy="4445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473952"/>
            <a:ext cx="5486400" cy="274320"/>
          </a:xfrm>
          <a:prstGeom prst="rect">
            <a:avLst/>
          </a:prstGeom>
          <a:noFill/>
        </p:spPr>
        <p:txBody>
          <a:bodyPr wrap="square">
            <a:spAutoFit/>
          </a:bodyPr>
          <a:lstStyle/>
          <a:p>
            <a:pPr algn="l"/>
            <a:r>
              <a:rPr sz="1000" b="0" i="0">
                <a:solidFill>
                  <a:srgbClr val="4B5A5E"/>
                </a:solidFill>
                <a:latin typeface="Calibri"/>
              </a:rPr>
              <a:t>KopaAlert — Stanley Murangiri</a:t>
            </a:r>
          </a:p>
        </p:txBody>
      </p:sp>
      <p:sp>
        <p:nvSpPr>
          <p:cNvPr id="7" name="TextBox 6"/>
          <p:cNvSpPr txBox="1"/>
          <p:nvPr/>
        </p:nvSpPr>
        <p:spPr>
          <a:xfrm>
            <a:off x="10972800" y="6473952"/>
            <a:ext cx="548640" cy="274320"/>
          </a:xfrm>
          <a:prstGeom prst="rect">
            <a:avLst/>
          </a:prstGeom>
          <a:noFill/>
        </p:spPr>
        <p:txBody>
          <a:bodyPr wrap="square">
            <a:spAutoFit/>
          </a:bodyPr>
          <a:lstStyle/>
          <a:p>
            <a:pPr algn="r"/>
            <a:r>
              <a:rPr sz="1000" b="0" i="0">
                <a:solidFill>
                  <a:srgbClr val="4B5A5E"/>
                </a:solidFill>
                <a:latin typeface="Calibri"/>
              </a:rPr>
              <a:t>3</a:t>
            </a:r>
          </a:p>
        </p:txBody>
      </p:sp>
      <p:sp>
        <p:nvSpPr>
          <p:cNvPr id="8" name="Rectangle 7"/>
          <p:cNvSpPr/>
          <p:nvPr/>
        </p:nvSpPr>
        <p:spPr>
          <a:xfrm>
            <a:off x="685800" y="1600200"/>
            <a:ext cx="1078992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600200"/>
            <a:ext cx="73152" cy="448056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828800"/>
            <a:ext cx="10149840" cy="4023360"/>
          </a:xfrm>
          <a:prstGeom prst="rect">
            <a:avLst/>
          </a:prstGeom>
          <a:noFill/>
        </p:spPr>
        <p:txBody>
          <a:bodyPr wrap="square">
            <a:spAutoFit/>
          </a:bodyPr>
          <a:lstStyle/>
          <a:p>
            <a:pPr>
              <a:lnSpc>
                <a:spcPct val="115000"/>
              </a:lnSpc>
              <a:spcAft>
                <a:spcPts val="1200"/>
              </a:spcAft>
            </a:pPr>
            <a:r>
              <a:rPr sz="1500">
                <a:solidFill>
                  <a:srgbClr val="121D21"/>
                </a:solidFill>
                <a:latin typeface="Calibri"/>
              </a:rPr>
              <a:t>Many small businesses in Kenya extend goods and services to customers on credit, and track these debts by hand in an exercise book. I saw this problem first-hand in the business I was working in: entries were forgotten, pages got lost or damaged, and there was no reliable way to remind a customer that a payment was due. Debts that were owed simply went untracked and, often, unpaid.</a:t>
            </a:r>
          </a:p>
          <a:p>
            <a:pPr>
              <a:lnSpc>
                <a:spcPct val="115000"/>
              </a:lnSpc>
              <a:spcAft>
                <a:spcPts val="1200"/>
              </a:spcAft>
            </a:pPr>
            <a:r>
              <a:rPr sz="1500">
                <a:solidFill>
                  <a:srgbClr val="121D21"/>
                </a:solidFill>
                <a:latin typeface="Calibri"/>
              </a:rPr>
              <a:t>KopaAlert is the web-based system I designed and built to close that gap. It lets a business owner register customers, record debts as they are issued, log payments as they come in, and it automatically sends SMS and email reminders as due dates approach or are missed. It also scores each customer's payment behaviour, flags customers who fall persistently overdue, and gives the owner a single dashboard that shows exactly who owes what.</a:t>
            </a:r>
          </a:p>
          <a:p>
            <a:pPr>
              <a:lnSpc>
                <a:spcPct val="115000"/>
              </a:lnSpc>
              <a:spcAft>
                <a:spcPts val="1200"/>
              </a:spcAft>
            </a:pPr>
            <a:r>
              <a:rPr sz="1500">
                <a:solidFill>
                  <a:srgbClr val="121D21"/>
                </a:solidFill>
                <a:latin typeface="Calibri"/>
              </a:rPr>
              <a:t>I built it with Next.js, Supabase (PostgreSQL with Row Level Security), Africa's Talking for SMS, and Resend for email — a stack chosen to be reliable, affordable, and realistic for a small Kenyan business to actually run 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AF9"/>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7315200" cy="320040"/>
          </a:xfrm>
          <a:prstGeom prst="rect">
            <a:avLst/>
          </a:prstGeom>
          <a:noFill/>
        </p:spPr>
        <p:txBody>
          <a:bodyPr wrap="square">
            <a:spAutoFit/>
          </a:bodyPr>
          <a:lstStyle/>
          <a:p>
            <a:pPr algn="l"/>
            <a:r>
              <a:rPr sz="1300" b="1" i="0">
                <a:solidFill>
                  <a:srgbClr val="E69A1F"/>
                </a:solidFill>
                <a:latin typeface="Calibri"/>
              </a:rPr>
              <a:t>CHAPTER ONE</a:t>
            </a:r>
          </a:p>
        </p:txBody>
      </p:sp>
      <p:sp>
        <p:nvSpPr>
          <p:cNvPr id="4" name="TextBox 3"/>
          <p:cNvSpPr txBox="1"/>
          <p:nvPr/>
        </p:nvSpPr>
        <p:spPr>
          <a:xfrm>
            <a:off x="640080" y="621792"/>
            <a:ext cx="10515600" cy="731520"/>
          </a:xfrm>
          <a:prstGeom prst="rect">
            <a:avLst/>
          </a:prstGeom>
          <a:noFill/>
        </p:spPr>
        <p:txBody>
          <a:bodyPr wrap="square">
            <a:spAutoFit/>
          </a:bodyPr>
          <a:lstStyle/>
          <a:p>
            <a:pPr algn="l"/>
            <a:r>
              <a:rPr sz="3000" b="1" i="0">
                <a:solidFill>
                  <a:srgbClr val="121D21"/>
                </a:solidFill>
                <a:latin typeface="Calibri"/>
              </a:rPr>
              <a:t>Introduction / Background</a:t>
            </a:r>
          </a:p>
        </p:txBody>
      </p:sp>
      <p:sp>
        <p:nvSpPr>
          <p:cNvPr id="5" name="Rectangle 4"/>
          <p:cNvSpPr/>
          <p:nvPr/>
        </p:nvSpPr>
        <p:spPr>
          <a:xfrm>
            <a:off x="658368" y="1298448"/>
            <a:ext cx="1005840" cy="4445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473952"/>
            <a:ext cx="5486400" cy="274320"/>
          </a:xfrm>
          <a:prstGeom prst="rect">
            <a:avLst/>
          </a:prstGeom>
          <a:noFill/>
        </p:spPr>
        <p:txBody>
          <a:bodyPr wrap="square">
            <a:spAutoFit/>
          </a:bodyPr>
          <a:lstStyle/>
          <a:p>
            <a:pPr algn="l"/>
            <a:r>
              <a:rPr sz="1000" b="0" i="0">
                <a:solidFill>
                  <a:srgbClr val="4B5A5E"/>
                </a:solidFill>
                <a:latin typeface="Calibri"/>
              </a:rPr>
              <a:t>KopaAlert — Stanley Murangiri</a:t>
            </a:r>
          </a:p>
        </p:txBody>
      </p:sp>
      <p:sp>
        <p:nvSpPr>
          <p:cNvPr id="7" name="TextBox 6"/>
          <p:cNvSpPr txBox="1"/>
          <p:nvPr/>
        </p:nvSpPr>
        <p:spPr>
          <a:xfrm>
            <a:off x="10972800" y="6473952"/>
            <a:ext cx="548640" cy="274320"/>
          </a:xfrm>
          <a:prstGeom prst="rect">
            <a:avLst/>
          </a:prstGeom>
          <a:noFill/>
        </p:spPr>
        <p:txBody>
          <a:bodyPr wrap="square">
            <a:spAutoFit/>
          </a:bodyPr>
          <a:lstStyle/>
          <a:p>
            <a:pPr algn="r"/>
            <a:r>
              <a:rPr sz="1000" b="0" i="0">
                <a:solidFill>
                  <a:srgbClr val="4B5A5E"/>
                </a:solidFill>
                <a:latin typeface="Calibri"/>
              </a:rPr>
              <a:t>4</a:t>
            </a:r>
          </a:p>
        </p:txBody>
      </p:sp>
      <p:sp>
        <p:nvSpPr>
          <p:cNvPr id="8" name="TextBox 7"/>
          <p:cNvSpPr txBox="1"/>
          <p:nvPr/>
        </p:nvSpPr>
        <p:spPr>
          <a:xfrm>
            <a:off x="685800" y="1600200"/>
            <a:ext cx="10789920" cy="4572000"/>
          </a:xfrm>
          <a:prstGeom prst="rect">
            <a:avLst/>
          </a:prstGeom>
          <a:noFill/>
        </p:spPr>
        <p:txBody>
          <a:bodyPr wrap="square">
            <a:spAutoFit/>
          </a:bodyPr>
          <a:lstStyle/>
          <a:p>
            <a:pPr>
              <a:lnSpc>
                <a:spcPct val="108000"/>
              </a:lnSpc>
              <a:spcAft>
                <a:spcPts val="1000"/>
              </a:spcAft>
            </a:pPr>
            <a:r>
              <a:rPr sz="1700">
                <a:solidFill>
                  <a:srgbClr val="121D21"/>
                </a:solidFill>
                <a:latin typeface="Calibri"/>
              </a:rPr>
              <a:t>•  Credit is part of everyday small business in Kenya — a duka, salon, hardware store or wholesaler routinely lets trusted, regular customers take goods or services now and pay later.</a:t>
            </a:r>
          </a:p>
          <a:p>
            <a:pPr>
              <a:lnSpc>
                <a:spcPct val="108000"/>
              </a:lnSpc>
              <a:spcAft>
                <a:spcPts val="1000"/>
              </a:spcAft>
            </a:pPr>
            <a:r>
              <a:rPr sz="1700">
                <a:solidFill>
                  <a:srgbClr val="121D21"/>
                </a:solidFill>
                <a:latin typeface="Calibri"/>
              </a:rPr>
              <a:t>•  This trust-based credit is almost always tracked the same way across thousands of small businesses: a physical exercise book, or at best a spreadsheet a staff member is expected to remember to update.</a:t>
            </a:r>
          </a:p>
          <a:p>
            <a:pPr>
              <a:lnSpc>
                <a:spcPct val="108000"/>
              </a:lnSpc>
              <a:spcAft>
                <a:spcPts val="1000"/>
              </a:spcAft>
            </a:pPr>
            <a:r>
              <a:rPr sz="1700">
                <a:solidFill>
                  <a:srgbClr val="121D21"/>
                </a:solidFill>
                <a:latin typeface="Calibri"/>
              </a:rPr>
              <a:t>•  I have worked inside a business that ran this way, and I experienced directly how fragile that system is — it depends entirely on someone remembering to write, remembering to check, and remembering to follow up.</a:t>
            </a:r>
          </a:p>
          <a:p>
            <a:pPr>
              <a:lnSpc>
                <a:spcPct val="108000"/>
              </a:lnSpc>
              <a:spcAft>
                <a:spcPts val="1000"/>
              </a:spcAft>
            </a:pPr>
            <a:r>
              <a:rPr sz="1700">
                <a:solidFill>
                  <a:srgbClr val="121D21"/>
                </a:solidFill>
                <a:latin typeface="Calibri"/>
              </a:rPr>
              <a:t>•  KopaAlert began as my answer to a very specific, very ordinary problem: what if the business never had to remember, because the system remembered for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AF9"/>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7315200" cy="320040"/>
          </a:xfrm>
          <a:prstGeom prst="rect">
            <a:avLst/>
          </a:prstGeom>
          <a:noFill/>
        </p:spPr>
        <p:txBody>
          <a:bodyPr wrap="square">
            <a:spAutoFit/>
          </a:bodyPr>
          <a:lstStyle/>
          <a:p>
            <a:pPr algn="l"/>
            <a:r>
              <a:rPr sz="1300" b="1" i="0">
                <a:solidFill>
                  <a:srgbClr val="E69A1F"/>
                </a:solidFill>
                <a:latin typeface="Calibri"/>
              </a:rPr>
              <a:t>CHAPTER ONE</a:t>
            </a:r>
          </a:p>
        </p:txBody>
      </p:sp>
      <p:sp>
        <p:nvSpPr>
          <p:cNvPr id="4" name="TextBox 3"/>
          <p:cNvSpPr txBox="1"/>
          <p:nvPr/>
        </p:nvSpPr>
        <p:spPr>
          <a:xfrm>
            <a:off x="640080" y="621792"/>
            <a:ext cx="10515600" cy="731520"/>
          </a:xfrm>
          <a:prstGeom prst="rect">
            <a:avLst/>
          </a:prstGeom>
          <a:noFill/>
        </p:spPr>
        <p:txBody>
          <a:bodyPr wrap="square">
            <a:spAutoFit/>
          </a:bodyPr>
          <a:lstStyle/>
          <a:p>
            <a:pPr algn="l"/>
            <a:r>
              <a:rPr sz="3000" b="1" i="0">
                <a:solidFill>
                  <a:srgbClr val="121D21"/>
                </a:solidFill>
                <a:latin typeface="Calibri"/>
              </a:rPr>
              <a:t>Problem Statement — The Gap I Identified</a:t>
            </a:r>
          </a:p>
        </p:txBody>
      </p:sp>
      <p:sp>
        <p:nvSpPr>
          <p:cNvPr id="5" name="Rectangle 4"/>
          <p:cNvSpPr/>
          <p:nvPr/>
        </p:nvSpPr>
        <p:spPr>
          <a:xfrm>
            <a:off x="658368" y="1298448"/>
            <a:ext cx="1005840" cy="4445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473952"/>
            <a:ext cx="5486400" cy="274320"/>
          </a:xfrm>
          <a:prstGeom prst="rect">
            <a:avLst/>
          </a:prstGeom>
          <a:noFill/>
        </p:spPr>
        <p:txBody>
          <a:bodyPr wrap="square">
            <a:spAutoFit/>
          </a:bodyPr>
          <a:lstStyle/>
          <a:p>
            <a:pPr algn="l"/>
            <a:r>
              <a:rPr sz="1000" b="0" i="0">
                <a:solidFill>
                  <a:srgbClr val="4B5A5E"/>
                </a:solidFill>
                <a:latin typeface="Calibri"/>
              </a:rPr>
              <a:t>KopaAlert — Stanley Murangiri</a:t>
            </a:r>
          </a:p>
        </p:txBody>
      </p:sp>
      <p:sp>
        <p:nvSpPr>
          <p:cNvPr id="7" name="TextBox 6"/>
          <p:cNvSpPr txBox="1"/>
          <p:nvPr/>
        </p:nvSpPr>
        <p:spPr>
          <a:xfrm>
            <a:off x="10972800" y="6473952"/>
            <a:ext cx="548640" cy="274320"/>
          </a:xfrm>
          <a:prstGeom prst="rect">
            <a:avLst/>
          </a:prstGeom>
          <a:noFill/>
        </p:spPr>
        <p:txBody>
          <a:bodyPr wrap="square">
            <a:spAutoFit/>
          </a:bodyPr>
          <a:lstStyle/>
          <a:p>
            <a:pPr algn="r"/>
            <a:r>
              <a:rPr sz="1000" b="0" i="0">
                <a:solidFill>
                  <a:srgbClr val="4B5A5E"/>
                </a:solidFill>
                <a:latin typeface="Calibri"/>
              </a:rPr>
              <a:t>5</a:t>
            </a:r>
          </a:p>
        </p:txBody>
      </p:sp>
      <p:sp>
        <p:nvSpPr>
          <p:cNvPr id="8" name="TextBox 7"/>
          <p:cNvSpPr txBox="1"/>
          <p:nvPr/>
        </p:nvSpPr>
        <p:spPr>
          <a:xfrm>
            <a:off x="685800" y="1554480"/>
            <a:ext cx="10789920" cy="502920"/>
          </a:xfrm>
          <a:prstGeom prst="rect">
            <a:avLst/>
          </a:prstGeom>
          <a:noFill/>
        </p:spPr>
        <p:txBody>
          <a:bodyPr wrap="square">
            <a:spAutoFit/>
          </a:bodyPr>
          <a:lstStyle/>
          <a:p>
            <a:pPr algn="l"/>
            <a:r>
              <a:rPr sz="1550" b="0" i="0">
                <a:solidFill>
                  <a:srgbClr val="4B5A5E"/>
                </a:solidFill>
                <a:latin typeface="Calibri"/>
              </a:rPr>
              <a:t>While working in a business that recorded customer debt manually, I identified the following recurring, costly problems:</a:t>
            </a:r>
          </a:p>
        </p:txBody>
      </p:sp>
      <p:sp>
        <p:nvSpPr>
          <p:cNvPr id="9" name="TextBox 8"/>
          <p:cNvSpPr txBox="1"/>
          <p:nvPr/>
        </p:nvSpPr>
        <p:spPr>
          <a:xfrm>
            <a:off x="685800" y="2148840"/>
            <a:ext cx="10789920" cy="3291840"/>
          </a:xfrm>
          <a:prstGeom prst="rect">
            <a:avLst/>
          </a:prstGeom>
          <a:noFill/>
        </p:spPr>
        <p:txBody>
          <a:bodyPr wrap="square">
            <a:spAutoFit/>
          </a:bodyPr>
          <a:lstStyle/>
          <a:p>
            <a:pPr>
              <a:lnSpc>
                <a:spcPct val="108000"/>
              </a:lnSpc>
              <a:spcAft>
                <a:spcPts val="1300"/>
              </a:spcAft>
            </a:pPr>
            <a:r>
              <a:rPr sz="1650">
                <a:solidFill>
                  <a:srgbClr val="121D21"/>
                </a:solidFill>
                <a:latin typeface="Calibri"/>
              </a:rPr>
              <a:t>•  Debts were written into a physical book — an entry that was forgotten to be recorded was money the business silently lost.</a:t>
            </a:r>
          </a:p>
          <a:p>
            <a:pPr>
              <a:lnSpc>
                <a:spcPct val="108000"/>
              </a:lnSpc>
              <a:spcAft>
                <a:spcPts val="1300"/>
              </a:spcAft>
            </a:pPr>
            <a:r>
              <a:rPr sz="1650">
                <a:solidFill>
                  <a:srgbClr val="121D21"/>
                </a:solidFill>
                <a:latin typeface="Calibri"/>
              </a:rPr>
              <a:t>•  There was no reminder mechanism. Customers were only reminded if a staff member personally remembered to call or ask them.</a:t>
            </a:r>
          </a:p>
          <a:p>
            <a:pPr>
              <a:lnSpc>
                <a:spcPct val="108000"/>
              </a:lnSpc>
              <a:spcAft>
                <a:spcPts val="1300"/>
              </a:spcAft>
            </a:pPr>
            <a:r>
              <a:rPr sz="1650">
                <a:solidFill>
                  <a:srgbClr val="121D21"/>
                </a:solidFill>
                <a:latin typeface="Calibri"/>
              </a:rPr>
              <a:t>•  The book itself was a single point of failure — it could be lost, torn, or spoiled, taking financial history with it.</a:t>
            </a:r>
          </a:p>
          <a:p>
            <a:pPr>
              <a:lnSpc>
                <a:spcPct val="108000"/>
              </a:lnSpc>
              <a:spcAft>
                <a:spcPts val="1300"/>
              </a:spcAft>
            </a:pPr>
            <a:r>
              <a:rPr sz="1650">
                <a:solidFill>
                  <a:srgbClr val="121D21"/>
                </a:solidFill>
                <a:latin typeface="Calibri"/>
              </a:rPr>
              <a:t>•  Different staff members writing in the same book caused duplicate, conflicting, or illegible entries.</a:t>
            </a:r>
          </a:p>
          <a:p>
            <a:pPr>
              <a:lnSpc>
                <a:spcPct val="108000"/>
              </a:lnSpc>
              <a:spcAft>
                <a:spcPts val="1300"/>
              </a:spcAft>
            </a:pPr>
            <a:r>
              <a:rPr sz="1650">
                <a:solidFill>
                  <a:srgbClr val="121D21"/>
                </a:solidFill>
                <a:latin typeface="Calibri"/>
              </a:rPr>
              <a:t>•  The owner had no single view of who owed what, for how long, or who was becoming a payment risk.</a:t>
            </a:r>
          </a:p>
        </p:txBody>
      </p:sp>
      <p:sp>
        <p:nvSpPr>
          <p:cNvPr id="10" name="Rectangle 9"/>
          <p:cNvSpPr/>
          <p:nvPr/>
        </p:nvSpPr>
        <p:spPr>
          <a:xfrm>
            <a:off x="685800" y="5623560"/>
            <a:ext cx="10789920"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742432"/>
            <a:ext cx="10332720" cy="457200"/>
          </a:xfrm>
          <a:prstGeom prst="rect">
            <a:avLst/>
          </a:prstGeom>
          <a:noFill/>
        </p:spPr>
        <p:txBody>
          <a:bodyPr wrap="square" anchor="ctr">
            <a:spAutoFit/>
          </a:bodyPr>
          <a:lstStyle/>
          <a:p>
            <a:pPr algn="l"/>
            <a:r>
              <a:rPr sz="1400" b="1" i="0">
                <a:solidFill>
                  <a:srgbClr val="FFFFFF"/>
                </a:solidFill>
                <a:latin typeface="Calibri"/>
              </a:rPr>
              <a:t>This gap — a time-sensitive, money-critical task left entirely to human memory and paper — is exactly what KopaAlert was built to close.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AF9"/>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7315200" cy="320040"/>
          </a:xfrm>
          <a:prstGeom prst="rect">
            <a:avLst/>
          </a:prstGeom>
          <a:noFill/>
        </p:spPr>
        <p:txBody>
          <a:bodyPr wrap="square">
            <a:spAutoFit/>
          </a:bodyPr>
          <a:lstStyle/>
          <a:p>
            <a:pPr algn="l"/>
            <a:r>
              <a:rPr sz="1300" b="1" i="0">
                <a:solidFill>
                  <a:srgbClr val="E69A1F"/>
                </a:solidFill>
                <a:latin typeface="Calibri"/>
              </a:rPr>
              <a:t>CHAPTER ONE</a:t>
            </a:r>
          </a:p>
        </p:txBody>
      </p:sp>
      <p:sp>
        <p:nvSpPr>
          <p:cNvPr id="4" name="TextBox 3"/>
          <p:cNvSpPr txBox="1"/>
          <p:nvPr/>
        </p:nvSpPr>
        <p:spPr>
          <a:xfrm>
            <a:off x="640080" y="621792"/>
            <a:ext cx="10515600" cy="731520"/>
          </a:xfrm>
          <a:prstGeom prst="rect">
            <a:avLst/>
          </a:prstGeom>
          <a:noFill/>
        </p:spPr>
        <p:txBody>
          <a:bodyPr wrap="square">
            <a:spAutoFit/>
          </a:bodyPr>
          <a:lstStyle/>
          <a:p>
            <a:pPr algn="l"/>
            <a:r>
              <a:rPr sz="3000" b="1" i="0">
                <a:solidFill>
                  <a:srgbClr val="121D21"/>
                </a:solidFill>
                <a:latin typeface="Calibri"/>
              </a:rPr>
              <a:t>Objectives</a:t>
            </a:r>
          </a:p>
        </p:txBody>
      </p:sp>
      <p:sp>
        <p:nvSpPr>
          <p:cNvPr id="5" name="Rectangle 4"/>
          <p:cNvSpPr/>
          <p:nvPr/>
        </p:nvSpPr>
        <p:spPr>
          <a:xfrm>
            <a:off x="658368" y="1298448"/>
            <a:ext cx="1005840" cy="4445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473952"/>
            <a:ext cx="5486400" cy="274320"/>
          </a:xfrm>
          <a:prstGeom prst="rect">
            <a:avLst/>
          </a:prstGeom>
          <a:noFill/>
        </p:spPr>
        <p:txBody>
          <a:bodyPr wrap="square">
            <a:spAutoFit/>
          </a:bodyPr>
          <a:lstStyle/>
          <a:p>
            <a:pPr algn="l"/>
            <a:r>
              <a:rPr sz="1000" b="0" i="0">
                <a:solidFill>
                  <a:srgbClr val="4B5A5E"/>
                </a:solidFill>
                <a:latin typeface="Calibri"/>
              </a:rPr>
              <a:t>KopaAlert — Stanley Murangiri</a:t>
            </a:r>
          </a:p>
        </p:txBody>
      </p:sp>
      <p:sp>
        <p:nvSpPr>
          <p:cNvPr id="7" name="TextBox 6"/>
          <p:cNvSpPr txBox="1"/>
          <p:nvPr/>
        </p:nvSpPr>
        <p:spPr>
          <a:xfrm>
            <a:off x="10972800" y="6473952"/>
            <a:ext cx="548640" cy="274320"/>
          </a:xfrm>
          <a:prstGeom prst="rect">
            <a:avLst/>
          </a:prstGeom>
          <a:noFill/>
        </p:spPr>
        <p:txBody>
          <a:bodyPr wrap="square">
            <a:spAutoFit/>
          </a:bodyPr>
          <a:lstStyle/>
          <a:p>
            <a:pPr algn="r"/>
            <a:r>
              <a:rPr sz="1000" b="0" i="0">
                <a:solidFill>
                  <a:srgbClr val="4B5A5E"/>
                </a:solidFill>
                <a:latin typeface="Calibri"/>
              </a:rPr>
              <a:t>6</a:t>
            </a:r>
          </a:p>
        </p:txBody>
      </p:sp>
      <p:sp>
        <p:nvSpPr>
          <p:cNvPr id="8" name="Rectangle 7"/>
          <p:cNvSpPr/>
          <p:nvPr/>
        </p:nvSpPr>
        <p:spPr>
          <a:xfrm>
            <a:off x="685800" y="1554480"/>
            <a:ext cx="10789920" cy="82296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27632"/>
            <a:ext cx="10332720" cy="685800"/>
          </a:xfrm>
          <a:prstGeom prst="rect">
            <a:avLst/>
          </a:prstGeom>
          <a:noFill/>
        </p:spPr>
        <p:txBody>
          <a:bodyPr wrap="square" anchor="ctr">
            <a:spAutoFit/>
          </a:bodyPr>
          <a:lstStyle/>
          <a:p>
            <a:pPr algn="l"/>
            <a:r>
              <a:rPr sz="1500" b="1" i="0">
                <a:solidFill>
                  <a:srgbClr val="FFFFFF"/>
                </a:solidFill>
                <a:latin typeface="Calibri"/>
              </a:rPr>
              <a:t>General Objective: To design and develop a web-based system that automates debt recording and payment reminders for small businesses, replacing manual, paper-based debt tracking.</a:t>
            </a:r>
          </a:p>
        </p:txBody>
      </p:sp>
      <p:sp>
        <p:nvSpPr>
          <p:cNvPr id="10" name="TextBox 9"/>
          <p:cNvSpPr txBox="1"/>
          <p:nvPr/>
        </p:nvSpPr>
        <p:spPr>
          <a:xfrm>
            <a:off x="685800" y="2606040"/>
            <a:ext cx="5486400" cy="365760"/>
          </a:xfrm>
          <a:prstGeom prst="rect">
            <a:avLst/>
          </a:prstGeom>
          <a:noFill/>
        </p:spPr>
        <p:txBody>
          <a:bodyPr wrap="square">
            <a:spAutoFit/>
          </a:bodyPr>
          <a:lstStyle/>
          <a:p>
            <a:pPr algn="l"/>
            <a:r>
              <a:rPr sz="1600" b="1" i="0">
                <a:solidFill>
                  <a:srgbClr val="0F766E"/>
                </a:solidFill>
                <a:latin typeface="Calibri"/>
              </a:rPr>
              <a:t>Specific Objectives</a:t>
            </a:r>
          </a:p>
        </p:txBody>
      </p:sp>
      <p:sp>
        <p:nvSpPr>
          <p:cNvPr id="11" name="TextBox 10"/>
          <p:cNvSpPr txBox="1"/>
          <p:nvPr/>
        </p:nvSpPr>
        <p:spPr>
          <a:xfrm>
            <a:off x="685800" y="3017520"/>
            <a:ext cx="10789920" cy="3200400"/>
          </a:xfrm>
          <a:prstGeom prst="rect">
            <a:avLst/>
          </a:prstGeom>
          <a:noFill/>
        </p:spPr>
        <p:txBody>
          <a:bodyPr wrap="square">
            <a:spAutoFit/>
          </a:bodyPr>
          <a:lstStyle/>
          <a:p>
            <a:pPr>
              <a:lnSpc>
                <a:spcPct val="108000"/>
              </a:lnSpc>
              <a:spcAft>
                <a:spcPts val="1000"/>
              </a:spcAft>
            </a:pPr>
            <a:r>
              <a:rPr sz="1550">
                <a:solidFill>
                  <a:srgbClr val="121D21"/>
                </a:solidFill>
                <a:latin typeface="Calibri"/>
              </a:rPr>
              <a:t>•  Allow business owners to register and manage customer (debtor) records digitally.</a:t>
            </a:r>
          </a:p>
          <a:p>
            <a:pPr>
              <a:lnSpc>
                <a:spcPct val="108000"/>
              </a:lnSpc>
              <a:spcAft>
                <a:spcPts val="1000"/>
              </a:spcAft>
            </a:pPr>
            <a:r>
              <a:rPr sz="1550">
                <a:solidFill>
                  <a:srgbClr val="121D21"/>
                </a:solidFill>
                <a:latin typeface="Calibri"/>
              </a:rPr>
              <a:t>•  Allow debts and payments to be recorded accurately, in real time, from any device.</a:t>
            </a:r>
          </a:p>
          <a:p>
            <a:pPr>
              <a:lnSpc>
                <a:spcPct val="108000"/>
              </a:lnSpc>
              <a:spcAft>
                <a:spcPts val="1000"/>
              </a:spcAft>
            </a:pPr>
            <a:r>
              <a:rPr sz="1550">
                <a:solidFill>
                  <a:srgbClr val="121D21"/>
                </a:solidFill>
                <a:latin typeface="Calibri"/>
              </a:rPr>
              <a:t>•  Automatically send SMS and email payment reminders as due dates approach or lapse.</a:t>
            </a:r>
          </a:p>
          <a:p>
            <a:pPr>
              <a:lnSpc>
                <a:spcPct val="108000"/>
              </a:lnSpc>
              <a:spcAft>
                <a:spcPts val="1000"/>
              </a:spcAft>
            </a:pPr>
            <a:r>
              <a:rPr sz="1550">
                <a:solidFill>
                  <a:srgbClr val="121D21"/>
                </a:solidFill>
                <a:latin typeface="Calibri"/>
              </a:rPr>
              <a:t>•  Provide a dashboard giving owners visibility into outstanding debts, at-risk customers, and payment trends.</a:t>
            </a:r>
          </a:p>
          <a:p>
            <a:pPr>
              <a:lnSpc>
                <a:spcPct val="108000"/>
              </a:lnSpc>
              <a:spcAft>
                <a:spcPts val="1000"/>
              </a:spcAft>
            </a:pPr>
            <a:r>
              <a:rPr sz="1550">
                <a:solidFill>
                  <a:srgbClr val="121D21"/>
                </a:solidFill>
                <a:latin typeface="Calibri"/>
              </a:rPr>
              <a:t>•  Secure each business's data with authentication and row-level access control, so one business can never see another's records.</a:t>
            </a:r>
          </a:p>
          <a:p>
            <a:pPr>
              <a:lnSpc>
                <a:spcPct val="108000"/>
              </a:lnSpc>
              <a:spcAft>
                <a:spcPts val="1000"/>
              </a:spcAft>
            </a:pPr>
            <a:r>
              <a:rPr sz="1550">
                <a:solidFill>
                  <a:srgbClr val="121D21"/>
                </a:solidFill>
                <a:latin typeface="Calibri"/>
              </a:rPr>
              <a:t>•  Evaluate the system through structured testing to confirm it behaves reliably under real conditions.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AF9"/>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7315200" cy="320040"/>
          </a:xfrm>
          <a:prstGeom prst="rect">
            <a:avLst/>
          </a:prstGeom>
          <a:noFill/>
        </p:spPr>
        <p:txBody>
          <a:bodyPr wrap="square">
            <a:spAutoFit/>
          </a:bodyPr>
          <a:lstStyle/>
          <a:p>
            <a:pPr algn="l"/>
            <a:r>
              <a:rPr sz="1300" b="1" i="0">
                <a:solidFill>
                  <a:srgbClr val="E69A1F"/>
                </a:solidFill>
                <a:latin typeface="Calibri"/>
              </a:rPr>
              <a:t>CHAPTER ONE</a:t>
            </a:r>
          </a:p>
        </p:txBody>
      </p:sp>
      <p:sp>
        <p:nvSpPr>
          <p:cNvPr id="4" name="TextBox 3"/>
          <p:cNvSpPr txBox="1"/>
          <p:nvPr/>
        </p:nvSpPr>
        <p:spPr>
          <a:xfrm>
            <a:off x="640080" y="621792"/>
            <a:ext cx="10515600" cy="731520"/>
          </a:xfrm>
          <a:prstGeom prst="rect">
            <a:avLst/>
          </a:prstGeom>
          <a:noFill/>
        </p:spPr>
        <p:txBody>
          <a:bodyPr wrap="square">
            <a:spAutoFit/>
          </a:bodyPr>
          <a:lstStyle/>
          <a:p>
            <a:pPr algn="l"/>
            <a:r>
              <a:rPr sz="3000" b="1" i="0">
                <a:solidFill>
                  <a:srgbClr val="121D21"/>
                </a:solidFill>
                <a:latin typeface="Calibri"/>
              </a:rPr>
              <a:t>Vision</a:t>
            </a:r>
          </a:p>
        </p:txBody>
      </p:sp>
      <p:sp>
        <p:nvSpPr>
          <p:cNvPr id="5" name="Rectangle 4"/>
          <p:cNvSpPr/>
          <p:nvPr/>
        </p:nvSpPr>
        <p:spPr>
          <a:xfrm>
            <a:off x="658368" y="1298448"/>
            <a:ext cx="1005840" cy="4445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473952"/>
            <a:ext cx="5486400" cy="274320"/>
          </a:xfrm>
          <a:prstGeom prst="rect">
            <a:avLst/>
          </a:prstGeom>
          <a:noFill/>
        </p:spPr>
        <p:txBody>
          <a:bodyPr wrap="square">
            <a:spAutoFit/>
          </a:bodyPr>
          <a:lstStyle/>
          <a:p>
            <a:pPr algn="l"/>
            <a:r>
              <a:rPr sz="1000" b="0" i="0">
                <a:solidFill>
                  <a:srgbClr val="4B5A5E"/>
                </a:solidFill>
                <a:latin typeface="Calibri"/>
              </a:rPr>
              <a:t>KopaAlert — Stanley Murangiri</a:t>
            </a:r>
          </a:p>
        </p:txBody>
      </p:sp>
      <p:sp>
        <p:nvSpPr>
          <p:cNvPr id="7" name="TextBox 6"/>
          <p:cNvSpPr txBox="1"/>
          <p:nvPr/>
        </p:nvSpPr>
        <p:spPr>
          <a:xfrm>
            <a:off x="10972800" y="6473952"/>
            <a:ext cx="548640" cy="274320"/>
          </a:xfrm>
          <a:prstGeom prst="rect">
            <a:avLst/>
          </a:prstGeom>
          <a:noFill/>
        </p:spPr>
        <p:txBody>
          <a:bodyPr wrap="square">
            <a:spAutoFit/>
          </a:bodyPr>
          <a:lstStyle/>
          <a:p>
            <a:pPr algn="r"/>
            <a:r>
              <a:rPr sz="1000" b="0" i="0">
                <a:solidFill>
                  <a:srgbClr val="4B5A5E"/>
                </a:solidFill>
                <a:latin typeface="Calibri"/>
              </a:rPr>
              <a:t>7</a:t>
            </a:r>
          </a:p>
        </p:txBody>
      </p:sp>
      <p:sp>
        <p:nvSpPr>
          <p:cNvPr id="8" name="Rectangle 7"/>
          <p:cNvSpPr/>
          <p:nvPr/>
        </p:nvSpPr>
        <p:spPr>
          <a:xfrm>
            <a:off x="1463040" y="2011680"/>
            <a:ext cx="9235440" cy="3017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463040" y="2011680"/>
            <a:ext cx="9235440" cy="73152"/>
          </a:xfrm>
          <a:prstGeom prst="rect">
            <a:avLst/>
          </a:prstGeom>
          <a:solidFill>
            <a:srgbClr val="E6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920240" y="2468880"/>
            <a:ext cx="8321040" cy="2103120"/>
          </a:xfrm>
          <a:prstGeom prst="rect">
            <a:avLst/>
          </a:prstGeom>
          <a:noFill/>
        </p:spPr>
        <p:txBody>
          <a:bodyPr wrap="square" anchor="ctr">
            <a:spAutoFit/>
          </a:bodyPr>
          <a:lstStyle/>
          <a:p>
            <a:pPr algn="ctr">
              <a:lnSpc>
                <a:spcPct val="130000"/>
              </a:lnSpc>
            </a:pPr>
            <a:r>
              <a:rPr sz="2000" b="0" i="1">
                <a:solidFill>
                  <a:srgbClr val="121D21"/>
                </a:solidFill>
                <a:latin typeface="Calibri"/>
              </a:rPr>
              <a:t>My vision for KopaAlert is a Kenya where no small business loses money simply because a debt was forgotten — where every shopkeeper, salon owner, or trader, no matter how small the business, has access to the same disciplined, automated financial follow-up that only large companies could once afford.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AF9"/>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7315200" cy="320040"/>
          </a:xfrm>
          <a:prstGeom prst="rect">
            <a:avLst/>
          </a:prstGeom>
          <a:noFill/>
        </p:spPr>
        <p:txBody>
          <a:bodyPr wrap="square">
            <a:spAutoFit/>
          </a:bodyPr>
          <a:lstStyle/>
          <a:p>
            <a:pPr algn="l"/>
            <a:r>
              <a:rPr sz="1300" b="1" i="0">
                <a:solidFill>
                  <a:srgbClr val="E69A1F"/>
                </a:solidFill>
                <a:latin typeface="Calibri"/>
              </a:rPr>
              <a:t>CHAPTER ONE</a:t>
            </a:r>
          </a:p>
        </p:txBody>
      </p:sp>
      <p:sp>
        <p:nvSpPr>
          <p:cNvPr id="4" name="TextBox 3"/>
          <p:cNvSpPr txBox="1"/>
          <p:nvPr/>
        </p:nvSpPr>
        <p:spPr>
          <a:xfrm>
            <a:off x="640080" y="621792"/>
            <a:ext cx="10515600" cy="731520"/>
          </a:xfrm>
          <a:prstGeom prst="rect">
            <a:avLst/>
          </a:prstGeom>
          <a:noFill/>
        </p:spPr>
        <p:txBody>
          <a:bodyPr wrap="square">
            <a:spAutoFit/>
          </a:bodyPr>
          <a:lstStyle/>
          <a:p>
            <a:pPr algn="l"/>
            <a:r>
              <a:rPr sz="3000" b="1" i="0">
                <a:solidFill>
                  <a:srgbClr val="121D21"/>
                </a:solidFill>
                <a:latin typeface="Calibri"/>
              </a:rPr>
              <a:t>Scope of the Project</a:t>
            </a:r>
          </a:p>
        </p:txBody>
      </p:sp>
      <p:sp>
        <p:nvSpPr>
          <p:cNvPr id="5" name="Rectangle 4"/>
          <p:cNvSpPr/>
          <p:nvPr/>
        </p:nvSpPr>
        <p:spPr>
          <a:xfrm>
            <a:off x="658368" y="1298448"/>
            <a:ext cx="1005840" cy="4445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473952"/>
            <a:ext cx="5486400" cy="274320"/>
          </a:xfrm>
          <a:prstGeom prst="rect">
            <a:avLst/>
          </a:prstGeom>
          <a:noFill/>
        </p:spPr>
        <p:txBody>
          <a:bodyPr wrap="square">
            <a:spAutoFit/>
          </a:bodyPr>
          <a:lstStyle/>
          <a:p>
            <a:pPr algn="l"/>
            <a:r>
              <a:rPr sz="1000" b="0" i="0">
                <a:solidFill>
                  <a:srgbClr val="4B5A5E"/>
                </a:solidFill>
                <a:latin typeface="Calibri"/>
              </a:rPr>
              <a:t>KopaAlert — Stanley Murangiri</a:t>
            </a:r>
          </a:p>
        </p:txBody>
      </p:sp>
      <p:sp>
        <p:nvSpPr>
          <p:cNvPr id="7" name="TextBox 6"/>
          <p:cNvSpPr txBox="1"/>
          <p:nvPr/>
        </p:nvSpPr>
        <p:spPr>
          <a:xfrm>
            <a:off x="10972800" y="6473952"/>
            <a:ext cx="548640" cy="274320"/>
          </a:xfrm>
          <a:prstGeom prst="rect">
            <a:avLst/>
          </a:prstGeom>
          <a:noFill/>
        </p:spPr>
        <p:txBody>
          <a:bodyPr wrap="square">
            <a:spAutoFit/>
          </a:bodyPr>
          <a:lstStyle/>
          <a:p>
            <a:pPr algn="r"/>
            <a:r>
              <a:rPr sz="1000" b="0" i="0">
                <a:solidFill>
                  <a:srgbClr val="4B5A5E"/>
                </a:solidFill>
                <a:latin typeface="Calibri"/>
              </a:rPr>
              <a:t>8</a:t>
            </a:r>
          </a:p>
        </p:txBody>
      </p:sp>
      <p:sp>
        <p:nvSpPr>
          <p:cNvPr id="8" name="TextBox 7"/>
          <p:cNvSpPr txBox="1"/>
          <p:nvPr/>
        </p:nvSpPr>
        <p:spPr>
          <a:xfrm>
            <a:off x="685800" y="1572768"/>
            <a:ext cx="5120640" cy="365760"/>
          </a:xfrm>
          <a:prstGeom prst="rect">
            <a:avLst/>
          </a:prstGeom>
          <a:noFill/>
        </p:spPr>
        <p:txBody>
          <a:bodyPr wrap="square">
            <a:spAutoFit/>
          </a:bodyPr>
          <a:lstStyle/>
          <a:p>
            <a:pPr algn="l"/>
            <a:r>
              <a:rPr sz="1700" b="1" i="0">
                <a:solidFill>
                  <a:srgbClr val="0F766E"/>
                </a:solidFill>
                <a:latin typeface="Calibri"/>
              </a:rPr>
              <a:t>In Scope</a:t>
            </a:r>
          </a:p>
        </p:txBody>
      </p:sp>
      <p:sp>
        <p:nvSpPr>
          <p:cNvPr id="9" name="TextBox 8"/>
          <p:cNvSpPr txBox="1"/>
          <p:nvPr/>
        </p:nvSpPr>
        <p:spPr>
          <a:xfrm>
            <a:off x="685800" y="2011680"/>
            <a:ext cx="5394960" cy="4206240"/>
          </a:xfrm>
          <a:prstGeom prst="rect">
            <a:avLst/>
          </a:prstGeom>
          <a:noFill/>
        </p:spPr>
        <p:txBody>
          <a:bodyPr wrap="square">
            <a:spAutoFit/>
          </a:bodyPr>
          <a:lstStyle/>
          <a:p>
            <a:pPr>
              <a:lnSpc>
                <a:spcPct val="108000"/>
              </a:lnSpc>
              <a:spcAft>
                <a:spcPts val="900"/>
              </a:spcAft>
            </a:pPr>
            <a:r>
              <a:rPr sz="1350">
                <a:solidFill>
                  <a:srgbClr val="121D21"/>
                </a:solidFill>
                <a:latin typeface="Calibri"/>
              </a:rPr>
              <a:t>•  Customer (debtor) registration and management</a:t>
            </a:r>
          </a:p>
          <a:p>
            <a:pPr>
              <a:lnSpc>
                <a:spcPct val="108000"/>
              </a:lnSpc>
              <a:spcAft>
                <a:spcPts val="900"/>
              </a:spcAft>
            </a:pPr>
            <a:r>
              <a:rPr sz="1350">
                <a:solidFill>
                  <a:srgbClr val="121D21"/>
                </a:solidFill>
                <a:latin typeface="Calibri"/>
              </a:rPr>
              <a:t>•  Debt recording, due dates, and payment logging</a:t>
            </a:r>
          </a:p>
          <a:p>
            <a:pPr>
              <a:lnSpc>
                <a:spcPct val="108000"/>
              </a:lnSpc>
              <a:spcAft>
                <a:spcPts val="900"/>
              </a:spcAft>
            </a:pPr>
            <a:r>
              <a:rPr sz="1350">
                <a:solidFill>
                  <a:srgbClr val="121D21"/>
                </a:solidFill>
                <a:latin typeface="Calibri"/>
              </a:rPr>
              <a:t>•  Automated SMS reminders (Africa's Talking) and email reminders (Resend)</a:t>
            </a:r>
          </a:p>
          <a:p>
            <a:pPr>
              <a:lnSpc>
                <a:spcPct val="108000"/>
              </a:lnSpc>
              <a:spcAft>
                <a:spcPts val="900"/>
              </a:spcAft>
            </a:pPr>
            <a:r>
              <a:rPr sz="1350">
                <a:solidFill>
                  <a:srgbClr val="121D21"/>
                </a:solidFill>
                <a:latin typeface="Calibri"/>
              </a:rPr>
              <a:t>•  Customer payment-behaviour rating and auto-blacklisting of chronic defaulters</a:t>
            </a:r>
          </a:p>
          <a:p>
            <a:pPr>
              <a:lnSpc>
                <a:spcPct val="108000"/>
              </a:lnSpc>
              <a:spcAft>
                <a:spcPts val="900"/>
              </a:spcAft>
            </a:pPr>
            <a:r>
              <a:rPr sz="1350">
                <a:solidFill>
                  <a:srgbClr val="121D21"/>
                </a:solidFill>
                <a:latin typeface="Calibri"/>
              </a:rPr>
              <a:t>•  Business team management with staff roles and permissions</a:t>
            </a:r>
          </a:p>
          <a:p>
            <a:pPr>
              <a:lnSpc>
                <a:spcPct val="108000"/>
              </a:lnSpc>
              <a:spcAft>
                <a:spcPts val="900"/>
              </a:spcAft>
            </a:pPr>
            <a:r>
              <a:rPr sz="1350">
                <a:solidFill>
                  <a:srgbClr val="121D21"/>
                </a:solidFill>
                <a:latin typeface="Calibri"/>
              </a:rPr>
              <a:t>•  Subscription billing (monthly and one-time lifetime plans)</a:t>
            </a:r>
          </a:p>
          <a:p>
            <a:pPr>
              <a:lnSpc>
                <a:spcPct val="108000"/>
              </a:lnSpc>
              <a:spcAft>
                <a:spcPts val="900"/>
              </a:spcAft>
            </a:pPr>
            <a:r>
              <a:rPr sz="1350">
                <a:solidFill>
                  <a:srgbClr val="121D21"/>
                </a:solidFill>
                <a:latin typeface="Calibri"/>
              </a:rPr>
              <a:t>•  A platform admin console to approve new businesses and audit activity</a:t>
            </a:r>
          </a:p>
          <a:p>
            <a:pPr>
              <a:lnSpc>
                <a:spcPct val="108000"/>
              </a:lnSpc>
              <a:spcAft>
                <a:spcPts val="900"/>
              </a:spcAft>
            </a:pPr>
            <a:r>
              <a:rPr sz="1350">
                <a:solidFill>
                  <a:srgbClr val="121D21"/>
                </a:solidFill>
                <a:latin typeface="Calibri"/>
              </a:rPr>
              <a:t>•  Reporting and analytics on debts, payments, customers, and SMS delivery</a:t>
            </a:r>
          </a:p>
        </p:txBody>
      </p:sp>
      <p:sp>
        <p:nvSpPr>
          <p:cNvPr id="10" name="TextBox 9"/>
          <p:cNvSpPr txBox="1"/>
          <p:nvPr/>
        </p:nvSpPr>
        <p:spPr>
          <a:xfrm>
            <a:off x="6309360" y="1572768"/>
            <a:ext cx="5120640" cy="365760"/>
          </a:xfrm>
          <a:prstGeom prst="rect">
            <a:avLst/>
          </a:prstGeom>
          <a:noFill/>
        </p:spPr>
        <p:txBody>
          <a:bodyPr wrap="square">
            <a:spAutoFit/>
          </a:bodyPr>
          <a:lstStyle/>
          <a:p>
            <a:pPr algn="l"/>
            <a:r>
              <a:rPr sz="1700" b="1" i="0">
                <a:solidFill>
                  <a:srgbClr val="E69A1F"/>
                </a:solidFill>
                <a:latin typeface="Calibri"/>
              </a:rPr>
              <a:t>Out of Scope (for now)</a:t>
            </a:r>
          </a:p>
        </p:txBody>
      </p:sp>
      <p:sp>
        <p:nvSpPr>
          <p:cNvPr id="11" name="TextBox 10"/>
          <p:cNvSpPr txBox="1"/>
          <p:nvPr/>
        </p:nvSpPr>
        <p:spPr>
          <a:xfrm>
            <a:off x="6309360" y="2011680"/>
            <a:ext cx="5394960" cy="4206240"/>
          </a:xfrm>
          <a:prstGeom prst="rect">
            <a:avLst/>
          </a:prstGeom>
          <a:noFill/>
        </p:spPr>
        <p:txBody>
          <a:bodyPr wrap="square">
            <a:spAutoFit/>
          </a:bodyPr>
          <a:lstStyle/>
          <a:p>
            <a:pPr>
              <a:lnSpc>
                <a:spcPct val="108000"/>
              </a:lnSpc>
              <a:spcAft>
                <a:spcPts val="900"/>
              </a:spcAft>
            </a:pPr>
            <a:r>
              <a:rPr sz="1350">
                <a:solidFill>
                  <a:srgbClr val="121D21"/>
                </a:solidFill>
                <a:latin typeface="Calibri"/>
              </a:rPr>
              <a:t>•  Direct, automated payment collection (e.g. M-Pesa STK Push) — payments are currently recorded manually once received</a:t>
            </a:r>
          </a:p>
          <a:p>
            <a:pPr>
              <a:lnSpc>
                <a:spcPct val="108000"/>
              </a:lnSpc>
              <a:spcAft>
                <a:spcPts val="900"/>
              </a:spcAft>
            </a:pPr>
            <a:r>
              <a:rPr sz="1350">
                <a:solidFill>
                  <a:srgbClr val="121D21"/>
                </a:solidFill>
                <a:latin typeface="Calibri"/>
              </a:rPr>
              <a:t>•  Point-of-sale or inventory management</a:t>
            </a:r>
          </a:p>
          <a:p>
            <a:pPr>
              <a:lnSpc>
                <a:spcPct val="108000"/>
              </a:lnSpc>
              <a:spcAft>
                <a:spcPts val="900"/>
              </a:spcAft>
            </a:pPr>
            <a:r>
              <a:rPr sz="1350">
                <a:solidFill>
                  <a:srgbClr val="121D21"/>
                </a:solidFill>
                <a:latin typeface="Calibri"/>
              </a:rPr>
              <a:t>•  A native mobile application</a:t>
            </a:r>
          </a:p>
          <a:p>
            <a:pPr>
              <a:lnSpc>
                <a:spcPct val="108000"/>
              </a:lnSpc>
              <a:spcAft>
                <a:spcPts val="900"/>
              </a:spcAft>
            </a:pPr>
            <a:r>
              <a:rPr sz="1350">
                <a:solidFill>
                  <a:srgbClr val="121D21"/>
                </a:solidFill>
                <a:latin typeface="Calibri"/>
              </a:rPr>
              <a:t>•  Offline-first operation without an internet connection</a:t>
            </a:r>
          </a:p>
          <a:p>
            <a:pPr>
              <a:lnSpc>
                <a:spcPct val="108000"/>
              </a:lnSpc>
              <a:spcAft>
                <a:spcPts val="900"/>
              </a:spcAft>
            </a:pPr>
            <a:r>
              <a:rPr sz="1350">
                <a:solidFill>
                  <a:srgbClr val="121D21"/>
                </a:solidFill>
                <a:latin typeface="Calibri"/>
              </a:rPr>
              <a:t>•  Multi-currency / non-Kenyan market support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AF9"/>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7315200" cy="320040"/>
          </a:xfrm>
          <a:prstGeom prst="rect">
            <a:avLst/>
          </a:prstGeom>
          <a:noFill/>
        </p:spPr>
        <p:txBody>
          <a:bodyPr wrap="square">
            <a:spAutoFit/>
          </a:bodyPr>
          <a:lstStyle/>
          <a:p>
            <a:pPr algn="l"/>
            <a:r>
              <a:rPr sz="1300" b="1" i="0">
                <a:solidFill>
                  <a:srgbClr val="E69A1F"/>
                </a:solidFill>
                <a:latin typeface="Calibri"/>
              </a:rPr>
              <a:t>CHAPTER ONE</a:t>
            </a:r>
          </a:p>
        </p:txBody>
      </p:sp>
      <p:sp>
        <p:nvSpPr>
          <p:cNvPr id="4" name="TextBox 3"/>
          <p:cNvSpPr txBox="1"/>
          <p:nvPr/>
        </p:nvSpPr>
        <p:spPr>
          <a:xfrm>
            <a:off x="640080" y="621792"/>
            <a:ext cx="10515600" cy="731520"/>
          </a:xfrm>
          <a:prstGeom prst="rect">
            <a:avLst/>
          </a:prstGeom>
          <a:noFill/>
        </p:spPr>
        <p:txBody>
          <a:bodyPr wrap="square">
            <a:spAutoFit/>
          </a:bodyPr>
          <a:lstStyle/>
          <a:p>
            <a:pPr algn="l"/>
            <a:r>
              <a:rPr sz="3000" b="1" i="0">
                <a:solidFill>
                  <a:srgbClr val="121D21"/>
                </a:solidFill>
                <a:latin typeface="Calibri"/>
              </a:rPr>
              <a:t>Significance of the Study</a:t>
            </a:r>
          </a:p>
        </p:txBody>
      </p:sp>
      <p:sp>
        <p:nvSpPr>
          <p:cNvPr id="5" name="Rectangle 4"/>
          <p:cNvSpPr/>
          <p:nvPr/>
        </p:nvSpPr>
        <p:spPr>
          <a:xfrm>
            <a:off x="658368" y="1298448"/>
            <a:ext cx="1005840" cy="4445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473952"/>
            <a:ext cx="5486400" cy="274320"/>
          </a:xfrm>
          <a:prstGeom prst="rect">
            <a:avLst/>
          </a:prstGeom>
          <a:noFill/>
        </p:spPr>
        <p:txBody>
          <a:bodyPr wrap="square">
            <a:spAutoFit/>
          </a:bodyPr>
          <a:lstStyle/>
          <a:p>
            <a:pPr algn="l"/>
            <a:r>
              <a:rPr sz="1000" b="0" i="0">
                <a:solidFill>
                  <a:srgbClr val="4B5A5E"/>
                </a:solidFill>
                <a:latin typeface="Calibri"/>
              </a:rPr>
              <a:t>KopaAlert — Stanley Murangiri</a:t>
            </a:r>
          </a:p>
        </p:txBody>
      </p:sp>
      <p:sp>
        <p:nvSpPr>
          <p:cNvPr id="7" name="TextBox 6"/>
          <p:cNvSpPr txBox="1"/>
          <p:nvPr/>
        </p:nvSpPr>
        <p:spPr>
          <a:xfrm>
            <a:off x="10972800" y="6473952"/>
            <a:ext cx="548640" cy="274320"/>
          </a:xfrm>
          <a:prstGeom prst="rect">
            <a:avLst/>
          </a:prstGeom>
          <a:noFill/>
        </p:spPr>
        <p:txBody>
          <a:bodyPr wrap="square">
            <a:spAutoFit/>
          </a:bodyPr>
          <a:lstStyle/>
          <a:p>
            <a:pPr algn="r"/>
            <a:r>
              <a:rPr sz="1000" b="0" i="0">
                <a:solidFill>
                  <a:srgbClr val="4B5A5E"/>
                </a:solidFill>
                <a:latin typeface="Calibri"/>
              </a:rPr>
              <a:t>9</a:t>
            </a:r>
          </a:p>
        </p:txBody>
      </p:sp>
      <p:sp>
        <p:nvSpPr>
          <p:cNvPr id="8" name="TextBox 7"/>
          <p:cNvSpPr txBox="1"/>
          <p:nvPr/>
        </p:nvSpPr>
        <p:spPr>
          <a:xfrm>
            <a:off x="685800" y="1600200"/>
            <a:ext cx="10789920" cy="4572000"/>
          </a:xfrm>
          <a:prstGeom prst="rect">
            <a:avLst/>
          </a:prstGeom>
          <a:noFill/>
        </p:spPr>
        <p:txBody>
          <a:bodyPr wrap="square">
            <a:spAutoFit/>
          </a:bodyPr>
          <a:lstStyle/>
          <a:p>
            <a:pPr>
              <a:lnSpc>
                <a:spcPct val="108000"/>
              </a:lnSpc>
              <a:spcAft>
                <a:spcPts val="1000"/>
              </a:spcAft>
            </a:pPr>
            <a:r>
              <a:rPr sz="1700">
                <a:solidFill>
                  <a:srgbClr val="121D21"/>
                </a:solidFill>
                <a:latin typeface="Calibri"/>
              </a:rPr>
              <a:t>•  To the business owner: replaces a fragile paper process with a system that cannot forget, reducing the amount of legitimately owed money that is silently lost.</a:t>
            </a:r>
          </a:p>
          <a:p>
            <a:pPr>
              <a:lnSpc>
                <a:spcPct val="108000"/>
              </a:lnSpc>
              <a:spcAft>
                <a:spcPts val="1000"/>
              </a:spcAft>
            </a:pPr>
            <a:r>
              <a:rPr sz="1700">
                <a:solidFill>
                  <a:srgbClr val="121D21"/>
                </a:solidFill>
                <a:latin typeface="Calibri"/>
              </a:rPr>
              <a:t>•  To the customer: receives timely, consistent reminders instead of an occasional, awkward in-person or phone request, making it easier to plan and pay on time.</a:t>
            </a:r>
          </a:p>
          <a:p>
            <a:pPr>
              <a:lnSpc>
                <a:spcPct val="108000"/>
              </a:lnSpc>
              <a:spcAft>
                <a:spcPts val="1000"/>
              </a:spcAft>
            </a:pPr>
            <a:r>
              <a:rPr sz="1700">
                <a:solidFill>
                  <a:srgbClr val="121D21"/>
                </a:solidFill>
                <a:latin typeface="Calibri"/>
              </a:rPr>
              <a:t>•  To the wider small-business community: demonstrates that an affordable, well-designed digital tool can replace informal credit-tracking practices used across thousands of similar businesses in Kenya.</a:t>
            </a:r>
          </a:p>
          <a:p>
            <a:pPr>
              <a:lnSpc>
                <a:spcPct val="108000"/>
              </a:lnSpc>
              <a:spcAft>
                <a:spcPts val="1000"/>
              </a:spcAft>
            </a:pPr>
            <a:r>
              <a:rPr sz="1700">
                <a:solidFill>
                  <a:srgbClr val="121D21"/>
                </a:solidFill>
                <a:latin typeface="Calibri"/>
              </a:rPr>
              <a:t>•  To me, as a student: this project let me take a real problem I personally witnessed and carry it through the full software development lifecycle — from problem identification to a working, deployed, tested system.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AF9"/>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7315200" cy="320040"/>
          </a:xfrm>
          <a:prstGeom prst="rect">
            <a:avLst/>
          </a:prstGeom>
          <a:noFill/>
        </p:spPr>
        <p:txBody>
          <a:bodyPr wrap="square">
            <a:spAutoFit/>
          </a:bodyPr>
          <a:lstStyle/>
          <a:p>
            <a:pPr algn="l"/>
            <a:r>
              <a:rPr sz="1300" b="1" i="0">
                <a:solidFill>
                  <a:srgbClr val="E69A1F"/>
                </a:solidFill>
                <a:latin typeface="Calibri"/>
              </a:rPr>
              <a:t>CHAPTER TWO</a:t>
            </a:r>
          </a:p>
        </p:txBody>
      </p:sp>
      <p:sp>
        <p:nvSpPr>
          <p:cNvPr id="4" name="TextBox 3"/>
          <p:cNvSpPr txBox="1"/>
          <p:nvPr/>
        </p:nvSpPr>
        <p:spPr>
          <a:xfrm>
            <a:off x="640080" y="621792"/>
            <a:ext cx="10515600" cy="731520"/>
          </a:xfrm>
          <a:prstGeom prst="rect">
            <a:avLst/>
          </a:prstGeom>
          <a:noFill/>
        </p:spPr>
        <p:txBody>
          <a:bodyPr wrap="square">
            <a:spAutoFit/>
          </a:bodyPr>
          <a:lstStyle/>
          <a:p>
            <a:pPr algn="l"/>
            <a:r>
              <a:rPr sz="3000" b="1" i="0">
                <a:solidFill>
                  <a:srgbClr val="121D21"/>
                </a:solidFill>
                <a:latin typeface="Calibri"/>
              </a:rPr>
              <a:t>Technology Stack</a:t>
            </a:r>
          </a:p>
        </p:txBody>
      </p:sp>
      <p:sp>
        <p:nvSpPr>
          <p:cNvPr id="5" name="Rectangle 4"/>
          <p:cNvSpPr/>
          <p:nvPr/>
        </p:nvSpPr>
        <p:spPr>
          <a:xfrm>
            <a:off x="658368" y="1298448"/>
            <a:ext cx="1005840" cy="4445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473952"/>
            <a:ext cx="5486400" cy="274320"/>
          </a:xfrm>
          <a:prstGeom prst="rect">
            <a:avLst/>
          </a:prstGeom>
          <a:noFill/>
        </p:spPr>
        <p:txBody>
          <a:bodyPr wrap="square">
            <a:spAutoFit/>
          </a:bodyPr>
          <a:lstStyle/>
          <a:p>
            <a:pPr algn="l"/>
            <a:r>
              <a:rPr sz="1000" b="0" i="0">
                <a:solidFill>
                  <a:srgbClr val="4B5A5E"/>
                </a:solidFill>
                <a:latin typeface="Calibri"/>
              </a:rPr>
              <a:t>KopaAlert — Stanley Murangiri</a:t>
            </a:r>
          </a:p>
        </p:txBody>
      </p:sp>
      <p:sp>
        <p:nvSpPr>
          <p:cNvPr id="7" name="TextBox 6"/>
          <p:cNvSpPr txBox="1"/>
          <p:nvPr/>
        </p:nvSpPr>
        <p:spPr>
          <a:xfrm>
            <a:off x="10972800" y="6473952"/>
            <a:ext cx="548640" cy="274320"/>
          </a:xfrm>
          <a:prstGeom prst="rect">
            <a:avLst/>
          </a:prstGeom>
          <a:noFill/>
        </p:spPr>
        <p:txBody>
          <a:bodyPr wrap="square">
            <a:spAutoFit/>
          </a:bodyPr>
          <a:lstStyle/>
          <a:p>
            <a:pPr algn="r"/>
            <a:r>
              <a:rPr sz="1000" b="0" i="0">
                <a:solidFill>
                  <a:srgbClr val="4B5A5E"/>
                </a:solidFill>
                <a:latin typeface="Calibri"/>
              </a:rPr>
              <a:t>10</a:t>
            </a:r>
          </a:p>
        </p:txBody>
      </p:sp>
      <p:sp>
        <p:nvSpPr>
          <p:cNvPr id="8" name="Rectangle 7"/>
          <p:cNvSpPr/>
          <p:nvPr/>
        </p:nvSpPr>
        <p:spPr>
          <a:xfrm>
            <a:off x="685800" y="1600200"/>
            <a:ext cx="2743200" cy="5669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673352"/>
            <a:ext cx="2468880" cy="457200"/>
          </a:xfrm>
          <a:prstGeom prst="rect">
            <a:avLst/>
          </a:prstGeom>
          <a:noFill/>
        </p:spPr>
        <p:txBody>
          <a:bodyPr wrap="square" anchor="ctr">
            <a:spAutoFit/>
          </a:bodyPr>
          <a:lstStyle/>
          <a:p>
            <a:pPr algn="l"/>
            <a:r>
              <a:rPr sz="1350" b="1" i="0">
                <a:solidFill>
                  <a:srgbClr val="FFFFFF"/>
                </a:solidFill>
                <a:latin typeface="Calibri"/>
              </a:rPr>
              <a:t>Frontend &amp; Backend</a:t>
            </a:r>
          </a:p>
        </p:txBody>
      </p:sp>
      <p:sp>
        <p:nvSpPr>
          <p:cNvPr id="10" name="Rectangle 9"/>
          <p:cNvSpPr/>
          <p:nvPr/>
        </p:nvSpPr>
        <p:spPr>
          <a:xfrm>
            <a:off x="3520440" y="1600200"/>
            <a:ext cx="7955279"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1645920"/>
            <a:ext cx="7726679" cy="475488"/>
          </a:xfrm>
          <a:prstGeom prst="rect">
            <a:avLst/>
          </a:prstGeom>
          <a:noFill/>
        </p:spPr>
        <p:txBody>
          <a:bodyPr wrap="square" anchor="ctr">
            <a:spAutoFit/>
          </a:bodyPr>
          <a:lstStyle/>
          <a:p>
            <a:pPr algn="l"/>
            <a:r>
              <a:rPr sz="1250" b="0" i="0">
                <a:solidFill>
                  <a:srgbClr val="121D21"/>
                </a:solidFill>
                <a:latin typeface="Calibri"/>
              </a:rPr>
              <a:t>Next.js 15 (App Router) with React 19 and TypeScript, styled with Tailwind CSS</a:t>
            </a:r>
          </a:p>
        </p:txBody>
      </p:sp>
      <p:sp>
        <p:nvSpPr>
          <p:cNvPr id="12" name="Rectangle 11"/>
          <p:cNvSpPr/>
          <p:nvPr/>
        </p:nvSpPr>
        <p:spPr>
          <a:xfrm>
            <a:off x="685800" y="2258568"/>
            <a:ext cx="2743200" cy="5669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331720"/>
            <a:ext cx="2468880" cy="457200"/>
          </a:xfrm>
          <a:prstGeom prst="rect">
            <a:avLst/>
          </a:prstGeom>
          <a:noFill/>
        </p:spPr>
        <p:txBody>
          <a:bodyPr wrap="square" anchor="ctr">
            <a:spAutoFit/>
          </a:bodyPr>
          <a:lstStyle/>
          <a:p>
            <a:pPr algn="l"/>
            <a:r>
              <a:rPr sz="1350" b="1" i="0">
                <a:solidFill>
                  <a:srgbClr val="FFFFFF"/>
                </a:solidFill>
                <a:latin typeface="Calibri"/>
              </a:rPr>
              <a:t>Database &amp; Auth</a:t>
            </a:r>
          </a:p>
        </p:txBody>
      </p:sp>
      <p:sp>
        <p:nvSpPr>
          <p:cNvPr id="14" name="Rectangle 13"/>
          <p:cNvSpPr/>
          <p:nvPr/>
        </p:nvSpPr>
        <p:spPr>
          <a:xfrm>
            <a:off x="3520440" y="2258568"/>
            <a:ext cx="7955279"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0" y="2304288"/>
            <a:ext cx="7726679" cy="475488"/>
          </a:xfrm>
          <a:prstGeom prst="rect">
            <a:avLst/>
          </a:prstGeom>
          <a:noFill/>
        </p:spPr>
        <p:txBody>
          <a:bodyPr wrap="square" anchor="ctr">
            <a:spAutoFit/>
          </a:bodyPr>
          <a:lstStyle/>
          <a:p>
            <a:pPr algn="l"/>
            <a:r>
              <a:rPr sz="1250" b="0" i="0">
                <a:solidFill>
                  <a:srgbClr val="121D21"/>
                </a:solidFill>
                <a:latin typeface="Calibri"/>
              </a:rPr>
              <a:t>Supabase — managed PostgreSQL with Row Level Security (RLS) and built-in authentication</a:t>
            </a:r>
          </a:p>
        </p:txBody>
      </p:sp>
      <p:sp>
        <p:nvSpPr>
          <p:cNvPr id="16" name="Rectangle 15"/>
          <p:cNvSpPr/>
          <p:nvPr/>
        </p:nvSpPr>
        <p:spPr>
          <a:xfrm>
            <a:off x="685800" y="2916936"/>
            <a:ext cx="2743200" cy="5669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2990088"/>
            <a:ext cx="2468880" cy="457200"/>
          </a:xfrm>
          <a:prstGeom prst="rect">
            <a:avLst/>
          </a:prstGeom>
          <a:noFill/>
        </p:spPr>
        <p:txBody>
          <a:bodyPr wrap="square" anchor="ctr">
            <a:spAutoFit/>
          </a:bodyPr>
          <a:lstStyle/>
          <a:p>
            <a:pPr algn="l"/>
            <a:r>
              <a:rPr sz="1350" b="1" i="0">
                <a:solidFill>
                  <a:srgbClr val="FFFFFF"/>
                </a:solidFill>
                <a:latin typeface="Calibri"/>
              </a:rPr>
              <a:t>SMS Delivery</a:t>
            </a:r>
          </a:p>
        </p:txBody>
      </p:sp>
      <p:sp>
        <p:nvSpPr>
          <p:cNvPr id="18" name="Rectangle 17"/>
          <p:cNvSpPr/>
          <p:nvPr/>
        </p:nvSpPr>
        <p:spPr>
          <a:xfrm>
            <a:off x="3520440" y="2916936"/>
            <a:ext cx="7955279"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0" y="2962656"/>
            <a:ext cx="7726679" cy="475488"/>
          </a:xfrm>
          <a:prstGeom prst="rect">
            <a:avLst/>
          </a:prstGeom>
          <a:noFill/>
        </p:spPr>
        <p:txBody>
          <a:bodyPr wrap="square" anchor="ctr">
            <a:spAutoFit/>
          </a:bodyPr>
          <a:lstStyle/>
          <a:p>
            <a:pPr algn="l"/>
            <a:r>
              <a:rPr sz="1250" b="0" i="0">
                <a:solidFill>
                  <a:srgbClr val="121D21"/>
                </a:solidFill>
                <a:latin typeface="Calibri"/>
              </a:rPr>
              <a:t>Africa's Talking API — sends debt reminder SMS to customers in Kenya</a:t>
            </a:r>
          </a:p>
        </p:txBody>
      </p:sp>
      <p:sp>
        <p:nvSpPr>
          <p:cNvPr id="20" name="Rectangle 19"/>
          <p:cNvSpPr/>
          <p:nvPr/>
        </p:nvSpPr>
        <p:spPr>
          <a:xfrm>
            <a:off x="685800" y="3575304"/>
            <a:ext cx="2743200" cy="5669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3648456"/>
            <a:ext cx="2468880" cy="457200"/>
          </a:xfrm>
          <a:prstGeom prst="rect">
            <a:avLst/>
          </a:prstGeom>
          <a:noFill/>
        </p:spPr>
        <p:txBody>
          <a:bodyPr wrap="square" anchor="ctr">
            <a:spAutoFit/>
          </a:bodyPr>
          <a:lstStyle/>
          <a:p>
            <a:pPr algn="l"/>
            <a:r>
              <a:rPr sz="1350" b="1" i="0">
                <a:solidFill>
                  <a:srgbClr val="FFFFFF"/>
                </a:solidFill>
                <a:latin typeface="Calibri"/>
              </a:rPr>
              <a:t>Email Delivery</a:t>
            </a:r>
          </a:p>
        </p:txBody>
      </p:sp>
      <p:sp>
        <p:nvSpPr>
          <p:cNvPr id="22" name="Rectangle 21"/>
          <p:cNvSpPr/>
          <p:nvPr/>
        </p:nvSpPr>
        <p:spPr>
          <a:xfrm>
            <a:off x="3520440" y="3575304"/>
            <a:ext cx="7955279"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0" y="3621024"/>
            <a:ext cx="7726679" cy="475488"/>
          </a:xfrm>
          <a:prstGeom prst="rect">
            <a:avLst/>
          </a:prstGeom>
          <a:noFill/>
        </p:spPr>
        <p:txBody>
          <a:bodyPr wrap="square" anchor="ctr">
            <a:spAutoFit/>
          </a:bodyPr>
          <a:lstStyle/>
          <a:p>
            <a:pPr algn="l"/>
            <a:r>
              <a:rPr sz="1250" b="0" i="0">
                <a:solidFill>
                  <a:srgbClr val="121D21"/>
                </a:solidFill>
                <a:latin typeface="Calibri"/>
              </a:rPr>
              <a:t>Resend — sends email reminders and account/approval notifications</a:t>
            </a:r>
          </a:p>
        </p:txBody>
      </p:sp>
      <p:sp>
        <p:nvSpPr>
          <p:cNvPr id="24" name="Rectangle 23"/>
          <p:cNvSpPr/>
          <p:nvPr/>
        </p:nvSpPr>
        <p:spPr>
          <a:xfrm>
            <a:off x="685800" y="4233672"/>
            <a:ext cx="2743200" cy="5669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4306824"/>
            <a:ext cx="2468880" cy="457200"/>
          </a:xfrm>
          <a:prstGeom prst="rect">
            <a:avLst/>
          </a:prstGeom>
          <a:noFill/>
        </p:spPr>
        <p:txBody>
          <a:bodyPr wrap="square" anchor="ctr">
            <a:spAutoFit/>
          </a:bodyPr>
          <a:lstStyle/>
          <a:p>
            <a:pPr algn="l"/>
            <a:r>
              <a:rPr sz="1350" b="1" i="0">
                <a:solidFill>
                  <a:srgbClr val="FFFFFF"/>
                </a:solidFill>
                <a:latin typeface="Calibri"/>
              </a:rPr>
              <a:t>Scheduled Jobs</a:t>
            </a:r>
          </a:p>
        </p:txBody>
      </p:sp>
      <p:sp>
        <p:nvSpPr>
          <p:cNvPr id="26" name="Rectangle 25"/>
          <p:cNvSpPr/>
          <p:nvPr/>
        </p:nvSpPr>
        <p:spPr>
          <a:xfrm>
            <a:off x="3520440" y="4233672"/>
            <a:ext cx="7955279"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0" y="4279392"/>
            <a:ext cx="7726679" cy="475488"/>
          </a:xfrm>
          <a:prstGeom prst="rect">
            <a:avLst/>
          </a:prstGeom>
          <a:noFill/>
        </p:spPr>
        <p:txBody>
          <a:bodyPr wrap="square" anchor="ctr">
            <a:spAutoFit/>
          </a:bodyPr>
          <a:lstStyle/>
          <a:p>
            <a:pPr algn="l"/>
            <a:r>
              <a:rPr sz="1250" b="0" i="0">
                <a:solidFill>
                  <a:srgbClr val="121D21"/>
                </a:solidFill>
                <a:latin typeface="Calibri"/>
              </a:rPr>
              <a:t>Cron-triggered API routes handle reminders, ratings, auto-blacklisting, and subscription billing on a schedule</a:t>
            </a:r>
          </a:p>
        </p:txBody>
      </p:sp>
      <p:sp>
        <p:nvSpPr>
          <p:cNvPr id="28" name="Rectangle 27"/>
          <p:cNvSpPr/>
          <p:nvPr/>
        </p:nvSpPr>
        <p:spPr>
          <a:xfrm>
            <a:off x="685800" y="4892040"/>
            <a:ext cx="2743200" cy="5669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4965192"/>
            <a:ext cx="2468880" cy="457200"/>
          </a:xfrm>
          <a:prstGeom prst="rect">
            <a:avLst/>
          </a:prstGeom>
          <a:noFill/>
        </p:spPr>
        <p:txBody>
          <a:bodyPr wrap="square" anchor="ctr">
            <a:spAutoFit/>
          </a:bodyPr>
          <a:lstStyle/>
          <a:p>
            <a:pPr algn="l"/>
            <a:r>
              <a:rPr sz="1350" b="1" i="0">
                <a:solidFill>
                  <a:srgbClr val="FFFFFF"/>
                </a:solidFill>
                <a:latin typeface="Calibri"/>
              </a:rPr>
              <a:t>Testing</a:t>
            </a:r>
          </a:p>
        </p:txBody>
      </p:sp>
      <p:sp>
        <p:nvSpPr>
          <p:cNvPr id="30" name="Rectangle 29"/>
          <p:cNvSpPr/>
          <p:nvPr/>
        </p:nvSpPr>
        <p:spPr>
          <a:xfrm>
            <a:off x="3520440" y="4892040"/>
            <a:ext cx="7955279"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0" y="4937760"/>
            <a:ext cx="7726679" cy="475488"/>
          </a:xfrm>
          <a:prstGeom prst="rect">
            <a:avLst/>
          </a:prstGeom>
          <a:noFill/>
        </p:spPr>
        <p:txBody>
          <a:bodyPr wrap="square" anchor="ctr">
            <a:spAutoFit/>
          </a:bodyPr>
          <a:lstStyle/>
          <a:p>
            <a:pPr algn="l"/>
            <a:r>
              <a:rPr sz="1250" b="0" i="0">
                <a:solidFill>
                  <a:srgbClr val="121D21"/>
                </a:solidFill>
                <a:latin typeface="Calibri"/>
              </a:rPr>
              <a:t>Jest for unit tests, Playwright for end-to-end browser tests</a:t>
            </a:r>
          </a:p>
        </p:txBody>
      </p:sp>
      <p:sp>
        <p:nvSpPr>
          <p:cNvPr id="32" name="Rectangle 31"/>
          <p:cNvSpPr/>
          <p:nvPr/>
        </p:nvSpPr>
        <p:spPr>
          <a:xfrm>
            <a:off x="685800" y="5550408"/>
            <a:ext cx="2743200" cy="5669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5623560"/>
            <a:ext cx="2468880" cy="457200"/>
          </a:xfrm>
          <a:prstGeom prst="rect">
            <a:avLst/>
          </a:prstGeom>
          <a:noFill/>
        </p:spPr>
        <p:txBody>
          <a:bodyPr wrap="square" anchor="ctr">
            <a:spAutoFit/>
          </a:bodyPr>
          <a:lstStyle/>
          <a:p>
            <a:pPr algn="l"/>
            <a:r>
              <a:rPr sz="1350" b="1" i="0">
                <a:solidFill>
                  <a:srgbClr val="FFFFFF"/>
                </a:solidFill>
                <a:latin typeface="Calibri"/>
              </a:rPr>
              <a:t>Hosting</a:t>
            </a:r>
          </a:p>
        </p:txBody>
      </p:sp>
      <p:sp>
        <p:nvSpPr>
          <p:cNvPr id="34" name="Rectangle 33"/>
          <p:cNvSpPr/>
          <p:nvPr/>
        </p:nvSpPr>
        <p:spPr>
          <a:xfrm>
            <a:off x="3520440" y="5550408"/>
            <a:ext cx="7955279"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57600" y="5596128"/>
            <a:ext cx="7726679" cy="475488"/>
          </a:xfrm>
          <a:prstGeom prst="rect">
            <a:avLst/>
          </a:prstGeom>
          <a:noFill/>
        </p:spPr>
        <p:txBody>
          <a:bodyPr wrap="square" anchor="ctr">
            <a:spAutoFit/>
          </a:bodyPr>
          <a:lstStyle/>
          <a:p>
            <a:pPr algn="l"/>
            <a:r>
              <a:rPr sz="1250" b="0" i="0">
                <a:solidFill>
                  <a:srgbClr val="121D21"/>
                </a:solidFill>
                <a:latin typeface="Calibri"/>
              </a:rPr>
              <a:t>Deployed as a serverless Next.js application (Vercel-style hosting)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AF9"/>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7315200" cy="320040"/>
          </a:xfrm>
          <a:prstGeom prst="rect">
            <a:avLst/>
          </a:prstGeom>
          <a:noFill/>
        </p:spPr>
        <p:txBody>
          <a:bodyPr wrap="square">
            <a:spAutoFit/>
          </a:bodyPr>
          <a:lstStyle/>
          <a:p>
            <a:pPr algn="l"/>
            <a:r>
              <a:rPr sz="1300" b="1" i="0">
                <a:solidFill>
                  <a:srgbClr val="E69A1F"/>
                </a:solidFill>
                <a:latin typeface="Calibri"/>
              </a:rPr>
              <a:t>CHAPTER TWO</a:t>
            </a:r>
          </a:p>
        </p:txBody>
      </p:sp>
      <p:sp>
        <p:nvSpPr>
          <p:cNvPr id="4" name="TextBox 3"/>
          <p:cNvSpPr txBox="1"/>
          <p:nvPr/>
        </p:nvSpPr>
        <p:spPr>
          <a:xfrm>
            <a:off x="640080" y="621792"/>
            <a:ext cx="10515600" cy="731520"/>
          </a:xfrm>
          <a:prstGeom prst="rect">
            <a:avLst/>
          </a:prstGeom>
          <a:noFill/>
        </p:spPr>
        <p:txBody>
          <a:bodyPr wrap="square">
            <a:spAutoFit/>
          </a:bodyPr>
          <a:lstStyle/>
          <a:p>
            <a:pPr algn="l"/>
            <a:r>
              <a:rPr sz="3000" b="1" i="0">
                <a:solidFill>
                  <a:srgbClr val="121D21"/>
                </a:solidFill>
                <a:latin typeface="Calibri"/>
              </a:rPr>
              <a:t>System Architecture — Developer View</a:t>
            </a:r>
          </a:p>
        </p:txBody>
      </p:sp>
      <p:sp>
        <p:nvSpPr>
          <p:cNvPr id="5" name="Rectangle 4"/>
          <p:cNvSpPr/>
          <p:nvPr/>
        </p:nvSpPr>
        <p:spPr>
          <a:xfrm>
            <a:off x="658368" y="1298448"/>
            <a:ext cx="1005840" cy="4445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473952"/>
            <a:ext cx="5486400" cy="274320"/>
          </a:xfrm>
          <a:prstGeom prst="rect">
            <a:avLst/>
          </a:prstGeom>
          <a:noFill/>
        </p:spPr>
        <p:txBody>
          <a:bodyPr wrap="square">
            <a:spAutoFit/>
          </a:bodyPr>
          <a:lstStyle/>
          <a:p>
            <a:pPr algn="l"/>
            <a:r>
              <a:rPr sz="1000" b="0" i="0">
                <a:solidFill>
                  <a:srgbClr val="4B5A5E"/>
                </a:solidFill>
                <a:latin typeface="Calibri"/>
              </a:rPr>
              <a:t>KopaAlert — Stanley Murangiri</a:t>
            </a:r>
          </a:p>
        </p:txBody>
      </p:sp>
      <p:sp>
        <p:nvSpPr>
          <p:cNvPr id="7" name="TextBox 6"/>
          <p:cNvSpPr txBox="1"/>
          <p:nvPr/>
        </p:nvSpPr>
        <p:spPr>
          <a:xfrm>
            <a:off x="10972800" y="6473952"/>
            <a:ext cx="548640" cy="274320"/>
          </a:xfrm>
          <a:prstGeom prst="rect">
            <a:avLst/>
          </a:prstGeom>
          <a:noFill/>
        </p:spPr>
        <p:txBody>
          <a:bodyPr wrap="square">
            <a:spAutoFit/>
          </a:bodyPr>
          <a:lstStyle/>
          <a:p>
            <a:pPr algn="r"/>
            <a:r>
              <a:rPr sz="1000" b="0" i="0">
                <a:solidFill>
                  <a:srgbClr val="4B5A5E"/>
                </a:solidFill>
                <a:latin typeface="Calibri"/>
              </a:rPr>
              <a:t>11</a:t>
            </a:r>
          </a:p>
        </p:txBody>
      </p:sp>
      <p:sp>
        <p:nvSpPr>
          <p:cNvPr id="8" name="Rectangle 7"/>
          <p:cNvSpPr/>
          <p:nvPr/>
        </p:nvSpPr>
        <p:spPr>
          <a:xfrm>
            <a:off x="685800" y="1600200"/>
            <a:ext cx="10789920" cy="93268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91640"/>
            <a:ext cx="2743200" cy="365760"/>
          </a:xfrm>
          <a:prstGeom prst="rect">
            <a:avLst/>
          </a:prstGeom>
          <a:noFill/>
        </p:spPr>
        <p:txBody>
          <a:bodyPr wrap="square">
            <a:spAutoFit/>
          </a:bodyPr>
          <a:lstStyle/>
          <a:p>
            <a:pPr algn="l"/>
            <a:r>
              <a:rPr sz="1500" b="1" i="0">
                <a:solidFill>
                  <a:srgbClr val="FFFFFF"/>
                </a:solidFill>
                <a:latin typeface="Calibri"/>
              </a:rPr>
              <a:t>Client</a:t>
            </a:r>
          </a:p>
        </p:txBody>
      </p:sp>
      <p:sp>
        <p:nvSpPr>
          <p:cNvPr id="10" name="TextBox 9"/>
          <p:cNvSpPr txBox="1"/>
          <p:nvPr/>
        </p:nvSpPr>
        <p:spPr>
          <a:xfrm>
            <a:off x="914400" y="2057400"/>
            <a:ext cx="10241280" cy="411480"/>
          </a:xfrm>
          <a:prstGeom prst="rect">
            <a:avLst/>
          </a:prstGeom>
          <a:noFill/>
        </p:spPr>
        <p:txBody>
          <a:bodyPr wrap="square">
            <a:spAutoFit/>
          </a:bodyPr>
          <a:lstStyle/>
          <a:p>
            <a:pPr algn="l"/>
            <a:r>
              <a:rPr sz="1250" b="0" i="0">
                <a:solidFill>
                  <a:srgbClr val="E7F2F1"/>
                </a:solidFill>
                <a:latin typeface="Calibri"/>
              </a:rPr>
              <a:t>Browser / Mobile Browser</a:t>
            </a:r>
          </a:p>
        </p:txBody>
      </p:sp>
      <p:sp>
        <p:nvSpPr>
          <p:cNvPr id="11" name="Down Arrow 10"/>
          <p:cNvSpPr/>
          <p:nvPr/>
        </p:nvSpPr>
        <p:spPr>
          <a:xfrm>
            <a:off x="5806440" y="2532888"/>
            <a:ext cx="457200" cy="146304"/>
          </a:xfrm>
          <a:prstGeom prst="downArrow">
            <a:avLst/>
          </a:prstGeom>
          <a:solidFill>
            <a:srgbClr val="4B5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2679192"/>
            <a:ext cx="10789920" cy="932688"/>
          </a:xfrm>
          <a:prstGeom prst="rect">
            <a:avLst/>
          </a:prstGeom>
          <a:solidFill>
            <a:srgbClr val="0A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770632"/>
            <a:ext cx="2743200" cy="365760"/>
          </a:xfrm>
          <a:prstGeom prst="rect">
            <a:avLst/>
          </a:prstGeom>
          <a:noFill/>
        </p:spPr>
        <p:txBody>
          <a:bodyPr wrap="square">
            <a:spAutoFit/>
          </a:bodyPr>
          <a:lstStyle/>
          <a:p>
            <a:pPr algn="l"/>
            <a:r>
              <a:rPr sz="1500" b="1" i="0">
                <a:solidFill>
                  <a:srgbClr val="FFFFFF"/>
                </a:solidFill>
                <a:latin typeface="Calibri"/>
              </a:rPr>
              <a:t>Application Layer</a:t>
            </a:r>
          </a:p>
        </p:txBody>
      </p:sp>
      <p:sp>
        <p:nvSpPr>
          <p:cNvPr id="14" name="TextBox 13"/>
          <p:cNvSpPr txBox="1"/>
          <p:nvPr/>
        </p:nvSpPr>
        <p:spPr>
          <a:xfrm>
            <a:off x="914400" y="3136392"/>
            <a:ext cx="10241280" cy="411480"/>
          </a:xfrm>
          <a:prstGeom prst="rect">
            <a:avLst/>
          </a:prstGeom>
          <a:noFill/>
        </p:spPr>
        <p:txBody>
          <a:bodyPr wrap="square">
            <a:spAutoFit/>
          </a:bodyPr>
          <a:lstStyle/>
          <a:p>
            <a:pPr algn="l"/>
            <a:r>
              <a:rPr sz="1250" b="0" i="0">
                <a:solidFill>
                  <a:srgbClr val="E7F2F1"/>
                </a:solidFill>
                <a:latin typeface="Calibri"/>
              </a:rPr>
              <a:t>Next.js App Router — pages, API routes, middleware (auth &amp; route guarding)</a:t>
            </a:r>
          </a:p>
        </p:txBody>
      </p:sp>
      <p:sp>
        <p:nvSpPr>
          <p:cNvPr id="15" name="Down Arrow 14"/>
          <p:cNvSpPr/>
          <p:nvPr/>
        </p:nvSpPr>
        <p:spPr>
          <a:xfrm>
            <a:off x="5806440" y="3611880"/>
            <a:ext cx="457200" cy="146304"/>
          </a:xfrm>
          <a:prstGeom prst="downArrow">
            <a:avLst/>
          </a:prstGeom>
          <a:solidFill>
            <a:srgbClr val="4B5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 y="3758184"/>
            <a:ext cx="10789920" cy="932688"/>
          </a:xfrm>
          <a:prstGeom prst="rect">
            <a:avLst/>
          </a:prstGeom>
          <a:solidFill>
            <a:srgbClr val="12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849624"/>
            <a:ext cx="2743200" cy="365760"/>
          </a:xfrm>
          <a:prstGeom prst="rect">
            <a:avLst/>
          </a:prstGeom>
          <a:noFill/>
        </p:spPr>
        <p:txBody>
          <a:bodyPr wrap="square">
            <a:spAutoFit/>
          </a:bodyPr>
          <a:lstStyle/>
          <a:p>
            <a:pPr algn="l"/>
            <a:r>
              <a:rPr sz="1500" b="1" i="0">
                <a:solidFill>
                  <a:srgbClr val="FFFFFF"/>
                </a:solidFill>
                <a:latin typeface="Calibri"/>
              </a:rPr>
              <a:t>Data &amp; Auth Layer</a:t>
            </a:r>
          </a:p>
        </p:txBody>
      </p:sp>
      <p:sp>
        <p:nvSpPr>
          <p:cNvPr id="18" name="TextBox 17"/>
          <p:cNvSpPr txBox="1"/>
          <p:nvPr/>
        </p:nvSpPr>
        <p:spPr>
          <a:xfrm>
            <a:off x="914400" y="4215384"/>
            <a:ext cx="10241280" cy="411480"/>
          </a:xfrm>
          <a:prstGeom prst="rect">
            <a:avLst/>
          </a:prstGeom>
          <a:noFill/>
        </p:spPr>
        <p:txBody>
          <a:bodyPr wrap="square">
            <a:spAutoFit/>
          </a:bodyPr>
          <a:lstStyle/>
          <a:p>
            <a:pPr algn="l"/>
            <a:r>
              <a:rPr sz="1250" b="0" i="0">
                <a:solidFill>
                  <a:srgbClr val="E7F2F1"/>
                </a:solidFill>
                <a:latin typeface="Calibri"/>
              </a:rPr>
              <a:t>Supabase — PostgreSQL, Row Level Security policies, Auth, RPC functions</a:t>
            </a:r>
          </a:p>
        </p:txBody>
      </p:sp>
      <p:sp>
        <p:nvSpPr>
          <p:cNvPr id="19" name="Down Arrow 18"/>
          <p:cNvSpPr/>
          <p:nvPr/>
        </p:nvSpPr>
        <p:spPr>
          <a:xfrm>
            <a:off x="5806440" y="4690872"/>
            <a:ext cx="457200" cy="146304"/>
          </a:xfrm>
          <a:prstGeom prst="downArrow">
            <a:avLst/>
          </a:prstGeom>
          <a:solidFill>
            <a:srgbClr val="4B5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85800" y="4837176"/>
            <a:ext cx="10789920" cy="932688"/>
          </a:xfrm>
          <a:prstGeom prst="rect">
            <a:avLst/>
          </a:prstGeom>
          <a:solidFill>
            <a:srgbClr val="0A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928616"/>
            <a:ext cx="2743200" cy="365760"/>
          </a:xfrm>
          <a:prstGeom prst="rect">
            <a:avLst/>
          </a:prstGeom>
          <a:noFill/>
        </p:spPr>
        <p:txBody>
          <a:bodyPr wrap="square">
            <a:spAutoFit/>
          </a:bodyPr>
          <a:lstStyle/>
          <a:p>
            <a:pPr algn="l"/>
            <a:r>
              <a:rPr sz="1500" b="1" i="0">
                <a:solidFill>
                  <a:srgbClr val="FFFFFF"/>
                </a:solidFill>
                <a:latin typeface="Calibri"/>
              </a:rPr>
              <a:t>External Services</a:t>
            </a:r>
          </a:p>
        </p:txBody>
      </p:sp>
      <p:sp>
        <p:nvSpPr>
          <p:cNvPr id="22" name="TextBox 21"/>
          <p:cNvSpPr txBox="1"/>
          <p:nvPr/>
        </p:nvSpPr>
        <p:spPr>
          <a:xfrm>
            <a:off x="914400" y="5294376"/>
            <a:ext cx="10241280" cy="411480"/>
          </a:xfrm>
          <a:prstGeom prst="rect">
            <a:avLst/>
          </a:prstGeom>
          <a:noFill/>
        </p:spPr>
        <p:txBody>
          <a:bodyPr wrap="square">
            <a:spAutoFit/>
          </a:bodyPr>
          <a:lstStyle/>
          <a:p>
            <a:pPr algn="l"/>
            <a:r>
              <a:rPr sz="1250" b="0" i="0">
                <a:solidFill>
                  <a:srgbClr val="E7F2F1"/>
                </a:solidFill>
                <a:latin typeface="Calibri"/>
              </a:rPr>
              <a:t>Africa's Talking (SMS)   •   Resend (Email)   •   Cron-triggered jobs</a:t>
            </a:r>
          </a:p>
        </p:txBody>
      </p:sp>
      <p:sp>
        <p:nvSpPr>
          <p:cNvPr id="23" name="TextBox 22"/>
          <p:cNvSpPr txBox="1"/>
          <p:nvPr/>
        </p:nvSpPr>
        <p:spPr>
          <a:xfrm>
            <a:off x="685800" y="5806440"/>
            <a:ext cx="10789920" cy="548640"/>
          </a:xfrm>
          <a:prstGeom prst="rect">
            <a:avLst/>
          </a:prstGeom>
          <a:noFill/>
        </p:spPr>
        <p:txBody>
          <a:bodyPr wrap="square">
            <a:spAutoFit/>
          </a:bodyPr>
          <a:lstStyle/>
          <a:p>
            <a:pPr algn="l"/>
            <a:r>
              <a:rPr sz="1250" b="0" i="1">
                <a:solidFill>
                  <a:srgbClr val="4B5A5E"/>
                </a:solidFill>
                <a:latin typeface="Calibri"/>
              </a:rPr>
              <a:t>Every request from the business dashboard flows through Next.js middleware, which checks the authenticated user's session and business_id before Supabase's own Row Level Security enforces it again at the database layer — two independent checks, not one.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AF9"/>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7315200" cy="320040"/>
          </a:xfrm>
          <a:prstGeom prst="rect">
            <a:avLst/>
          </a:prstGeom>
          <a:noFill/>
        </p:spPr>
        <p:txBody>
          <a:bodyPr wrap="square">
            <a:spAutoFit/>
          </a:bodyPr>
          <a:lstStyle/>
          <a:p>
            <a:pPr algn="l"/>
            <a:r>
              <a:rPr sz="1300" b="1" i="0">
                <a:solidFill>
                  <a:srgbClr val="E69A1F"/>
                </a:solidFill>
                <a:latin typeface="Calibri"/>
              </a:rPr>
              <a:t>CHAPTER TWO</a:t>
            </a:r>
          </a:p>
        </p:txBody>
      </p:sp>
      <p:sp>
        <p:nvSpPr>
          <p:cNvPr id="4" name="TextBox 3"/>
          <p:cNvSpPr txBox="1"/>
          <p:nvPr/>
        </p:nvSpPr>
        <p:spPr>
          <a:xfrm>
            <a:off x="640080" y="621792"/>
            <a:ext cx="10515600" cy="731520"/>
          </a:xfrm>
          <a:prstGeom prst="rect">
            <a:avLst/>
          </a:prstGeom>
          <a:noFill/>
        </p:spPr>
        <p:txBody>
          <a:bodyPr wrap="square">
            <a:spAutoFit/>
          </a:bodyPr>
          <a:lstStyle/>
          <a:p>
            <a:pPr algn="l"/>
            <a:r>
              <a:rPr sz="3000" b="1" i="0">
                <a:solidFill>
                  <a:srgbClr val="121D21"/>
                </a:solidFill>
                <a:latin typeface="Calibri"/>
              </a:rPr>
              <a:t>System Architecture — User View</a:t>
            </a:r>
          </a:p>
        </p:txBody>
      </p:sp>
      <p:sp>
        <p:nvSpPr>
          <p:cNvPr id="5" name="Rectangle 4"/>
          <p:cNvSpPr/>
          <p:nvPr/>
        </p:nvSpPr>
        <p:spPr>
          <a:xfrm>
            <a:off x="658368" y="1298448"/>
            <a:ext cx="1005840" cy="4445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473952"/>
            <a:ext cx="5486400" cy="274320"/>
          </a:xfrm>
          <a:prstGeom prst="rect">
            <a:avLst/>
          </a:prstGeom>
          <a:noFill/>
        </p:spPr>
        <p:txBody>
          <a:bodyPr wrap="square">
            <a:spAutoFit/>
          </a:bodyPr>
          <a:lstStyle/>
          <a:p>
            <a:pPr algn="l"/>
            <a:r>
              <a:rPr sz="1000" b="0" i="0">
                <a:solidFill>
                  <a:srgbClr val="4B5A5E"/>
                </a:solidFill>
                <a:latin typeface="Calibri"/>
              </a:rPr>
              <a:t>KopaAlert — Stanley Murangiri</a:t>
            </a:r>
          </a:p>
        </p:txBody>
      </p:sp>
      <p:sp>
        <p:nvSpPr>
          <p:cNvPr id="7" name="TextBox 6"/>
          <p:cNvSpPr txBox="1"/>
          <p:nvPr/>
        </p:nvSpPr>
        <p:spPr>
          <a:xfrm>
            <a:off x="10972800" y="6473952"/>
            <a:ext cx="548640" cy="274320"/>
          </a:xfrm>
          <a:prstGeom prst="rect">
            <a:avLst/>
          </a:prstGeom>
          <a:noFill/>
        </p:spPr>
        <p:txBody>
          <a:bodyPr wrap="square">
            <a:spAutoFit/>
          </a:bodyPr>
          <a:lstStyle/>
          <a:p>
            <a:pPr algn="r"/>
            <a:r>
              <a:rPr sz="1000" b="0" i="0">
                <a:solidFill>
                  <a:srgbClr val="4B5A5E"/>
                </a:solidFill>
                <a:latin typeface="Calibri"/>
              </a:rPr>
              <a:t>12</a:t>
            </a:r>
          </a:p>
        </p:txBody>
      </p:sp>
      <p:sp>
        <p:nvSpPr>
          <p:cNvPr id="8" name="Rounded Rectangle 7"/>
          <p:cNvSpPr/>
          <p:nvPr/>
        </p:nvSpPr>
        <p:spPr>
          <a:xfrm>
            <a:off x="548640" y="1828800"/>
            <a:ext cx="1481328" cy="123444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FFFFFF"/>
                </a:solidFill>
                <a:latin typeface="Calibri"/>
              </a:rPr>
              <a:t>Business
Registers</a:t>
            </a:r>
          </a:p>
        </p:txBody>
      </p:sp>
      <p:sp>
        <p:nvSpPr>
          <p:cNvPr id="9" name="Right Arrow 8"/>
          <p:cNvSpPr/>
          <p:nvPr/>
        </p:nvSpPr>
        <p:spPr>
          <a:xfrm>
            <a:off x="2049968" y="2363724"/>
            <a:ext cx="109728" cy="164592"/>
          </a:xfrm>
          <a:prstGeom prst="rightArrow">
            <a:avLst/>
          </a:prstGeom>
          <a:solidFill>
            <a:srgbClr val="4B5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139696" y="1828800"/>
            <a:ext cx="1481328" cy="1234440"/>
          </a:xfrm>
          <a:prstGeom prst="roundRect">
            <a:avLst/>
          </a:prstGeom>
          <a:solidFill>
            <a:srgbClr val="0A4F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FFFFFF"/>
                </a:solidFill>
                <a:latin typeface="Calibri"/>
              </a:rPr>
              <a:t>Admin
Approves</a:t>
            </a:r>
          </a:p>
        </p:txBody>
      </p:sp>
      <p:sp>
        <p:nvSpPr>
          <p:cNvPr id="11" name="Right Arrow 10"/>
          <p:cNvSpPr/>
          <p:nvPr/>
        </p:nvSpPr>
        <p:spPr>
          <a:xfrm>
            <a:off x="3641024" y="2363724"/>
            <a:ext cx="109728" cy="164592"/>
          </a:xfrm>
          <a:prstGeom prst="rightArrow">
            <a:avLst/>
          </a:prstGeom>
          <a:solidFill>
            <a:srgbClr val="4B5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730752" y="1828800"/>
            <a:ext cx="1481328" cy="123444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FFFFFF"/>
                </a:solidFill>
                <a:latin typeface="Calibri"/>
              </a:rPr>
              <a:t>Owner Adds
Customers</a:t>
            </a:r>
          </a:p>
        </p:txBody>
      </p:sp>
      <p:sp>
        <p:nvSpPr>
          <p:cNvPr id="13" name="Right Arrow 12"/>
          <p:cNvSpPr/>
          <p:nvPr/>
        </p:nvSpPr>
        <p:spPr>
          <a:xfrm>
            <a:off x="5232080" y="2363724"/>
            <a:ext cx="109728" cy="164592"/>
          </a:xfrm>
          <a:prstGeom prst="rightArrow">
            <a:avLst/>
          </a:prstGeom>
          <a:solidFill>
            <a:srgbClr val="4B5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321808" y="1828800"/>
            <a:ext cx="1481328" cy="1234440"/>
          </a:xfrm>
          <a:prstGeom prst="roundRect">
            <a:avLst/>
          </a:prstGeom>
          <a:solidFill>
            <a:srgbClr val="0A4F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FFFFFF"/>
                </a:solidFill>
                <a:latin typeface="Calibri"/>
              </a:rPr>
              <a:t>Owner Records
Debt + Due Date</a:t>
            </a:r>
          </a:p>
        </p:txBody>
      </p:sp>
      <p:sp>
        <p:nvSpPr>
          <p:cNvPr id="15" name="Rounded Rectangle 14"/>
          <p:cNvSpPr/>
          <p:nvPr/>
        </p:nvSpPr>
        <p:spPr>
          <a:xfrm>
            <a:off x="548640" y="3749040"/>
            <a:ext cx="1481328" cy="123444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FFFFFF"/>
                </a:solidFill>
                <a:latin typeface="Calibri"/>
              </a:rPr>
              <a:t>System Sends
SMS / Email
Reminders</a:t>
            </a:r>
          </a:p>
        </p:txBody>
      </p:sp>
      <p:sp>
        <p:nvSpPr>
          <p:cNvPr id="16" name="Rounded Rectangle 15"/>
          <p:cNvSpPr/>
          <p:nvPr/>
        </p:nvSpPr>
        <p:spPr>
          <a:xfrm>
            <a:off x="2139696" y="3749040"/>
            <a:ext cx="1481328" cy="1234440"/>
          </a:xfrm>
          <a:prstGeom prst="roundRect">
            <a:avLst/>
          </a:prstGeom>
          <a:solidFill>
            <a:srgbClr val="0A4F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FFFFFF"/>
                </a:solidFill>
                <a:latin typeface="Calibri"/>
              </a:rPr>
              <a:t>Customer Pays;
Owner Logs It</a:t>
            </a:r>
          </a:p>
        </p:txBody>
      </p:sp>
      <p:sp>
        <p:nvSpPr>
          <p:cNvPr id="17" name="Rounded Rectangle 16"/>
          <p:cNvSpPr/>
          <p:nvPr/>
        </p:nvSpPr>
        <p:spPr>
          <a:xfrm>
            <a:off x="3730752" y="3749040"/>
            <a:ext cx="1481328" cy="123444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FFFFFF"/>
                </a:solidFill>
                <a:latin typeface="Calibri"/>
              </a:rPr>
              <a:t>Dashboard
Updates Live</a:t>
            </a:r>
          </a:p>
        </p:txBody>
      </p:sp>
      <p:sp>
        <p:nvSpPr>
          <p:cNvPr id="18" name="TextBox 17"/>
          <p:cNvSpPr txBox="1"/>
          <p:nvPr/>
        </p:nvSpPr>
        <p:spPr>
          <a:xfrm>
            <a:off x="685800" y="4892040"/>
            <a:ext cx="10789920" cy="1280160"/>
          </a:xfrm>
          <a:prstGeom prst="rect">
            <a:avLst/>
          </a:prstGeom>
          <a:noFill/>
        </p:spPr>
        <p:txBody>
          <a:bodyPr wrap="square">
            <a:spAutoFit/>
          </a:bodyPr>
          <a:lstStyle/>
          <a:p>
            <a:pPr algn="l"/>
            <a:r>
              <a:rPr sz="1450" b="0" i="1">
                <a:solidFill>
                  <a:srgbClr val="4B5A5E"/>
                </a:solidFill>
                <a:latin typeface="Calibri"/>
              </a:rPr>
              <a:t>From a business owner's point of view, KopaAlert is deliberately simple: register, add customers, record what is owed, and let the system handle remembering to follow up. No step requires technical knowledge beyond filling in a form.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AF9"/>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7315200" cy="320040"/>
          </a:xfrm>
          <a:prstGeom prst="rect">
            <a:avLst/>
          </a:prstGeom>
          <a:noFill/>
        </p:spPr>
        <p:txBody>
          <a:bodyPr wrap="square">
            <a:spAutoFit/>
          </a:bodyPr>
          <a:lstStyle/>
          <a:p>
            <a:pPr algn="l"/>
            <a:r>
              <a:rPr sz="1300" b="1" i="0">
                <a:solidFill>
                  <a:srgbClr val="E69A1F"/>
                </a:solidFill>
                <a:latin typeface="Calibri"/>
              </a:rPr>
              <a:t>CHAPTER TWO</a:t>
            </a:r>
          </a:p>
        </p:txBody>
      </p:sp>
      <p:sp>
        <p:nvSpPr>
          <p:cNvPr id="4" name="TextBox 3"/>
          <p:cNvSpPr txBox="1"/>
          <p:nvPr/>
        </p:nvSpPr>
        <p:spPr>
          <a:xfrm>
            <a:off x="640080" y="621792"/>
            <a:ext cx="10515600" cy="731520"/>
          </a:xfrm>
          <a:prstGeom prst="rect">
            <a:avLst/>
          </a:prstGeom>
          <a:noFill/>
        </p:spPr>
        <p:txBody>
          <a:bodyPr wrap="square">
            <a:spAutoFit/>
          </a:bodyPr>
          <a:lstStyle/>
          <a:p>
            <a:pPr algn="l"/>
            <a:r>
              <a:rPr sz="3000" b="1" i="0">
                <a:solidFill>
                  <a:srgbClr val="121D21"/>
                </a:solidFill>
                <a:latin typeface="Calibri"/>
              </a:rPr>
              <a:t>Core Modules and Features</a:t>
            </a:r>
          </a:p>
        </p:txBody>
      </p:sp>
      <p:sp>
        <p:nvSpPr>
          <p:cNvPr id="5" name="Rectangle 4"/>
          <p:cNvSpPr/>
          <p:nvPr/>
        </p:nvSpPr>
        <p:spPr>
          <a:xfrm>
            <a:off x="658368" y="1298448"/>
            <a:ext cx="1005840" cy="4445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473952"/>
            <a:ext cx="5486400" cy="274320"/>
          </a:xfrm>
          <a:prstGeom prst="rect">
            <a:avLst/>
          </a:prstGeom>
          <a:noFill/>
        </p:spPr>
        <p:txBody>
          <a:bodyPr wrap="square">
            <a:spAutoFit/>
          </a:bodyPr>
          <a:lstStyle/>
          <a:p>
            <a:pPr algn="l"/>
            <a:r>
              <a:rPr sz="1000" b="0" i="0">
                <a:solidFill>
                  <a:srgbClr val="4B5A5E"/>
                </a:solidFill>
                <a:latin typeface="Calibri"/>
              </a:rPr>
              <a:t>KopaAlert — Stanley Murangiri</a:t>
            </a:r>
          </a:p>
        </p:txBody>
      </p:sp>
      <p:sp>
        <p:nvSpPr>
          <p:cNvPr id="7" name="TextBox 6"/>
          <p:cNvSpPr txBox="1"/>
          <p:nvPr/>
        </p:nvSpPr>
        <p:spPr>
          <a:xfrm>
            <a:off x="10972800" y="6473952"/>
            <a:ext cx="548640" cy="274320"/>
          </a:xfrm>
          <a:prstGeom prst="rect">
            <a:avLst/>
          </a:prstGeom>
          <a:noFill/>
        </p:spPr>
        <p:txBody>
          <a:bodyPr wrap="square">
            <a:spAutoFit/>
          </a:bodyPr>
          <a:lstStyle/>
          <a:p>
            <a:pPr algn="r"/>
            <a:r>
              <a:rPr sz="1000" b="0" i="0">
                <a:solidFill>
                  <a:srgbClr val="4B5A5E"/>
                </a:solidFill>
                <a:latin typeface="Calibri"/>
              </a:rPr>
              <a:t>13</a:t>
            </a:r>
          </a:p>
        </p:txBody>
      </p:sp>
      <p:sp>
        <p:nvSpPr>
          <p:cNvPr id="8" name="Rectangle 7"/>
          <p:cNvSpPr/>
          <p:nvPr/>
        </p:nvSpPr>
        <p:spPr>
          <a:xfrm>
            <a:off x="685800" y="1554480"/>
            <a:ext cx="3493008" cy="1417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554480"/>
            <a:ext cx="3493008" cy="5486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1755648"/>
            <a:ext cx="3035808" cy="457200"/>
          </a:xfrm>
          <a:prstGeom prst="rect">
            <a:avLst/>
          </a:prstGeom>
          <a:noFill/>
        </p:spPr>
        <p:txBody>
          <a:bodyPr wrap="square">
            <a:spAutoFit/>
          </a:bodyPr>
          <a:lstStyle/>
          <a:p>
            <a:pPr algn="l"/>
            <a:r>
              <a:rPr sz="1700" b="1" i="0">
                <a:solidFill>
                  <a:srgbClr val="0F766E"/>
                </a:solidFill>
                <a:latin typeface="Calibri"/>
              </a:rPr>
              <a:t>Customer Management</a:t>
            </a:r>
          </a:p>
        </p:txBody>
      </p:sp>
      <p:sp>
        <p:nvSpPr>
          <p:cNvPr id="11" name="TextBox 10"/>
          <p:cNvSpPr txBox="1"/>
          <p:nvPr/>
        </p:nvSpPr>
        <p:spPr>
          <a:xfrm>
            <a:off x="941832" y="2286000"/>
            <a:ext cx="2990088" cy="502920"/>
          </a:xfrm>
          <a:prstGeom prst="rect">
            <a:avLst/>
          </a:prstGeom>
          <a:noFill/>
        </p:spPr>
        <p:txBody>
          <a:bodyPr wrap="square">
            <a:spAutoFit/>
          </a:bodyPr>
          <a:lstStyle/>
          <a:p>
            <a:pPr>
              <a:lnSpc>
                <a:spcPct val="108000"/>
              </a:lnSpc>
              <a:spcAft>
                <a:spcPts val="700"/>
              </a:spcAft>
            </a:pPr>
            <a:r>
              <a:rPr sz="1150">
                <a:solidFill>
                  <a:srgbClr val="121D21"/>
                </a:solidFill>
                <a:latin typeface="Calibri"/>
              </a:rPr>
              <a:t>•  Register, view, edit, and blacklist customers</a:t>
            </a:r>
          </a:p>
          <a:p>
            <a:pPr>
              <a:lnSpc>
                <a:spcPct val="108000"/>
              </a:lnSpc>
              <a:spcAft>
                <a:spcPts val="700"/>
              </a:spcAft>
            </a:pPr>
            <a:r>
              <a:rPr sz="1150">
                <a:solidFill>
                  <a:srgbClr val="121D21"/>
                </a:solidFill>
                <a:latin typeface="Calibri"/>
              </a:rPr>
              <a:t>•  Search and filter the customer list</a:t>
            </a:r>
          </a:p>
        </p:txBody>
      </p:sp>
      <p:sp>
        <p:nvSpPr>
          <p:cNvPr id="12" name="Rectangle 11"/>
          <p:cNvSpPr/>
          <p:nvPr/>
        </p:nvSpPr>
        <p:spPr>
          <a:xfrm>
            <a:off x="4343400" y="1554480"/>
            <a:ext cx="3493008" cy="1417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554480"/>
            <a:ext cx="3493008" cy="5486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9432" y="1755648"/>
            <a:ext cx="3035808" cy="457200"/>
          </a:xfrm>
          <a:prstGeom prst="rect">
            <a:avLst/>
          </a:prstGeom>
          <a:noFill/>
        </p:spPr>
        <p:txBody>
          <a:bodyPr wrap="square">
            <a:spAutoFit/>
          </a:bodyPr>
          <a:lstStyle/>
          <a:p>
            <a:pPr algn="l"/>
            <a:r>
              <a:rPr sz="1700" b="1" i="0">
                <a:solidFill>
                  <a:srgbClr val="0F766E"/>
                </a:solidFill>
                <a:latin typeface="Calibri"/>
              </a:rPr>
              <a:t>Debt Management</a:t>
            </a:r>
          </a:p>
        </p:txBody>
      </p:sp>
      <p:sp>
        <p:nvSpPr>
          <p:cNvPr id="15" name="TextBox 14"/>
          <p:cNvSpPr txBox="1"/>
          <p:nvPr/>
        </p:nvSpPr>
        <p:spPr>
          <a:xfrm>
            <a:off x="4599432" y="2286000"/>
            <a:ext cx="2990088" cy="502920"/>
          </a:xfrm>
          <a:prstGeom prst="rect">
            <a:avLst/>
          </a:prstGeom>
          <a:noFill/>
        </p:spPr>
        <p:txBody>
          <a:bodyPr wrap="square">
            <a:spAutoFit/>
          </a:bodyPr>
          <a:lstStyle/>
          <a:p>
            <a:pPr>
              <a:lnSpc>
                <a:spcPct val="108000"/>
              </a:lnSpc>
              <a:spcAft>
                <a:spcPts val="700"/>
              </a:spcAft>
            </a:pPr>
            <a:r>
              <a:rPr sz="1150">
                <a:solidFill>
                  <a:srgbClr val="121D21"/>
                </a:solidFill>
                <a:latin typeface="Calibri"/>
              </a:rPr>
              <a:t>•  Record debts with amount, description, and due date</a:t>
            </a:r>
          </a:p>
          <a:p>
            <a:pPr>
              <a:lnSpc>
                <a:spcPct val="108000"/>
              </a:lnSpc>
              <a:spcAft>
                <a:spcPts val="700"/>
              </a:spcAft>
            </a:pPr>
            <a:r>
              <a:rPr sz="1150">
                <a:solidFill>
                  <a:srgbClr val="121D21"/>
                </a:solidFill>
                <a:latin typeface="Calibri"/>
              </a:rPr>
              <a:t>•  Apply available customer credit automatically</a:t>
            </a:r>
          </a:p>
        </p:txBody>
      </p:sp>
      <p:sp>
        <p:nvSpPr>
          <p:cNvPr id="16" name="Rectangle 15"/>
          <p:cNvSpPr/>
          <p:nvPr/>
        </p:nvSpPr>
        <p:spPr>
          <a:xfrm>
            <a:off x="8001000" y="1554480"/>
            <a:ext cx="3493008" cy="1417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01000" y="1554480"/>
            <a:ext cx="3493008" cy="5486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7032" y="1755648"/>
            <a:ext cx="3035808" cy="457200"/>
          </a:xfrm>
          <a:prstGeom prst="rect">
            <a:avLst/>
          </a:prstGeom>
          <a:noFill/>
        </p:spPr>
        <p:txBody>
          <a:bodyPr wrap="square">
            <a:spAutoFit/>
          </a:bodyPr>
          <a:lstStyle/>
          <a:p>
            <a:pPr algn="l"/>
            <a:r>
              <a:rPr sz="1700" b="1" i="0">
                <a:solidFill>
                  <a:srgbClr val="0F766E"/>
                </a:solidFill>
                <a:latin typeface="Calibri"/>
              </a:rPr>
              <a:t>Payment Recording</a:t>
            </a:r>
          </a:p>
        </p:txBody>
      </p:sp>
      <p:sp>
        <p:nvSpPr>
          <p:cNvPr id="19" name="TextBox 18"/>
          <p:cNvSpPr txBox="1"/>
          <p:nvPr/>
        </p:nvSpPr>
        <p:spPr>
          <a:xfrm>
            <a:off x="8257032" y="2286000"/>
            <a:ext cx="2990088" cy="502920"/>
          </a:xfrm>
          <a:prstGeom prst="rect">
            <a:avLst/>
          </a:prstGeom>
          <a:noFill/>
        </p:spPr>
        <p:txBody>
          <a:bodyPr wrap="square">
            <a:spAutoFit/>
          </a:bodyPr>
          <a:lstStyle/>
          <a:p>
            <a:pPr>
              <a:lnSpc>
                <a:spcPct val="108000"/>
              </a:lnSpc>
              <a:spcAft>
                <a:spcPts val="700"/>
              </a:spcAft>
            </a:pPr>
            <a:r>
              <a:rPr sz="1150">
                <a:solidFill>
                  <a:srgbClr val="121D21"/>
                </a:solidFill>
                <a:latin typeface="Calibri"/>
              </a:rPr>
              <a:t>•  Log full or partial payments against a debt</a:t>
            </a:r>
          </a:p>
          <a:p>
            <a:pPr>
              <a:lnSpc>
                <a:spcPct val="108000"/>
              </a:lnSpc>
              <a:spcAft>
                <a:spcPts val="700"/>
              </a:spcAft>
            </a:pPr>
            <a:r>
              <a:rPr sz="1150">
                <a:solidFill>
                  <a:srgbClr val="121D21"/>
                </a:solidFill>
                <a:latin typeface="Calibri"/>
              </a:rPr>
              <a:t>•  Automatic debt status updates (open, partial, paid)</a:t>
            </a:r>
          </a:p>
        </p:txBody>
      </p:sp>
      <p:sp>
        <p:nvSpPr>
          <p:cNvPr id="20" name="Rectangle 19"/>
          <p:cNvSpPr/>
          <p:nvPr/>
        </p:nvSpPr>
        <p:spPr>
          <a:xfrm>
            <a:off x="685800" y="3136392"/>
            <a:ext cx="3493008" cy="1417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5800" y="3136392"/>
            <a:ext cx="3493008" cy="5486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1832" y="3337560"/>
            <a:ext cx="3035808" cy="457200"/>
          </a:xfrm>
          <a:prstGeom prst="rect">
            <a:avLst/>
          </a:prstGeom>
          <a:noFill/>
        </p:spPr>
        <p:txBody>
          <a:bodyPr wrap="square">
            <a:spAutoFit/>
          </a:bodyPr>
          <a:lstStyle/>
          <a:p>
            <a:pPr algn="l"/>
            <a:r>
              <a:rPr sz="1700" b="1" i="0">
                <a:solidFill>
                  <a:srgbClr val="0F766E"/>
                </a:solidFill>
                <a:latin typeface="Calibri"/>
              </a:rPr>
              <a:t>Automated Reminders</a:t>
            </a:r>
          </a:p>
        </p:txBody>
      </p:sp>
      <p:sp>
        <p:nvSpPr>
          <p:cNvPr id="23" name="TextBox 22"/>
          <p:cNvSpPr txBox="1"/>
          <p:nvPr/>
        </p:nvSpPr>
        <p:spPr>
          <a:xfrm>
            <a:off x="941832" y="3867912"/>
            <a:ext cx="2990088" cy="502920"/>
          </a:xfrm>
          <a:prstGeom prst="rect">
            <a:avLst/>
          </a:prstGeom>
          <a:noFill/>
        </p:spPr>
        <p:txBody>
          <a:bodyPr wrap="square">
            <a:spAutoFit/>
          </a:bodyPr>
          <a:lstStyle/>
          <a:p>
            <a:pPr>
              <a:lnSpc>
                <a:spcPct val="108000"/>
              </a:lnSpc>
              <a:spcAft>
                <a:spcPts val="700"/>
              </a:spcAft>
            </a:pPr>
            <a:r>
              <a:rPr sz="1150">
                <a:solidFill>
                  <a:srgbClr val="121D21"/>
                </a:solidFill>
                <a:latin typeface="Calibri"/>
              </a:rPr>
              <a:t>•  Scheduled SMS via Africa's Talking</a:t>
            </a:r>
          </a:p>
          <a:p>
            <a:pPr>
              <a:lnSpc>
                <a:spcPct val="108000"/>
              </a:lnSpc>
              <a:spcAft>
                <a:spcPts val="700"/>
              </a:spcAft>
            </a:pPr>
            <a:r>
              <a:rPr sz="1150">
                <a:solidFill>
                  <a:srgbClr val="121D21"/>
                </a:solidFill>
                <a:latin typeface="Calibri"/>
              </a:rPr>
              <a:t>•  Scheduled email via Resend</a:t>
            </a:r>
          </a:p>
          <a:p>
            <a:pPr>
              <a:lnSpc>
                <a:spcPct val="108000"/>
              </a:lnSpc>
              <a:spcAft>
                <a:spcPts val="700"/>
              </a:spcAft>
            </a:pPr>
            <a:r>
              <a:rPr sz="1150">
                <a:solidFill>
                  <a:srgbClr val="121D21"/>
                </a:solidFill>
                <a:latin typeface="Calibri"/>
              </a:rPr>
              <a:t>•  Configurable reminder templates</a:t>
            </a:r>
          </a:p>
        </p:txBody>
      </p:sp>
      <p:sp>
        <p:nvSpPr>
          <p:cNvPr id="24" name="Rectangle 23"/>
          <p:cNvSpPr/>
          <p:nvPr/>
        </p:nvSpPr>
        <p:spPr>
          <a:xfrm>
            <a:off x="4343400" y="3136392"/>
            <a:ext cx="3493008" cy="1417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43400" y="3136392"/>
            <a:ext cx="3493008" cy="5486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99432" y="3337560"/>
            <a:ext cx="3035808" cy="457200"/>
          </a:xfrm>
          <a:prstGeom prst="rect">
            <a:avLst/>
          </a:prstGeom>
          <a:noFill/>
        </p:spPr>
        <p:txBody>
          <a:bodyPr wrap="square">
            <a:spAutoFit/>
          </a:bodyPr>
          <a:lstStyle/>
          <a:p>
            <a:pPr algn="l"/>
            <a:r>
              <a:rPr sz="1700" b="1" i="0">
                <a:solidFill>
                  <a:srgbClr val="0F766E"/>
                </a:solidFill>
                <a:latin typeface="Calibri"/>
              </a:rPr>
              <a:t>Ratings &amp; Blacklisting</a:t>
            </a:r>
          </a:p>
        </p:txBody>
      </p:sp>
      <p:sp>
        <p:nvSpPr>
          <p:cNvPr id="27" name="TextBox 26"/>
          <p:cNvSpPr txBox="1"/>
          <p:nvPr/>
        </p:nvSpPr>
        <p:spPr>
          <a:xfrm>
            <a:off x="4599432" y="3867912"/>
            <a:ext cx="2990088" cy="502920"/>
          </a:xfrm>
          <a:prstGeom prst="rect">
            <a:avLst/>
          </a:prstGeom>
          <a:noFill/>
        </p:spPr>
        <p:txBody>
          <a:bodyPr wrap="square">
            <a:spAutoFit/>
          </a:bodyPr>
          <a:lstStyle/>
          <a:p>
            <a:pPr>
              <a:lnSpc>
                <a:spcPct val="108000"/>
              </a:lnSpc>
              <a:spcAft>
                <a:spcPts val="700"/>
              </a:spcAft>
            </a:pPr>
            <a:r>
              <a:rPr sz="1150">
                <a:solidFill>
                  <a:srgbClr val="121D21"/>
                </a:solidFill>
                <a:latin typeface="Calibri"/>
              </a:rPr>
              <a:t>•  Customers scored on payment behaviour</a:t>
            </a:r>
          </a:p>
          <a:p>
            <a:pPr>
              <a:lnSpc>
                <a:spcPct val="108000"/>
              </a:lnSpc>
              <a:spcAft>
                <a:spcPts val="700"/>
              </a:spcAft>
            </a:pPr>
            <a:r>
              <a:rPr sz="1150">
                <a:solidFill>
                  <a:srgbClr val="121D21"/>
                </a:solidFill>
                <a:latin typeface="Calibri"/>
              </a:rPr>
              <a:t>•  Chronic defaulters auto-blacklisted</a:t>
            </a:r>
          </a:p>
        </p:txBody>
      </p:sp>
      <p:sp>
        <p:nvSpPr>
          <p:cNvPr id="28" name="Rectangle 27"/>
          <p:cNvSpPr/>
          <p:nvPr/>
        </p:nvSpPr>
        <p:spPr>
          <a:xfrm>
            <a:off x="8001000" y="3136392"/>
            <a:ext cx="3493008" cy="1417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01000" y="3136392"/>
            <a:ext cx="3493008" cy="5486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57032" y="3337560"/>
            <a:ext cx="3035808" cy="457200"/>
          </a:xfrm>
          <a:prstGeom prst="rect">
            <a:avLst/>
          </a:prstGeom>
          <a:noFill/>
        </p:spPr>
        <p:txBody>
          <a:bodyPr wrap="square">
            <a:spAutoFit/>
          </a:bodyPr>
          <a:lstStyle/>
          <a:p>
            <a:pPr algn="l"/>
            <a:r>
              <a:rPr sz="1700" b="1" i="0">
                <a:solidFill>
                  <a:srgbClr val="0F766E"/>
                </a:solidFill>
                <a:latin typeface="Calibri"/>
              </a:rPr>
              <a:t>Team Management</a:t>
            </a:r>
          </a:p>
        </p:txBody>
      </p:sp>
      <p:sp>
        <p:nvSpPr>
          <p:cNvPr id="31" name="TextBox 30"/>
          <p:cNvSpPr txBox="1"/>
          <p:nvPr/>
        </p:nvSpPr>
        <p:spPr>
          <a:xfrm>
            <a:off x="8257032" y="3867912"/>
            <a:ext cx="2990088" cy="502920"/>
          </a:xfrm>
          <a:prstGeom prst="rect">
            <a:avLst/>
          </a:prstGeom>
          <a:noFill/>
        </p:spPr>
        <p:txBody>
          <a:bodyPr wrap="square">
            <a:spAutoFit/>
          </a:bodyPr>
          <a:lstStyle/>
          <a:p>
            <a:pPr>
              <a:lnSpc>
                <a:spcPct val="108000"/>
              </a:lnSpc>
              <a:spcAft>
                <a:spcPts val="700"/>
              </a:spcAft>
            </a:pPr>
            <a:r>
              <a:rPr sz="1150">
                <a:solidFill>
                  <a:srgbClr val="121D21"/>
                </a:solidFill>
                <a:latin typeface="Calibri"/>
              </a:rPr>
              <a:t>•  Invite staff with defined roles</a:t>
            </a:r>
          </a:p>
          <a:p>
            <a:pPr>
              <a:lnSpc>
                <a:spcPct val="108000"/>
              </a:lnSpc>
              <a:spcAft>
                <a:spcPts val="700"/>
              </a:spcAft>
            </a:pPr>
            <a:r>
              <a:rPr sz="1150">
                <a:solidFill>
                  <a:srgbClr val="121D21"/>
                </a:solidFill>
                <a:latin typeface="Calibri"/>
              </a:rPr>
              <a:t>•  Role-based access within a business</a:t>
            </a:r>
          </a:p>
        </p:txBody>
      </p:sp>
      <p:sp>
        <p:nvSpPr>
          <p:cNvPr id="32" name="Rectangle 31"/>
          <p:cNvSpPr/>
          <p:nvPr/>
        </p:nvSpPr>
        <p:spPr>
          <a:xfrm>
            <a:off x="685800" y="4718304"/>
            <a:ext cx="3493008" cy="1417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85800" y="4718304"/>
            <a:ext cx="3493008" cy="5486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41832" y="4919472"/>
            <a:ext cx="3035808" cy="457200"/>
          </a:xfrm>
          <a:prstGeom prst="rect">
            <a:avLst/>
          </a:prstGeom>
          <a:noFill/>
        </p:spPr>
        <p:txBody>
          <a:bodyPr wrap="square">
            <a:spAutoFit/>
          </a:bodyPr>
          <a:lstStyle/>
          <a:p>
            <a:pPr algn="l"/>
            <a:r>
              <a:rPr sz="1700" b="1" i="0">
                <a:solidFill>
                  <a:srgbClr val="0F766E"/>
                </a:solidFill>
                <a:latin typeface="Calibri"/>
              </a:rPr>
              <a:t>Subscription &amp; Billing</a:t>
            </a:r>
          </a:p>
        </p:txBody>
      </p:sp>
      <p:sp>
        <p:nvSpPr>
          <p:cNvPr id="35" name="TextBox 34"/>
          <p:cNvSpPr txBox="1"/>
          <p:nvPr/>
        </p:nvSpPr>
        <p:spPr>
          <a:xfrm>
            <a:off x="941832" y="5449824"/>
            <a:ext cx="2990088" cy="502920"/>
          </a:xfrm>
          <a:prstGeom prst="rect">
            <a:avLst/>
          </a:prstGeom>
          <a:noFill/>
        </p:spPr>
        <p:txBody>
          <a:bodyPr wrap="square">
            <a:spAutoFit/>
          </a:bodyPr>
          <a:lstStyle/>
          <a:p>
            <a:pPr>
              <a:lnSpc>
                <a:spcPct val="108000"/>
              </a:lnSpc>
              <a:spcAft>
                <a:spcPts val="700"/>
              </a:spcAft>
            </a:pPr>
            <a:r>
              <a:rPr sz="1150">
                <a:solidFill>
                  <a:srgbClr val="121D21"/>
                </a:solidFill>
                <a:latin typeface="Calibri"/>
              </a:rPr>
              <a:t>•  Monthly and one-time lifetime plans</a:t>
            </a:r>
          </a:p>
          <a:p>
            <a:pPr>
              <a:lnSpc>
                <a:spcPct val="108000"/>
              </a:lnSpc>
              <a:spcAft>
                <a:spcPts val="700"/>
              </a:spcAft>
            </a:pPr>
            <a:r>
              <a:rPr sz="1150">
                <a:solidFill>
                  <a:srgbClr val="121D21"/>
                </a:solidFill>
                <a:latin typeface="Calibri"/>
              </a:rPr>
              <a:t>•  Automated billing cron job</a:t>
            </a:r>
          </a:p>
        </p:txBody>
      </p:sp>
      <p:sp>
        <p:nvSpPr>
          <p:cNvPr id="36" name="Rectangle 35"/>
          <p:cNvSpPr/>
          <p:nvPr/>
        </p:nvSpPr>
        <p:spPr>
          <a:xfrm>
            <a:off x="4343400" y="4718304"/>
            <a:ext cx="3493008" cy="1417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343400" y="4718304"/>
            <a:ext cx="3493008" cy="5486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99432" y="4919472"/>
            <a:ext cx="3035808" cy="457200"/>
          </a:xfrm>
          <a:prstGeom prst="rect">
            <a:avLst/>
          </a:prstGeom>
          <a:noFill/>
        </p:spPr>
        <p:txBody>
          <a:bodyPr wrap="square">
            <a:spAutoFit/>
          </a:bodyPr>
          <a:lstStyle/>
          <a:p>
            <a:pPr algn="l"/>
            <a:r>
              <a:rPr sz="1700" b="1" i="0">
                <a:solidFill>
                  <a:srgbClr val="0F766E"/>
                </a:solidFill>
                <a:latin typeface="Calibri"/>
              </a:rPr>
              <a:t>Admin Console</a:t>
            </a:r>
          </a:p>
        </p:txBody>
      </p:sp>
      <p:sp>
        <p:nvSpPr>
          <p:cNvPr id="39" name="TextBox 38"/>
          <p:cNvSpPr txBox="1"/>
          <p:nvPr/>
        </p:nvSpPr>
        <p:spPr>
          <a:xfrm>
            <a:off x="4599432" y="5449824"/>
            <a:ext cx="2990088" cy="502920"/>
          </a:xfrm>
          <a:prstGeom prst="rect">
            <a:avLst/>
          </a:prstGeom>
          <a:noFill/>
        </p:spPr>
        <p:txBody>
          <a:bodyPr wrap="square">
            <a:spAutoFit/>
          </a:bodyPr>
          <a:lstStyle/>
          <a:p>
            <a:pPr>
              <a:lnSpc>
                <a:spcPct val="108000"/>
              </a:lnSpc>
              <a:spcAft>
                <a:spcPts val="700"/>
              </a:spcAft>
            </a:pPr>
            <a:r>
              <a:rPr sz="1150">
                <a:solidFill>
                  <a:srgbClr val="121D21"/>
                </a:solidFill>
                <a:latin typeface="Calibri"/>
              </a:rPr>
              <a:t>•  Approve/reject new business signups</a:t>
            </a:r>
          </a:p>
          <a:p>
            <a:pPr>
              <a:lnSpc>
                <a:spcPct val="108000"/>
              </a:lnSpc>
              <a:spcAft>
                <a:spcPts val="700"/>
              </a:spcAft>
            </a:pPr>
            <a:r>
              <a:rPr sz="1150">
                <a:solidFill>
                  <a:srgbClr val="121D21"/>
                </a:solidFill>
                <a:latin typeface="Calibri"/>
              </a:rPr>
              <a:t>•  Platform-wide audit trail and settings</a:t>
            </a:r>
          </a:p>
        </p:txBody>
      </p:sp>
      <p:sp>
        <p:nvSpPr>
          <p:cNvPr id="40" name="Rectangle 39"/>
          <p:cNvSpPr/>
          <p:nvPr/>
        </p:nvSpPr>
        <p:spPr>
          <a:xfrm>
            <a:off x="8001000" y="4718304"/>
            <a:ext cx="3493008" cy="1417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001000" y="4718304"/>
            <a:ext cx="3493008" cy="5486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57032" y="4919472"/>
            <a:ext cx="3035808" cy="457200"/>
          </a:xfrm>
          <a:prstGeom prst="rect">
            <a:avLst/>
          </a:prstGeom>
          <a:noFill/>
        </p:spPr>
        <p:txBody>
          <a:bodyPr wrap="square">
            <a:spAutoFit/>
          </a:bodyPr>
          <a:lstStyle/>
          <a:p>
            <a:pPr algn="l"/>
            <a:r>
              <a:rPr sz="1700" b="1" i="0">
                <a:solidFill>
                  <a:srgbClr val="0F766E"/>
                </a:solidFill>
                <a:latin typeface="Calibri"/>
              </a:rPr>
              <a:t>Reports &amp; Analytics</a:t>
            </a:r>
          </a:p>
        </p:txBody>
      </p:sp>
      <p:sp>
        <p:nvSpPr>
          <p:cNvPr id="43" name="TextBox 42"/>
          <p:cNvSpPr txBox="1"/>
          <p:nvPr/>
        </p:nvSpPr>
        <p:spPr>
          <a:xfrm>
            <a:off x="8257032" y="5449824"/>
            <a:ext cx="2990088" cy="502920"/>
          </a:xfrm>
          <a:prstGeom prst="rect">
            <a:avLst/>
          </a:prstGeom>
          <a:noFill/>
        </p:spPr>
        <p:txBody>
          <a:bodyPr wrap="square">
            <a:spAutoFit/>
          </a:bodyPr>
          <a:lstStyle/>
          <a:p>
            <a:pPr>
              <a:lnSpc>
                <a:spcPct val="108000"/>
              </a:lnSpc>
              <a:spcAft>
                <a:spcPts val="700"/>
              </a:spcAft>
            </a:pPr>
            <a:r>
              <a:rPr sz="1150">
                <a:solidFill>
                  <a:srgbClr val="121D21"/>
                </a:solidFill>
                <a:latin typeface="Calibri"/>
              </a:rPr>
              <a:t>•  Debts, payments, customers, and SMS delivery reports</a:t>
            </a:r>
          </a:p>
          <a:p>
            <a:pPr>
              <a:lnSpc>
                <a:spcPct val="108000"/>
              </a:lnSpc>
              <a:spcAft>
                <a:spcPts val="700"/>
              </a:spcAft>
            </a:pPr>
            <a:r>
              <a:rPr sz="1150">
                <a:solidFill>
                  <a:srgbClr val="121D21"/>
                </a:solidFill>
                <a:latin typeface="Calibri"/>
              </a:rPr>
              <a:t>•  Business dashboard overview</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AF9"/>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7315200" cy="320040"/>
          </a:xfrm>
          <a:prstGeom prst="rect">
            <a:avLst/>
          </a:prstGeom>
          <a:noFill/>
        </p:spPr>
        <p:txBody>
          <a:bodyPr wrap="square">
            <a:spAutoFit/>
          </a:bodyPr>
          <a:lstStyle/>
          <a:p>
            <a:pPr algn="l"/>
            <a:r>
              <a:rPr sz="1300" b="1" i="0">
                <a:solidFill>
                  <a:srgbClr val="E69A1F"/>
                </a:solidFill>
                <a:latin typeface="Calibri"/>
              </a:rPr>
              <a:t>CHAPTER TWO</a:t>
            </a:r>
          </a:p>
        </p:txBody>
      </p:sp>
      <p:sp>
        <p:nvSpPr>
          <p:cNvPr id="4" name="TextBox 3"/>
          <p:cNvSpPr txBox="1"/>
          <p:nvPr/>
        </p:nvSpPr>
        <p:spPr>
          <a:xfrm>
            <a:off x="640080" y="621792"/>
            <a:ext cx="10515600" cy="731520"/>
          </a:xfrm>
          <a:prstGeom prst="rect">
            <a:avLst/>
          </a:prstGeom>
          <a:noFill/>
        </p:spPr>
        <p:txBody>
          <a:bodyPr wrap="square">
            <a:spAutoFit/>
          </a:bodyPr>
          <a:lstStyle/>
          <a:p>
            <a:pPr algn="l"/>
            <a:r>
              <a:rPr sz="3000" b="1" i="0">
                <a:solidFill>
                  <a:srgbClr val="121D21"/>
                </a:solidFill>
                <a:latin typeface="Calibri"/>
              </a:rPr>
              <a:t>Database Design Overview</a:t>
            </a:r>
          </a:p>
        </p:txBody>
      </p:sp>
      <p:sp>
        <p:nvSpPr>
          <p:cNvPr id="5" name="Rectangle 4"/>
          <p:cNvSpPr/>
          <p:nvPr/>
        </p:nvSpPr>
        <p:spPr>
          <a:xfrm>
            <a:off x="658368" y="1298448"/>
            <a:ext cx="1005840" cy="4445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473952"/>
            <a:ext cx="5486400" cy="274320"/>
          </a:xfrm>
          <a:prstGeom prst="rect">
            <a:avLst/>
          </a:prstGeom>
          <a:noFill/>
        </p:spPr>
        <p:txBody>
          <a:bodyPr wrap="square">
            <a:spAutoFit/>
          </a:bodyPr>
          <a:lstStyle/>
          <a:p>
            <a:pPr algn="l"/>
            <a:r>
              <a:rPr sz="1000" b="0" i="0">
                <a:solidFill>
                  <a:srgbClr val="4B5A5E"/>
                </a:solidFill>
                <a:latin typeface="Calibri"/>
              </a:rPr>
              <a:t>KopaAlert — Stanley Murangiri</a:t>
            </a:r>
          </a:p>
        </p:txBody>
      </p:sp>
      <p:sp>
        <p:nvSpPr>
          <p:cNvPr id="7" name="TextBox 6"/>
          <p:cNvSpPr txBox="1"/>
          <p:nvPr/>
        </p:nvSpPr>
        <p:spPr>
          <a:xfrm>
            <a:off x="10972800" y="6473952"/>
            <a:ext cx="548640" cy="274320"/>
          </a:xfrm>
          <a:prstGeom prst="rect">
            <a:avLst/>
          </a:prstGeom>
          <a:noFill/>
        </p:spPr>
        <p:txBody>
          <a:bodyPr wrap="square">
            <a:spAutoFit/>
          </a:bodyPr>
          <a:lstStyle/>
          <a:p>
            <a:pPr algn="r"/>
            <a:r>
              <a:rPr sz="1000" b="0" i="0">
                <a:solidFill>
                  <a:srgbClr val="4B5A5E"/>
                </a:solidFill>
                <a:latin typeface="Calibri"/>
              </a:rPr>
              <a:t>14</a:t>
            </a:r>
          </a:p>
        </p:txBody>
      </p:sp>
      <p:sp>
        <p:nvSpPr>
          <p:cNvPr id="8" name="TextBox 7"/>
          <p:cNvSpPr txBox="1"/>
          <p:nvPr/>
        </p:nvSpPr>
        <p:spPr>
          <a:xfrm>
            <a:off x="685800" y="1600200"/>
            <a:ext cx="10789920" cy="3931920"/>
          </a:xfrm>
          <a:prstGeom prst="rect">
            <a:avLst/>
          </a:prstGeom>
          <a:noFill/>
        </p:spPr>
        <p:txBody>
          <a:bodyPr wrap="square">
            <a:spAutoFit/>
          </a:bodyPr>
          <a:lstStyle/>
          <a:p>
            <a:pPr>
              <a:lnSpc>
                <a:spcPct val="108000"/>
              </a:lnSpc>
              <a:spcAft>
                <a:spcPts val="1100"/>
              </a:spcAft>
            </a:pPr>
            <a:r>
              <a:rPr sz="1500">
                <a:solidFill>
                  <a:srgbClr val="121D21"/>
                </a:solidFill>
                <a:latin typeface="Calibri"/>
              </a:rPr>
              <a:t>•  businesses — one row per registered business (name, subscription status)</a:t>
            </a:r>
          </a:p>
          <a:p>
            <a:pPr>
              <a:lnSpc>
                <a:spcPct val="108000"/>
              </a:lnSpc>
              <a:spcAft>
                <a:spcPts val="1100"/>
              </a:spcAft>
            </a:pPr>
            <a:r>
              <a:rPr sz="1500">
                <a:solidFill>
                  <a:srgbClr val="121D21"/>
                </a:solidFill>
                <a:latin typeface="Calibri"/>
              </a:rPr>
              <a:t>•  users — staff accounts, linked to a business, with a role</a:t>
            </a:r>
          </a:p>
          <a:p>
            <a:pPr>
              <a:lnSpc>
                <a:spcPct val="108000"/>
              </a:lnSpc>
              <a:spcAft>
                <a:spcPts val="1100"/>
              </a:spcAft>
            </a:pPr>
            <a:r>
              <a:rPr sz="1500">
                <a:solidFill>
                  <a:srgbClr val="121D21"/>
                </a:solidFill>
                <a:latin typeface="Calibri"/>
              </a:rPr>
              <a:t>•  business_requests — pending sign-ups awaiting admin approval</a:t>
            </a:r>
          </a:p>
          <a:p>
            <a:pPr>
              <a:lnSpc>
                <a:spcPct val="108000"/>
              </a:lnSpc>
              <a:spcAft>
                <a:spcPts val="1100"/>
              </a:spcAft>
            </a:pPr>
            <a:r>
              <a:rPr sz="1500">
                <a:solidFill>
                  <a:srgbClr val="121D21"/>
                </a:solidFill>
                <a:latin typeface="Calibri"/>
              </a:rPr>
              <a:t>•  customers — debtors belonging to a business (name, phone, email, rating, blacklist flag)</a:t>
            </a:r>
          </a:p>
          <a:p>
            <a:pPr>
              <a:lnSpc>
                <a:spcPct val="108000"/>
              </a:lnSpc>
              <a:spcAft>
                <a:spcPts val="1100"/>
              </a:spcAft>
            </a:pPr>
            <a:r>
              <a:rPr sz="1500">
                <a:solidFill>
                  <a:srgbClr val="121D21"/>
                </a:solidFill>
                <a:latin typeface="Calibri"/>
              </a:rPr>
              <a:t>•  debts — amount owed, due date, description, status, linked to a customer</a:t>
            </a:r>
          </a:p>
          <a:p>
            <a:pPr>
              <a:lnSpc>
                <a:spcPct val="108000"/>
              </a:lnSpc>
              <a:spcAft>
                <a:spcPts val="1100"/>
              </a:spcAft>
            </a:pPr>
            <a:r>
              <a:rPr sz="1500">
                <a:solidFill>
                  <a:srgbClr val="121D21"/>
                </a:solidFill>
                <a:latin typeface="Calibri"/>
              </a:rPr>
              <a:t>•  payments — amounts paid against a debt, with method and date</a:t>
            </a:r>
          </a:p>
          <a:p>
            <a:pPr>
              <a:lnSpc>
                <a:spcPct val="108000"/>
              </a:lnSpc>
              <a:spcAft>
                <a:spcPts val="1100"/>
              </a:spcAft>
            </a:pPr>
            <a:r>
              <a:rPr sz="1500">
                <a:solidFill>
                  <a:srgbClr val="121D21"/>
                </a:solidFill>
                <a:latin typeface="Calibri"/>
              </a:rPr>
              <a:t>•  notification_templates / notification_queue — SMS &amp; email templates and the scheduled send queue</a:t>
            </a:r>
          </a:p>
          <a:p>
            <a:pPr>
              <a:lnSpc>
                <a:spcPct val="108000"/>
              </a:lnSpc>
              <a:spcAft>
                <a:spcPts val="1100"/>
              </a:spcAft>
            </a:pPr>
            <a:r>
              <a:rPr sz="1500">
                <a:solidFill>
                  <a:srgbClr val="121D21"/>
                </a:solidFill>
                <a:latin typeface="Calibri"/>
              </a:rPr>
              <a:t>•  business_settings / platform_settings — per-business and platform-wide configuration</a:t>
            </a:r>
          </a:p>
        </p:txBody>
      </p:sp>
      <p:sp>
        <p:nvSpPr>
          <p:cNvPr id="9" name="TextBox 8"/>
          <p:cNvSpPr txBox="1"/>
          <p:nvPr/>
        </p:nvSpPr>
        <p:spPr>
          <a:xfrm>
            <a:off x="685800" y="5623560"/>
            <a:ext cx="10789920" cy="640080"/>
          </a:xfrm>
          <a:prstGeom prst="rect">
            <a:avLst/>
          </a:prstGeom>
          <a:noFill/>
        </p:spPr>
        <p:txBody>
          <a:bodyPr wrap="square">
            <a:spAutoFit/>
          </a:bodyPr>
          <a:lstStyle/>
          <a:p>
            <a:pPr algn="l"/>
            <a:r>
              <a:rPr sz="1300" b="1" i="1">
                <a:solidFill>
                  <a:srgbClr val="0A4F4A"/>
                </a:solidFill>
                <a:latin typeface="Calibri"/>
              </a:rPr>
              <a:t>Every business-owned table carries a business_id, enforced by Supabase Row Level Security policies — the database itself refuses a query that reaches outside your own business.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AF9"/>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7315200" cy="320040"/>
          </a:xfrm>
          <a:prstGeom prst="rect">
            <a:avLst/>
          </a:prstGeom>
          <a:noFill/>
        </p:spPr>
        <p:txBody>
          <a:bodyPr wrap="square">
            <a:spAutoFit/>
          </a:bodyPr>
          <a:lstStyle/>
          <a:p>
            <a:pPr algn="l"/>
            <a:r>
              <a:rPr sz="1300" b="1" i="0">
                <a:solidFill>
                  <a:srgbClr val="E69A1F"/>
                </a:solidFill>
                <a:latin typeface="Calibri"/>
              </a:rPr>
              <a:t>CHAPTER THREE</a:t>
            </a:r>
          </a:p>
        </p:txBody>
      </p:sp>
      <p:sp>
        <p:nvSpPr>
          <p:cNvPr id="4" name="TextBox 3"/>
          <p:cNvSpPr txBox="1"/>
          <p:nvPr/>
        </p:nvSpPr>
        <p:spPr>
          <a:xfrm>
            <a:off x="640080" y="621792"/>
            <a:ext cx="10515600" cy="731520"/>
          </a:xfrm>
          <a:prstGeom prst="rect">
            <a:avLst/>
          </a:prstGeom>
          <a:noFill/>
        </p:spPr>
        <p:txBody>
          <a:bodyPr wrap="square">
            <a:spAutoFit/>
          </a:bodyPr>
          <a:lstStyle/>
          <a:p>
            <a:pPr algn="l"/>
            <a:r>
              <a:rPr sz="3000" b="1" i="0">
                <a:solidFill>
                  <a:srgbClr val="121D21"/>
                </a:solidFill>
                <a:latin typeface="Calibri"/>
              </a:rPr>
              <a:t>Methodology</a:t>
            </a:r>
          </a:p>
        </p:txBody>
      </p:sp>
      <p:sp>
        <p:nvSpPr>
          <p:cNvPr id="5" name="Rectangle 4"/>
          <p:cNvSpPr/>
          <p:nvPr/>
        </p:nvSpPr>
        <p:spPr>
          <a:xfrm>
            <a:off x="658368" y="1298448"/>
            <a:ext cx="1005840" cy="4445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473952"/>
            <a:ext cx="5486400" cy="274320"/>
          </a:xfrm>
          <a:prstGeom prst="rect">
            <a:avLst/>
          </a:prstGeom>
          <a:noFill/>
        </p:spPr>
        <p:txBody>
          <a:bodyPr wrap="square">
            <a:spAutoFit/>
          </a:bodyPr>
          <a:lstStyle/>
          <a:p>
            <a:pPr algn="l"/>
            <a:r>
              <a:rPr sz="1000" b="0" i="0">
                <a:solidFill>
                  <a:srgbClr val="4B5A5E"/>
                </a:solidFill>
                <a:latin typeface="Calibri"/>
              </a:rPr>
              <a:t>KopaAlert — Stanley Murangiri</a:t>
            </a:r>
          </a:p>
        </p:txBody>
      </p:sp>
      <p:sp>
        <p:nvSpPr>
          <p:cNvPr id="7" name="TextBox 6"/>
          <p:cNvSpPr txBox="1"/>
          <p:nvPr/>
        </p:nvSpPr>
        <p:spPr>
          <a:xfrm>
            <a:off x="10972800" y="6473952"/>
            <a:ext cx="548640" cy="274320"/>
          </a:xfrm>
          <a:prstGeom prst="rect">
            <a:avLst/>
          </a:prstGeom>
          <a:noFill/>
        </p:spPr>
        <p:txBody>
          <a:bodyPr wrap="square">
            <a:spAutoFit/>
          </a:bodyPr>
          <a:lstStyle/>
          <a:p>
            <a:pPr algn="r"/>
            <a:r>
              <a:rPr sz="1000" b="0" i="0">
                <a:solidFill>
                  <a:srgbClr val="4B5A5E"/>
                </a:solidFill>
                <a:latin typeface="Calibri"/>
              </a:rPr>
              <a:t>15</a:t>
            </a:r>
          </a:p>
        </p:txBody>
      </p:sp>
      <p:sp>
        <p:nvSpPr>
          <p:cNvPr id="8" name="TextBox 7"/>
          <p:cNvSpPr txBox="1"/>
          <p:nvPr/>
        </p:nvSpPr>
        <p:spPr>
          <a:xfrm>
            <a:off x="685800" y="1600200"/>
            <a:ext cx="10789920" cy="4572000"/>
          </a:xfrm>
          <a:prstGeom prst="rect">
            <a:avLst/>
          </a:prstGeom>
          <a:noFill/>
        </p:spPr>
        <p:txBody>
          <a:bodyPr wrap="square">
            <a:spAutoFit/>
          </a:bodyPr>
          <a:lstStyle/>
          <a:p>
            <a:pPr>
              <a:lnSpc>
                <a:spcPct val="108000"/>
              </a:lnSpc>
              <a:spcAft>
                <a:spcPts val="1000"/>
              </a:spcAft>
            </a:pPr>
            <a:r>
              <a:rPr sz="1700">
                <a:solidFill>
                  <a:srgbClr val="121D21"/>
                </a:solidFill>
                <a:latin typeface="Calibri"/>
              </a:rPr>
              <a:t>•  I followed an iterative, incremental development approach — building and shipping one working feature at a time rather than attempting the whole system before testing anything.</a:t>
            </a:r>
          </a:p>
          <a:p>
            <a:pPr>
              <a:lnSpc>
                <a:spcPct val="108000"/>
              </a:lnSpc>
              <a:spcAft>
                <a:spcPts val="1000"/>
              </a:spcAft>
            </a:pPr>
            <a:r>
              <a:rPr sz="1700">
                <a:solidFill>
                  <a:srgbClr val="121D21"/>
                </a:solidFill>
                <a:latin typeface="Calibri"/>
              </a:rPr>
              <a:t>•  Each feature began with identifying the real-world behaviour it needed to replace (e.g. "the book showed who owed what" became the debts table and the dashboard).</a:t>
            </a:r>
          </a:p>
          <a:p>
            <a:pPr>
              <a:lnSpc>
                <a:spcPct val="108000"/>
              </a:lnSpc>
              <a:spcAft>
                <a:spcPts val="1000"/>
              </a:spcAft>
            </a:pPr>
            <a:r>
              <a:rPr sz="1700">
                <a:solidFill>
                  <a:srgbClr val="121D21"/>
                </a:solidFill>
                <a:latin typeface="Calibri"/>
              </a:rPr>
              <a:t>•  I used Git for version control, with focused commits so that each change could be reviewed and, if needed, reversed independently.</a:t>
            </a:r>
          </a:p>
          <a:p>
            <a:pPr>
              <a:lnSpc>
                <a:spcPct val="108000"/>
              </a:lnSpc>
              <a:spcAft>
                <a:spcPts val="1000"/>
              </a:spcAft>
            </a:pPr>
            <a:r>
              <a:rPr sz="1700">
                <a:solidFill>
                  <a:srgbClr val="121D21"/>
                </a:solidFill>
                <a:latin typeface="Calibri"/>
              </a:rPr>
              <a:t>•  Automated tests (Jest for logic, Playwright for full user flows) were written alongside features to catch regressions as the system grew.</a:t>
            </a:r>
          </a:p>
          <a:p>
            <a:pPr>
              <a:lnSpc>
                <a:spcPct val="108000"/>
              </a:lnSpc>
              <a:spcAft>
                <a:spcPts val="1000"/>
              </a:spcAft>
            </a:pPr>
            <a:r>
              <a:rPr sz="1700">
                <a:solidFill>
                  <a:srgbClr val="121D21"/>
                </a:solidFill>
                <a:latin typeface="Calibri"/>
              </a:rPr>
              <a:t>•  Bugs found in real use (for example, redirect issues and duplicate-record edge cases) were logged, root-caused, and fixed as part of the same iterative cycle.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AF9"/>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7315200" cy="320040"/>
          </a:xfrm>
          <a:prstGeom prst="rect">
            <a:avLst/>
          </a:prstGeom>
          <a:noFill/>
        </p:spPr>
        <p:txBody>
          <a:bodyPr wrap="square">
            <a:spAutoFit/>
          </a:bodyPr>
          <a:lstStyle/>
          <a:p>
            <a:pPr algn="l"/>
            <a:r>
              <a:rPr sz="1300" b="1" i="0">
                <a:solidFill>
                  <a:srgbClr val="E69A1F"/>
                </a:solidFill>
                <a:latin typeface="Calibri"/>
              </a:rPr>
              <a:t>CHAPTER THREE</a:t>
            </a:r>
          </a:p>
        </p:txBody>
      </p:sp>
      <p:sp>
        <p:nvSpPr>
          <p:cNvPr id="4" name="TextBox 3"/>
          <p:cNvSpPr txBox="1"/>
          <p:nvPr/>
        </p:nvSpPr>
        <p:spPr>
          <a:xfrm>
            <a:off x="640080" y="621792"/>
            <a:ext cx="10515600" cy="731520"/>
          </a:xfrm>
          <a:prstGeom prst="rect">
            <a:avLst/>
          </a:prstGeom>
          <a:noFill/>
        </p:spPr>
        <p:txBody>
          <a:bodyPr wrap="square">
            <a:spAutoFit/>
          </a:bodyPr>
          <a:lstStyle/>
          <a:p>
            <a:pPr algn="l"/>
            <a:r>
              <a:rPr sz="3000" b="1" i="0">
                <a:solidFill>
                  <a:srgbClr val="121D21"/>
                </a:solidFill>
                <a:latin typeface="Calibri"/>
              </a:rPr>
              <a:t>Challenges Encountered</a:t>
            </a:r>
          </a:p>
        </p:txBody>
      </p:sp>
      <p:sp>
        <p:nvSpPr>
          <p:cNvPr id="5" name="Rectangle 4"/>
          <p:cNvSpPr/>
          <p:nvPr/>
        </p:nvSpPr>
        <p:spPr>
          <a:xfrm>
            <a:off x="658368" y="1298448"/>
            <a:ext cx="1005840" cy="4445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473952"/>
            <a:ext cx="5486400" cy="274320"/>
          </a:xfrm>
          <a:prstGeom prst="rect">
            <a:avLst/>
          </a:prstGeom>
          <a:noFill/>
        </p:spPr>
        <p:txBody>
          <a:bodyPr wrap="square">
            <a:spAutoFit/>
          </a:bodyPr>
          <a:lstStyle/>
          <a:p>
            <a:pPr algn="l"/>
            <a:r>
              <a:rPr sz="1000" b="0" i="0">
                <a:solidFill>
                  <a:srgbClr val="4B5A5E"/>
                </a:solidFill>
                <a:latin typeface="Calibri"/>
              </a:rPr>
              <a:t>KopaAlert — Stanley Murangiri</a:t>
            </a:r>
          </a:p>
        </p:txBody>
      </p:sp>
      <p:sp>
        <p:nvSpPr>
          <p:cNvPr id="7" name="TextBox 6"/>
          <p:cNvSpPr txBox="1"/>
          <p:nvPr/>
        </p:nvSpPr>
        <p:spPr>
          <a:xfrm>
            <a:off x="10972800" y="6473952"/>
            <a:ext cx="548640" cy="274320"/>
          </a:xfrm>
          <a:prstGeom prst="rect">
            <a:avLst/>
          </a:prstGeom>
          <a:noFill/>
        </p:spPr>
        <p:txBody>
          <a:bodyPr wrap="square">
            <a:spAutoFit/>
          </a:bodyPr>
          <a:lstStyle/>
          <a:p>
            <a:pPr algn="r"/>
            <a:r>
              <a:rPr sz="1000" b="0" i="0">
                <a:solidFill>
                  <a:srgbClr val="4B5A5E"/>
                </a:solidFill>
                <a:latin typeface="Calibri"/>
              </a:rPr>
              <a:t>16</a:t>
            </a:r>
          </a:p>
        </p:txBody>
      </p:sp>
      <p:sp>
        <p:nvSpPr>
          <p:cNvPr id="8" name="Rectangle 7"/>
          <p:cNvSpPr/>
          <p:nvPr/>
        </p:nvSpPr>
        <p:spPr>
          <a:xfrm>
            <a:off x="685800" y="1572768"/>
            <a:ext cx="5349240" cy="1417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572768"/>
            <a:ext cx="73152" cy="1417320"/>
          </a:xfrm>
          <a:prstGeom prst="rect">
            <a:avLst/>
          </a:prstGeom>
          <a:solidFill>
            <a:srgbClr val="E6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1700784"/>
            <a:ext cx="4892040" cy="320040"/>
          </a:xfrm>
          <a:prstGeom prst="rect">
            <a:avLst/>
          </a:prstGeom>
          <a:noFill/>
        </p:spPr>
        <p:txBody>
          <a:bodyPr wrap="square">
            <a:spAutoFit/>
          </a:bodyPr>
          <a:lstStyle/>
          <a:p>
            <a:pPr algn="l"/>
            <a:r>
              <a:rPr sz="1450" b="1" i="0">
                <a:solidFill>
                  <a:srgbClr val="0F766E"/>
                </a:solidFill>
                <a:latin typeface="Calibri"/>
              </a:rPr>
              <a:t>Hardware reliability</a:t>
            </a:r>
          </a:p>
        </p:txBody>
      </p:sp>
      <p:sp>
        <p:nvSpPr>
          <p:cNvPr id="11" name="TextBox 10"/>
          <p:cNvSpPr txBox="1"/>
          <p:nvPr/>
        </p:nvSpPr>
        <p:spPr>
          <a:xfrm>
            <a:off x="941832" y="2048256"/>
            <a:ext cx="4892040" cy="868680"/>
          </a:xfrm>
          <a:prstGeom prst="rect">
            <a:avLst/>
          </a:prstGeom>
          <a:noFill/>
        </p:spPr>
        <p:txBody>
          <a:bodyPr wrap="square">
            <a:spAutoFit/>
          </a:bodyPr>
          <a:lstStyle/>
          <a:p>
            <a:pPr algn="l">
              <a:lnSpc>
                <a:spcPct val="110000"/>
              </a:lnSpc>
            </a:pPr>
            <a:r>
              <a:rPr sz="1150" b="0" i="0">
                <a:solidFill>
                  <a:srgbClr val="121D21"/>
                </a:solidFill>
                <a:latin typeface="Calibri"/>
              </a:rPr>
              <a:t>My laptop would frequently hang or freeze during long coding sessions, costing time and occasionally unsaved work.</a:t>
            </a:r>
          </a:p>
        </p:txBody>
      </p:sp>
      <p:sp>
        <p:nvSpPr>
          <p:cNvPr id="12" name="Rectangle 11"/>
          <p:cNvSpPr/>
          <p:nvPr/>
        </p:nvSpPr>
        <p:spPr>
          <a:xfrm>
            <a:off x="6172200" y="1572768"/>
            <a:ext cx="5349240" cy="1417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572768"/>
            <a:ext cx="73152" cy="1417320"/>
          </a:xfrm>
          <a:prstGeom prst="rect">
            <a:avLst/>
          </a:prstGeom>
          <a:solidFill>
            <a:srgbClr val="E6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2" y="1700784"/>
            <a:ext cx="4892040" cy="320040"/>
          </a:xfrm>
          <a:prstGeom prst="rect">
            <a:avLst/>
          </a:prstGeom>
          <a:noFill/>
        </p:spPr>
        <p:txBody>
          <a:bodyPr wrap="square">
            <a:spAutoFit/>
          </a:bodyPr>
          <a:lstStyle/>
          <a:p>
            <a:pPr algn="l"/>
            <a:r>
              <a:rPr sz="1450" b="1" i="0">
                <a:solidFill>
                  <a:srgbClr val="0F766E"/>
                </a:solidFill>
                <a:latin typeface="Calibri"/>
              </a:rPr>
              <a:t>Electricity</a:t>
            </a:r>
          </a:p>
        </p:txBody>
      </p:sp>
      <p:sp>
        <p:nvSpPr>
          <p:cNvPr id="15" name="TextBox 14"/>
          <p:cNvSpPr txBox="1"/>
          <p:nvPr/>
        </p:nvSpPr>
        <p:spPr>
          <a:xfrm>
            <a:off x="6428232" y="2048256"/>
            <a:ext cx="4892040" cy="868680"/>
          </a:xfrm>
          <a:prstGeom prst="rect">
            <a:avLst/>
          </a:prstGeom>
          <a:noFill/>
        </p:spPr>
        <p:txBody>
          <a:bodyPr wrap="square">
            <a:spAutoFit/>
          </a:bodyPr>
          <a:lstStyle/>
          <a:p>
            <a:pPr algn="l">
              <a:lnSpc>
                <a:spcPct val="110000"/>
              </a:lnSpc>
            </a:pPr>
            <a:r>
              <a:rPr sz="1150" b="0" i="0">
                <a:solidFill>
                  <a:srgbClr val="121D21"/>
                </a:solidFill>
                <a:latin typeface="Calibri"/>
              </a:rPr>
              <a:t>Unpredictable power outages interrupted development sessions, especially during testing and deployment work.</a:t>
            </a:r>
          </a:p>
        </p:txBody>
      </p:sp>
      <p:sp>
        <p:nvSpPr>
          <p:cNvPr id="16" name="Rectangle 15"/>
          <p:cNvSpPr/>
          <p:nvPr/>
        </p:nvSpPr>
        <p:spPr>
          <a:xfrm>
            <a:off x="685800" y="3099816"/>
            <a:ext cx="5349240" cy="1417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85800" y="3099816"/>
            <a:ext cx="73152" cy="1417320"/>
          </a:xfrm>
          <a:prstGeom prst="rect">
            <a:avLst/>
          </a:prstGeom>
          <a:solidFill>
            <a:srgbClr val="E6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1832" y="3227832"/>
            <a:ext cx="4892040" cy="320040"/>
          </a:xfrm>
          <a:prstGeom prst="rect">
            <a:avLst/>
          </a:prstGeom>
          <a:noFill/>
        </p:spPr>
        <p:txBody>
          <a:bodyPr wrap="square">
            <a:spAutoFit/>
          </a:bodyPr>
          <a:lstStyle/>
          <a:p>
            <a:pPr algn="l"/>
            <a:r>
              <a:rPr sz="1450" b="1" i="0">
                <a:solidFill>
                  <a:srgbClr val="0F766E"/>
                </a:solidFill>
                <a:latin typeface="Calibri"/>
              </a:rPr>
              <a:t>Network connectivity</a:t>
            </a:r>
          </a:p>
        </p:txBody>
      </p:sp>
      <p:sp>
        <p:nvSpPr>
          <p:cNvPr id="19" name="TextBox 18"/>
          <p:cNvSpPr txBox="1"/>
          <p:nvPr/>
        </p:nvSpPr>
        <p:spPr>
          <a:xfrm>
            <a:off x="941832" y="3575304"/>
            <a:ext cx="4892040" cy="868680"/>
          </a:xfrm>
          <a:prstGeom prst="rect">
            <a:avLst/>
          </a:prstGeom>
          <a:noFill/>
        </p:spPr>
        <p:txBody>
          <a:bodyPr wrap="square">
            <a:spAutoFit/>
          </a:bodyPr>
          <a:lstStyle/>
          <a:p>
            <a:pPr algn="l">
              <a:lnSpc>
                <a:spcPct val="110000"/>
              </a:lnSpc>
            </a:pPr>
            <a:r>
              <a:rPr sz="1150" b="0" i="0">
                <a:solidFill>
                  <a:srgbClr val="121D21"/>
                </a:solidFill>
                <a:latin typeface="Calibri"/>
              </a:rPr>
              <a:t>Slow or unstable internet made cloud-dependent work (Supabase, deployments, SMS/email testing) unreliable at times.</a:t>
            </a:r>
          </a:p>
        </p:txBody>
      </p:sp>
      <p:sp>
        <p:nvSpPr>
          <p:cNvPr id="20" name="Rectangle 19"/>
          <p:cNvSpPr/>
          <p:nvPr/>
        </p:nvSpPr>
        <p:spPr>
          <a:xfrm>
            <a:off x="6172200" y="3099816"/>
            <a:ext cx="5349240" cy="1417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72200" y="3099816"/>
            <a:ext cx="73152" cy="1417320"/>
          </a:xfrm>
          <a:prstGeom prst="rect">
            <a:avLst/>
          </a:prstGeom>
          <a:solidFill>
            <a:srgbClr val="E6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2" y="3227832"/>
            <a:ext cx="4892040" cy="320040"/>
          </a:xfrm>
          <a:prstGeom prst="rect">
            <a:avLst/>
          </a:prstGeom>
          <a:noFill/>
        </p:spPr>
        <p:txBody>
          <a:bodyPr wrap="square">
            <a:spAutoFit/>
          </a:bodyPr>
          <a:lstStyle/>
          <a:p>
            <a:pPr algn="l"/>
            <a:r>
              <a:rPr sz="1450" b="1" i="0">
                <a:solidFill>
                  <a:srgbClr val="0F766E"/>
                </a:solidFill>
                <a:latin typeface="Calibri"/>
              </a:rPr>
              <a:t>Balancing routine</a:t>
            </a:r>
          </a:p>
        </p:txBody>
      </p:sp>
      <p:sp>
        <p:nvSpPr>
          <p:cNvPr id="23" name="TextBox 22"/>
          <p:cNvSpPr txBox="1"/>
          <p:nvPr/>
        </p:nvSpPr>
        <p:spPr>
          <a:xfrm>
            <a:off x="6428232" y="3575304"/>
            <a:ext cx="4892040" cy="868680"/>
          </a:xfrm>
          <a:prstGeom prst="rect">
            <a:avLst/>
          </a:prstGeom>
          <a:noFill/>
        </p:spPr>
        <p:txBody>
          <a:bodyPr wrap="square">
            <a:spAutoFit/>
          </a:bodyPr>
          <a:lstStyle/>
          <a:p>
            <a:pPr algn="l">
              <a:lnSpc>
                <a:spcPct val="110000"/>
              </a:lnSpc>
            </a:pPr>
            <a:r>
              <a:rPr sz="1150" b="0" i="0">
                <a:solidFill>
                  <a:srgbClr val="121D21"/>
                </a:solidFill>
                <a:latin typeface="Calibri"/>
              </a:rPr>
              <a:t>Fitting sustained project work around my daily routine, coursework, and other responsibilities required careful time management.</a:t>
            </a:r>
          </a:p>
        </p:txBody>
      </p:sp>
      <p:sp>
        <p:nvSpPr>
          <p:cNvPr id="24" name="Rectangle 23"/>
          <p:cNvSpPr/>
          <p:nvPr/>
        </p:nvSpPr>
        <p:spPr>
          <a:xfrm>
            <a:off x="685800" y="4626864"/>
            <a:ext cx="5349240" cy="1417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85800" y="4626864"/>
            <a:ext cx="73152" cy="1417320"/>
          </a:xfrm>
          <a:prstGeom prst="rect">
            <a:avLst/>
          </a:prstGeom>
          <a:solidFill>
            <a:srgbClr val="E6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1832" y="4754880"/>
            <a:ext cx="4892040" cy="320040"/>
          </a:xfrm>
          <a:prstGeom prst="rect">
            <a:avLst/>
          </a:prstGeom>
          <a:noFill/>
        </p:spPr>
        <p:txBody>
          <a:bodyPr wrap="square">
            <a:spAutoFit/>
          </a:bodyPr>
          <a:lstStyle/>
          <a:p>
            <a:pPr algn="l"/>
            <a:r>
              <a:rPr sz="1450" b="1" i="0">
                <a:solidFill>
                  <a:srgbClr val="0F766E"/>
                </a:solidFill>
                <a:latin typeface="Calibri"/>
              </a:rPr>
              <a:t>Funding</a:t>
            </a:r>
          </a:p>
        </p:txBody>
      </p:sp>
      <p:sp>
        <p:nvSpPr>
          <p:cNvPr id="27" name="TextBox 26"/>
          <p:cNvSpPr txBox="1"/>
          <p:nvPr/>
        </p:nvSpPr>
        <p:spPr>
          <a:xfrm>
            <a:off x="941832" y="5102352"/>
            <a:ext cx="4892040" cy="868680"/>
          </a:xfrm>
          <a:prstGeom prst="rect">
            <a:avLst/>
          </a:prstGeom>
          <a:noFill/>
        </p:spPr>
        <p:txBody>
          <a:bodyPr wrap="square">
            <a:spAutoFit/>
          </a:bodyPr>
          <a:lstStyle/>
          <a:p>
            <a:pPr algn="l">
              <a:lnSpc>
                <a:spcPct val="110000"/>
              </a:lnSpc>
            </a:pPr>
            <a:r>
              <a:rPr sz="1150" b="0" i="0">
                <a:solidFill>
                  <a:srgbClr val="121D21"/>
                </a:solidFill>
                <a:latin typeface="Calibri"/>
              </a:rPr>
              <a:t>Covering costs such as hosting, domain, and SMS test credits on a student budget was a recurring constraint.</a:t>
            </a:r>
          </a:p>
        </p:txBody>
      </p:sp>
      <p:sp>
        <p:nvSpPr>
          <p:cNvPr id="28" name="Rectangle 27"/>
          <p:cNvSpPr/>
          <p:nvPr/>
        </p:nvSpPr>
        <p:spPr>
          <a:xfrm>
            <a:off x="6172200" y="4626864"/>
            <a:ext cx="5349240" cy="1417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72200" y="4626864"/>
            <a:ext cx="73152" cy="1417320"/>
          </a:xfrm>
          <a:prstGeom prst="rect">
            <a:avLst/>
          </a:prstGeom>
          <a:solidFill>
            <a:srgbClr val="E6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28232" y="4754880"/>
            <a:ext cx="4892040" cy="320040"/>
          </a:xfrm>
          <a:prstGeom prst="rect">
            <a:avLst/>
          </a:prstGeom>
          <a:noFill/>
        </p:spPr>
        <p:txBody>
          <a:bodyPr wrap="square">
            <a:spAutoFit/>
          </a:bodyPr>
          <a:lstStyle/>
          <a:p>
            <a:pPr algn="l"/>
            <a:r>
              <a:rPr sz="1450" b="1" i="0">
                <a:solidFill>
                  <a:srgbClr val="0F766E"/>
                </a:solidFill>
                <a:latin typeface="Calibri"/>
              </a:rPr>
              <a:t>Learning curve</a:t>
            </a:r>
          </a:p>
        </p:txBody>
      </p:sp>
      <p:sp>
        <p:nvSpPr>
          <p:cNvPr id="31" name="TextBox 30"/>
          <p:cNvSpPr txBox="1"/>
          <p:nvPr/>
        </p:nvSpPr>
        <p:spPr>
          <a:xfrm>
            <a:off x="6428232" y="5102352"/>
            <a:ext cx="4892040" cy="868680"/>
          </a:xfrm>
          <a:prstGeom prst="rect">
            <a:avLst/>
          </a:prstGeom>
          <a:noFill/>
        </p:spPr>
        <p:txBody>
          <a:bodyPr wrap="square">
            <a:spAutoFit/>
          </a:bodyPr>
          <a:lstStyle/>
          <a:p>
            <a:pPr algn="l">
              <a:lnSpc>
                <a:spcPct val="110000"/>
              </a:lnSpc>
            </a:pPr>
            <a:r>
              <a:rPr sz="1150" b="0" i="0">
                <a:solidFill>
                  <a:srgbClr val="121D21"/>
                </a:solidFill>
                <a:latin typeface="Calibri"/>
              </a:rPr>
              <a:t>Several parts of the stack (Supabase RLS, Next.js App Router, scheduled cron jobs) were new to me and had to be learned while building.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AF9"/>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7315200" cy="320040"/>
          </a:xfrm>
          <a:prstGeom prst="rect">
            <a:avLst/>
          </a:prstGeom>
          <a:noFill/>
        </p:spPr>
        <p:txBody>
          <a:bodyPr wrap="square">
            <a:spAutoFit/>
          </a:bodyPr>
          <a:lstStyle/>
          <a:p>
            <a:pPr algn="l"/>
            <a:r>
              <a:rPr sz="1300" b="1" i="0">
                <a:solidFill>
                  <a:srgbClr val="E69A1F"/>
                </a:solidFill>
                <a:latin typeface="Calibri"/>
              </a:rPr>
              <a:t>CHAPTER FOUR</a:t>
            </a:r>
          </a:p>
        </p:txBody>
      </p:sp>
      <p:sp>
        <p:nvSpPr>
          <p:cNvPr id="4" name="TextBox 3"/>
          <p:cNvSpPr txBox="1"/>
          <p:nvPr/>
        </p:nvSpPr>
        <p:spPr>
          <a:xfrm>
            <a:off x="640080" y="621792"/>
            <a:ext cx="10515600" cy="731520"/>
          </a:xfrm>
          <a:prstGeom prst="rect">
            <a:avLst/>
          </a:prstGeom>
          <a:noFill/>
        </p:spPr>
        <p:txBody>
          <a:bodyPr wrap="square">
            <a:spAutoFit/>
          </a:bodyPr>
          <a:lstStyle/>
          <a:p>
            <a:pPr algn="l"/>
            <a:r>
              <a:rPr sz="3000" b="1" i="0">
                <a:solidFill>
                  <a:srgbClr val="121D21"/>
                </a:solidFill>
                <a:latin typeface="Calibri"/>
              </a:rPr>
              <a:t>Testing and Quality Assurance</a:t>
            </a:r>
          </a:p>
        </p:txBody>
      </p:sp>
      <p:sp>
        <p:nvSpPr>
          <p:cNvPr id="5" name="Rectangle 4"/>
          <p:cNvSpPr/>
          <p:nvPr/>
        </p:nvSpPr>
        <p:spPr>
          <a:xfrm>
            <a:off x="658368" y="1298448"/>
            <a:ext cx="1005840" cy="4445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473952"/>
            <a:ext cx="5486400" cy="274320"/>
          </a:xfrm>
          <a:prstGeom prst="rect">
            <a:avLst/>
          </a:prstGeom>
          <a:noFill/>
        </p:spPr>
        <p:txBody>
          <a:bodyPr wrap="square">
            <a:spAutoFit/>
          </a:bodyPr>
          <a:lstStyle/>
          <a:p>
            <a:pPr algn="l"/>
            <a:r>
              <a:rPr sz="1000" b="0" i="0">
                <a:solidFill>
                  <a:srgbClr val="4B5A5E"/>
                </a:solidFill>
                <a:latin typeface="Calibri"/>
              </a:rPr>
              <a:t>KopaAlert — Stanley Murangiri</a:t>
            </a:r>
          </a:p>
        </p:txBody>
      </p:sp>
      <p:sp>
        <p:nvSpPr>
          <p:cNvPr id="7" name="TextBox 6"/>
          <p:cNvSpPr txBox="1"/>
          <p:nvPr/>
        </p:nvSpPr>
        <p:spPr>
          <a:xfrm>
            <a:off x="10972800" y="6473952"/>
            <a:ext cx="548640" cy="274320"/>
          </a:xfrm>
          <a:prstGeom prst="rect">
            <a:avLst/>
          </a:prstGeom>
          <a:noFill/>
        </p:spPr>
        <p:txBody>
          <a:bodyPr wrap="square">
            <a:spAutoFit/>
          </a:bodyPr>
          <a:lstStyle/>
          <a:p>
            <a:pPr algn="r"/>
            <a:r>
              <a:rPr sz="1000" b="0" i="0">
                <a:solidFill>
                  <a:srgbClr val="4B5A5E"/>
                </a:solidFill>
                <a:latin typeface="Calibri"/>
              </a:rPr>
              <a:t>17</a:t>
            </a:r>
          </a:p>
        </p:txBody>
      </p:sp>
      <p:sp>
        <p:nvSpPr>
          <p:cNvPr id="8" name="TextBox 7"/>
          <p:cNvSpPr txBox="1"/>
          <p:nvPr/>
        </p:nvSpPr>
        <p:spPr>
          <a:xfrm>
            <a:off x="685800" y="1600200"/>
            <a:ext cx="10789920" cy="4572000"/>
          </a:xfrm>
          <a:prstGeom prst="rect">
            <a:avLst/>
          </a:prstGeom>
          <a:noFill/>
        </p:spPr>
        <p:txBody>
          <a:bodyPr wrap="square">
            <a:spAutoFit/>
          </a:bodyPr>
          <a:lstStyle/>
          <a:p>
            <a:pPr>
              <a:lnSpc>
                <a:spcPct val="108000"/>
              </a:lnSpc>
              <a:spcAft>
                <a:spcPts val="1000"/>
              </a:spcAft>
            </a:pPr>
            <a:r>
              <a:rPr sz="1700">
                <a:solidFill>
                  <a:srgbClr val="121D21"/>
                </a:solidFill>
                <a:latin typeface="Calibri"/>
              </a:rPr>
              <a:t>•  Unit tests (Jest) — cover pure logic such as phone-number validation and normalisation, and reporting calculations.</a:t>
            </a:r>
          </a:p>
          <a:p>
            <a:pPr>
              <a:lnSpc>
                <a:spcPct val="108000"/>
              </a:lnSpc>
              <a:spcAft>
                <a:spcPts val="1000"/>
              </a:spcAft>
            </a:pPr>
            <a:r>
              <a:rPr sz="1700">
                <a:solidFill>
                  <a:srgbClr val="121D21"/>
                </a:solidFill>
                <a:latin typeface="Calibri"/>
              </a:rPr>
              <a:t>•  End-to-end tests (Playwright) — simulate a real business owner using the browser: registering, logging in, adding customers, recording debts, and recording payments.</a:t>
            </a:r>
          </a:p>
          <a:p>
            <a:pPr>
              <a:lnSpc>
                <a:spcPct val="108000"/>
              </a:lnSpc>
              <a:spcAft>
                <a:spcPts val="1000"/>
              </a:spcAft>
            </a:pPr>
            <a:r>
              <a:rPr sz="1700">
                <a:solidFill>
                  <a:srgbClr val="121D21"/>
                </a:solidFill>
                <a:latin typeface="Calibri"/>
              </a:rPr>
              <a:t>•  Manual exploratory testing — used throughout development to catch edge cases automated tests did not anticipate (e.g. a business appearing to owe itself money, duplicate customer records).</a:t>
            </a:r>
          </a:p>
          <a:p>
            <a:pPr>
              <a:lnSpc>
                <a:spcPct val="108000"/>
              </a:lnSpc>
              <a:spcAft>
                <a:spcPts val="1000"/>
              </a:spcAft>
            </a:pPr>
            <a:r>
              <a:rPr sz="1700">
                <a:solidFill>
                  <a:srgbClr val="121D21"/>
                </a:solidFill>
                <a:latin typeface="Calibri"/>
              </a:rPr>
              <a:t>•  Regression discipline — every fixed bug was paired with a test or a documented check, so the same defect could not silently return.</a:t>
            </a:r>
          </a:p>
          <a:p>
            <a:pPr>
              <a:lnSpc>
                <a:spcPct val="108000"/>
              </a:lnSpc>
              <a:spcAft>
                <a:spcPts val="1000"/>
              </a:spcAft>
            </a:pPr>
            <a:r>
              <a:rPr sz="1700">
                <a:solidFill>
                  <a:srgbClr val="121D21"/>
                </a:solidFill>
                <a:latin typeface="Calibri"/>
              </a:rPr>
              <a:t>•  A TypeScript-first codebase — the compiler itself catches an entire class of mistakes before the code is ever run.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AF9"/>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7315200" cy="320040"/>
          </a:xfrm>
          <a:prstGeom prst="rect">
            <a:avLst/>
          </a:prstGeom>
          <a:noFill/>
        </p:spPr>
        <p:txBody>
          <a:bodyPr wrap="square">
            <a:spAutoFit/>
          </a:bodyPr>
          <a:lstStyle/>
          <a:p>
            <a:pPr algn="l"/>
            <a:r>
              <a:rPr sz="1300" b="1" i="0">
                <a:solidFill>
                  <a:srgbClr val="E69A1F"/>
                </a:solidFill>
                <a:latin typeface="Calibri"/>
              </a:rPr>
              <a:t>CHAPTER FOUR</a:t>
            </a:r>
          </a:p>
        </p:txBody>
      </p:sp>
      <p:sp>
        <p:nvSpPr>
          <p:cNvPr id="4" name="TextBox 3"/>
          <p:cNvSpPr txBox="1"/>
          <p:nvPr/>
        </p:nvSpPr>
        <p:spPr>
          <a:xfrm>
            <a:off x="640080" y="621792"/>
            <a:ext cx="10515600" cy="731520"/>
          </a:xfrm>
          <a:prstGeom prst="rect">
            <a:avLst/>
          </a:prstGeom>
          <a:noFill/>
        </p:spPr>
        <p:txBody>
          <a:bodyPr wrap="square">
            <a:spAutoFit/>
          </a:bodyPr>
          <a:lstStyle/>
          <a:p>
            <a:pPr algn="l"/>
            <a:r>
              <a:rPr sz="3000" b="1" i="0">
                <a:solidFill>
                  <a:srgbClr val="121D21"/>
                </a:solidFill>
                <a:latin typeface="Calibri"/>
              </a:rPr>
              <a:t>Results and Outcomes</a:t>
            </a:r>
          </a:p>
        </p:txBody>
      </p:sp>
      <p:sp>
        <p:nvSpPr>
          <p:cNvPr id="5" name="Rectangle 4"/>
          <p:cNvSpPr/>
          <p:nvPr/>
        </p:nvSpPr>
        <p:spPr>
          <a:xfrm>
            <a:off x="658368" y="1298448"/>
            <a:ext cx="1005840" cy="4445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473952"/>
            <a:ext cx="5486400" cy="274320"/>
          </a:xfrm>
          <a:prstGeom prst="rect">
            <a:avLst/>
          </a:prstGeom>
          <a:noFill/>
        </p:spPr>
        <p:txBody>
          <a:bodyPr wrap="square">
            <a:spAutoFit/>
          </a:bodyPr>
          <a:lstStyle/>
          <a:p>
            <a:pPr algn="l"/>
            <a:r>
              <a:rPr sz="1000" b="0" i="0">
                <a:solidFill>
                  <a:srgbClr val="4B5A5E"/>
                </a:solidFill>
                <a:latin typeface="Calibri"/>
              </a:rPr>
              <a:t>KopaAlert — Stanley Murangiri</a:t>
            </a:r>
          </a:p>
        </p:txBody>
      </p:sp>
      <p:sp>
        <p:nvSpPr>
          <p:cNvPr id="7" name="TextBox 6"/>
          <p:cNvSpPr txBox="1"/>
          <p:nvPr/>
        </p:nvSpPr>
        <p:spPr>
          <a:xfrm>
            <a:off x="10972800" y="6473952"/>
            <a:ext cx="548640" cy="274320"/>
          </a:xfrm>
          <a:prstGeom prst="rect">
            <a:avLst/>
          </a:prstGeom>
          <a:noFill/>
        </p:spPr>
        <p:txBody>
          <a:bodyPr wrap="square">
            <a:spAutoFit/>
          </a:bodyPr>
          <a:lstStyle/>
          <a:p>
            <a:pPr algn="r"/>
            <a:r>
              <a:rPr sz="1000" b="0" i="0">
                <a:solidFill>
                  <a:srgbClr val="4B5A5E"/>
                </a:solidFill>
                <a:latin typeface="Calibri"/>
              </a:rPr>
              <a:t>18</a:t>
            </a:r>
          </a:p>
        </p:txBody>
      </p:sp>
      <p:sp>
        <p:nvSpPr>
          <p:cNvPr id="8" name="TextBox 7"/>
          <p:cNvSpPr txBox="1"/>
          <p:nvPr/>
        </p:nvSpPr>
        <p:spPr>
          <a:xfrm>
            <a:off x="685800" y="1572768"/>
            <a:ext cx="10789920" cy="457200"/>
          </a:xfrm>
          <a:prstGeom prst="rect">
            <a:avLst/>
          </a:prstGeom>
          <a:noFill/>
        </p:spPr>
        <p:txBody>
          <a:bodyPr wrap="square">
            <a:spAutoFit/>
          </a:bodyPr>
          <a:lstStyle/>
          <a:p>
            <a:pPr algn="l"/>
            <a:r>
              <a:rPr sz="1350" b="0" i="1">
                <a:solidFill>
                  <a:srgbClr val="4B5A5E"/>
                </a:solidFill>
                <a:latin typeface="Calibri"/>
              </a:rPr>
              <a:t>[Insert screenshots of the running system here — e.g. Dashboard, Add Debt, Reminder SMS]</a:t>
            </a:r>
          </a:p>
        </p:txBody>
      </p:sp>
      <p:sp>
        <p:nvSpPr>
          <p:cNvPr id="9" name="Rectangle 8"/>
          <p:cNvSpPr/>
          <p:nvPr/>
        </p:nvSpPr>
        <p:spPr>
          <a:xfrm>
            <a:off x="685800" y="2057400"/>
            <a:ext cx="3566160" cy="2651760"/>
          </a:xfrm>
          <a:prstGeom prst="rect">
            <a:avLst/>
          </a:prstGeom>
          <a:solidFill>
            <a:srgbClr val="FFFFFF"/>
          </a:solidFill>
          <a:ln w="15875">
            <a:solidFill>
              <a:srgbClr val="DCE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3246120"/>
            <a:ext cx="3566160" cy="365760"/>
          </a:xfrm>
          <a:prstGeom prst="rect">
            <a:avLst/>
          </a:prstGeom>
          <a:noFill/>
        </p:spPr>
        <p:txBody>
          <a:bodyPr wrap="square">
            <a:spAutoFit/>
          </a:bodyPr>
          <a:lstStyle/>
          <a:p>
            <a:pPr algn="ctr"/>
            <a:r>
              <a:rPr sz="1300" b="0" i="0">
                <a:solidFill>
                  <a:srgbClr val="4B5A5E"/>
                </a:solidFill>
                <a:latin typeface="Calibri"/>
              </a:rPr>
              <a:t>[ Screenshot ]</a:t>
            </a:r>
          </a:p>
        </p:txBody>
      </p:sp>
      <p:sp>
        <p:nvSpPr>
          <p:cNvPr id="11" name="Rectangle 10"/>
          <p:cNvSpPr/>
          <p:nvPr/>
        </p:nvSpPr>
        <p:spPr>
          <a:xfrm>
            <a:off x="4279392" y="2057400"/>
            <a:ext cx="3566160" cy="2651760"/>
          </a:xfrm>
          <a:prstGeom prst="rect">
            <a:avLst/>
          </a:prstGeom>
          <a:solidFill>
            <a:srgbClr val="FFFFFF"/>
          </a:solidFill>
          <a:ln w="15875">
            <a:solidFill>
              <a:srgbClr val="DCE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79392" y="3246120"/>
            <a:ext cx="3566160" cy="365760"/>
          </a:xfrm>
          <a:prstGeom prst="rect">
            <a:avLst/>
          </a:prstGeom>
          <a:noFill/>
        </p:spPr>
        <p:txBody>
          <a:bodyPr wrap="square">
            <a:spAutoFit/>
          </a:bodyPr>
          <a:lstStyle/>
          <a:p>
            <a:pPr algn="ctr"/>
            <a:r>
              <a:rPr sz="1300" b="0" i="0">
                <a:solidFill>
                  <a:srgbClr val="4B5A5E"/>
                </a:solidFill>
                <a:latin typeface="Calibri"/>
              </a:rPr>
              <a:t>[ Screenshot ]</a:t>
            </a:r>
          </a:p>
        </p:txBody>
      </p:sp>
      <p:sp>
        <p:nvSpPr>
          <p:cNvPr id="13" name="Rectangle 12"/>
          <p:cNvSpPr/>
          <p:nvPr/>
        </p:nvSpPr>
        <p:spPr>
          <a:xfrm>
            <a:off x="7872983" y="2057400"/>
            <a:ext cx="3566160" cy="2651760"/>
          </a:xfrm>
          <a:prstGeom prst="rect">
            <a:avLst/>
          </a:prstGeom>
          <a:solidFill>
            <a:srgbClr val="FFFFFF"/>
          </a:solidFill>
          <a:ln w="15875">
            <a:solidFill>
              <a:srgbClr val="DCE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72983" y="3246120"/>
            <a:ext cx="3566160" cy="365760"/>
          </a:xfrm>
          <a:prstGeom prst="rect">
            <a:avLst/>
          </a:prstGeom>
          <a:noFill/>
        </p:spPr>
        <p:txBody>
          <a:bodyPr wrap="square">
            <a:spAutoFit/>
          </a:bodyPr>
          <a:lstStyle/>
          <a:p>
            <a:pPr algn="ctr"/>
            <a:r>
              <a:rPr sz="1300" b="0" i="0">
                <a:solidFill>
                  <a:srgbClr val="4B5A5E"/>
                </a:solidFill>
                <a:latin typeface="Calibri"/>
              </a:rPr>
              <a:t>[ Screenshot ]</a:t>
            </a:r>
          </a:p>
        </p:txBody>
      </p:sp>
      <p:sp>
        <p:nvSpPr>
          <p:cNvPr id="15" name="TextBox 14"/>
          <p:cNvSpPr txBox="1"/>
          <p:nvPr/>
        </p:nvSpPr>
        <p:spPr>
          <a:xfrm>
            <a:off x="685800" y="4892040"/>
            <a:ext cx="10789920" cy="1463040"/>
          </a:xfrm>
          <a:prstGeom prst="rect">
            <a:avLst/>
          </a:prstGeom>
          <a:noFill/>
        </p:spPr>
        <p:txBody>
          <a:bodyPr wrap="square">
            <a:spAutoFit/>
          </a:bodyPr>
          <a:lstStyle/>
          <a:p>
            <a:pPr>
              <a:lnSpc>
                <a:spcPct val="108000"/>
              </a:lnSpc>
              <a:spcAft>
                <a:spcPts val="1000"/>
              </a:spcAft>
            </a:pPr>
            <a:r>
              <a:rPr sz="1400">
                <a:solidFill>
                  <a:srgbClr val="121D21"/>
                </a:solidFill>
                <a:latin typeface="Calibri"/>
              </a:rPr>
              <a:t>•  A working system where debts and reminders no longer depend on anyone remembering.</a:t>
            </a:r>
          </a:p>
          <a:p>
            <a:pPr>
              <a:lnSpc>
                <a:spcPct val="108000"/>
              </a:lnSpc>
              <a:spcAft>
                <a:spcPts val="1000"/>
              </a:spcAft>
            </a:pPr>
            <a:r>
              <a:rPr sz="1400">
                <a:solidFill>
                  <a:srgbClr val="121D21"/>
                </a:solidFill>
                <a:latin typeface="Calibri"/>
              </a:rPr>
              <a:t>•  Automated SMS/email reminders replacing manual, ad-hoc follow-up calls.</a:t>
            </a:r>
          </a:p>
          <a:p>
            <a:pPr>
              <a:lnSpc>
                <a:spcPct val="108000"/>
              </a:lnSpc>
              <a:spcAft>
                <a:spcPts val="1000"/>
              </a:spcAft>
            </a:pPr>
            <a:r>
              <a:rPr sz="1400">
                <a:solidFill>
                  <a:srgbClr val="121D21"/>
                </a:solidFill>
                <a:latin typeface="Calibri"/>
              </a:rPr>
              <a:t>•  A single dashboard giving an at-a-glance view of everything a paper book could never show.</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AF9"/>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7315200" cy="320040"/>
          </a:xfrm>
          <a:prstGeom prst="rect">
            <a:avLst/>
          </a:prstGeom>
          <a:noFill/>
        </p:spPr>
        <p:txBody>
          <a:bodyPr wrap="square">
            <a:spAutoFit/>
          </a:bodyPr>
          <a:lstStyle/>
          <a:p>
            <a:pPr algn="l"/>
            <a:r>
              <a:rPr sz="1300" b="1" i="0">
                <a:solidFill>
                  <a:srgbClr val="E69A1F"/>
                </a:solidFill>
                <a:latin typeface="Calibri"/>
              </a:rPr>
              <a:t>CHAPTER FIVE</a:t>
            </a:r>
          </a:p>
        </p:txBody>
      </p:sp>
      <p:sp>
        <p:nvSpPr>
          <p:cNvPr id="4" name="TextBox 3"/>
          <p:cNvSpPr txBox="1"/>
          <p:nvPr/>
        </p:nvSpPr>
        <p:spPr>
          <a:xfrm>
            <a:off x="640080" y="621792"/>
            <a:ext cx="10515600" cy="731520"/>
          </a:xfrm>
          <a:prstGeom prst="rect">
            <a:avLst/>
          </a:prstGeom>
          <a:noFill/>
        </p:spPr>
        <p:txBody>
          <a:bodyPr wrap="square">
            <a:spAutoFit/>
          </a:bodyPr>
          <a:lstStyle/>
          <a:p>
            <a:pPr algn="l"/>
            <a:r>
              <a:rPr sz="3000" b="1" i="0">
                <a:solidFill>
                  <a:srgbClr val="121D21"/>
                </a:solidFill>
                <a:latin typeface="Calibri"/>
              </a:rPr>
              <a:t>Future Enhancements — Room to Grow</a:t>
            </a:r>
          </a:p>
        </p:txBody>
      </p:sp>
      <p:sp>
        <p:nvSpPr>
          <p:cNvPr id="5" name="Rectangle 4"/>
          <p:cNvSpPr/>
          <p:nvPr/>
        </p:nvSpPr>
        <p:spPr>
          <a:xfrm>
            <a:off x="658368" y="1298448"/>
            <a:ext cx="1005840" cy="4445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473952"/>
            <a:ext cx="5486400" cy="274320"/>
          </a:xfrm>
          <a:prstGeom prst="rect">
            <a:avLst/>
          </a:prstGeom>
          <a:noFill/>
        </p:spPr>
        <p:txBody>
          <a:bodyPr wrap="square">
            <a:spAutoFit/>
          </a:bodyPr>
          <a:lstStyle/>
          <a:p>
            <a:pPr algn="l"/>
            <a:r>
              <a:rPr sz="1000" b="0" i="0">
                <a:solidFill>
                  <a:srgbClr val="4B5A5E"/>
                </a:solidFill>
                <a:latin typeface="Calibri"/>
              </a:rPr>
              <a:t>KopaAlert — Stanley Murangiri</a:t>
            </a:r>
          </a:p>
        </p:txBody>
      </p:sp>
      <p:sp>
        <p:nvSpPr>
          <p:cNvPr id="7" name="TextBox 6"/>
          <p:cNvSpPr txBox="1"/>
          <p:nvPr/>
        </p:nvSpPr>
        <p:spPr>
          <a:xfrm>
            <a:off x="10972800" y="6473952"/>
            <a:ext cx="548640" cy="274320"/>
          </a:xfrm>
          <a:prstGeom prst="rect">
            <a:avLst/>
          </a:prstGeom>
          <a:noFill/>
        </p:spPr>
        <p:txBody>
          <a:bodyPr wrap="square">
            <a:spAutoFit/>
          </a:bodyPr>
          <a:lstStyle/>
          <a:p>
            <a:pPr algn="r"/>
            <a:r>
              <a:rPr sz="1000" b="0" i="0">
                <a:solidFill>
                  <a:srgbClr val="4B5A5E"/>
                </a:solidFill>
                <a:latin typeface="Calibri"/>
              </a:rPr>
              <a:t>19</a:t>
            </a:r>
          </a:p>
        </p:txBody>
      </p:sp>
      <p:sp>
        <p:nvSpPr>
          <p:cNvPr id="8" name="TextBox 7"/>
          <p:cNvSpPr txBox="1"/>
          <p:nvPr/>
        </p:nvSpPr>
        <p:spPr>
          <a:xfrm>
            <a:off x="685800" y="1554480"/>
            <a:ext cx="10789920" cy="411480"/>
          </a:xfrm>
          <a:prstGeom prst="rect">
            <a:avLst/>
          </a:prstGeom>
          <a:noFill/>
        </p:spPr>
        <p:txBody>
          <a:bodyPr wrap="square">
            <a:spAutoFit/>
          </a:bodyPr>
          <a:lstStyle/>
          <a:p>
            <a:pPr algn="l"/>
            <a:r>
              <a:rPr sz="1450" b="0" i="0">
                <a:solidFill>
                  <a:srgbClr val="4B5A5E"/>
                </a:solidFill>
                <a:latin typeface="Calibri"/>
              </a:rPr>
              <a:t>KopaAlert solves the core problem, but I have deliberately left room for the following future work:</a:t>
            </a:r>
          </a:p>
        </p:txBody>
      </p:sp>
      <p:sp>
        <p:nvSpPr>
          <p:cNvPr id="9" name="TextBox 8"/>
          <p:cNvSpPr txBox="1"/>
          <p:nvPr/>
        </p:nvSpPr>
        <p:spPr>
          <a:xfrm>
            <a:off x="685800" y="2103120"/>
            <a:ext cx="10789920" cy="4114800"/>
          </a:xfrm>
          <a:prstGeom prst="rect">
            <a:avLst/>
          </a:prstGeom>
          <a:noFill/>
        </p:spPr>
        <p:txBody>
          <a:bodyPr wrap="square">
            <a:spAutoFit/>
          </a:bodyPr>
          <a:lstStyle/>
          <a:p>
            <a:pPr>
              <a:lnSpc>
                <a:spcPct val="108000"/>
              </a:lnSpc>
              <a:spcAft>
                <a:spcPts val="1100"/>
              </a:spcAft>
            </a:pPr>
            <a:r>
              <a:rPr sz="1550">
                <a:solidFill>
                  <a:srgbClr val="121D21"/>
                </a:solidFill>
                <a:latin typeface="Calibri"/>
              </a:rPr>
              <a:t>•  M-Pesa STK Push integration, so a payment is detected and recorded automatically instead of being entered manually.</a:t>
            </a:r>
          </a:p>
          <a:p>
            <a:pPr>
              <a:lnSpc>
                <a:spcPct val="108000"/>
              </a:lnSpc>
              <a:spcAft>
                <a:spcPts val="1100"/>
              </a:spcAft>
            </a:pPr>
            <a:r>
              <a:rPr sz="1550">
                <a:solidFill>
                  <a:srgbClr val="121D21"/>
                </a:solidFill>
                <a:latin typeface="Calibri"/>
              </a:rPr>
              <a:t>•  WhatsApp reminders alongside SMS and email, for customers who prefer it.</a:t>
            </a:r>
          </a:p>
          <a:p>
            <a:pPr>
              <a:lnSpc>
                <a:spcPct val="108000"/>
              </a:lnSpc>
              <a:spcAft>
                <a:spcPts val="1100"/>
              </a:spcAft>
            </a:pPr>
            <a:r>
              <a:rPr sz="1550">
                <a:solidFill>
                  <a:srgbClr val="121D21"/>
                </a:solidFill>
                <a:latin typeface="Calibri"/>
              </a:rPr>
              <a:t>•  An offline-capable mobile app that syncs once network connectivity returns — directly addressing the network challenges I faced myself while building this system.</a:t>
            </a:r>
          </a:p>
          <a:p>
            <a:pPr>
              <a:lnSpc>
                <a:spcPct val="108000"/>
              </a:lnSpc>
              <a:spcAft>
                <a:spcPts val="1100"/>
              </a:spcAft>
            </a:pPr>
            <a:r>
              <a:rPr sz="1550">
                <a:solidFill>
                  <a:srgbClr val="121D21"/>
                </a:solidFill>
                <a:latin typeface="Calibri"/>
              </a:rPr>
              <a:t>•  AI-assisted credit-risk scoring, predicting which customers are likely to default before they do.</a:t>
            </a:r>
          </a:p>
          <a:p>
            <a:pPr>
              <a:lnSpc>
                <a:spcPct val="108000"/>
              </a:lnSpc>
              <a:spcAft>
                <a:spcPts val="1100"/>
              </a:spcAft>
            </a:pPr>
            <a:r>
              <a:rPr sz="1550">
                <a:solidFill>
                  <a:srgbClr val="121D21"/>
                </a:solidFill>
                <a:latin typeface="Calibri"/>
              </a:rPr>
              <a:t>•  Voice-call reminders for customers without reliable access to SMS or a smartphone.</a:t>
            </a:r>
          </a:p>
          <a:p>
            <a:pPr>
              <a:lnSpc>
                <a:spcPct val="108000"/>
              </a:lnSpc>
              <a:spcAft>
                <a:spcPts val="1100"/>
              </a:spcAft>
            </a:pPr>
            <a:r>
              <a:rPr sz="1550">
                <a:solidFill>
                  <a:srgbClr val="121D21"/>
                </a:solidFill>
                <a:latin typeface="Calibri"/>
              </a:rPr>
              <a:t>•  Multi-currency and multi-country support, to extend KopaAlert beyond Kenya.</a:t>
            </a:r>
          </a:p>
          <a:p>
            <a:pPr>
              <a:lnSpc>
                <a:spcPct val="108000"/>
              </a:lnSpc>
              <a:spcAft>
                <a:spcPts val="1100"/>
              </a:spcAft>
            </a:pPr>
            <a:r>
              <a:rPr sz="1550">
                <a:solidFill>
                  <a:srgbClr val="121D21"/>
                </a:solidFill>
                <a:latin typeface="Calibri"/>
              </a:rPr>
              <a:t>•  Inventory and point-of-sale integration, connecting what was sold to what is owed.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FAF9"/>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7315200" cy="320040"/>
          </a:xfrm>
          <a:prstGeom prst="rect">
            <a:avLst/>
          </a:prstGeom>
          <a:noFill/>
        </p:spPr>
        <p:txBody>
          <a:bodyPr wrap="square">
            <a:spAutoFit/>
          </a:bodyPr>
          <a:lstStyle/>
          <a:p>
            <a:pPr algn="l"/>
            <a:r>
              <a:rPr sz="1300" b="1" i="0">
                <a:solidFill>
                  <a:srgbClr val="E69A1F"/>
                </a:solidFill>
                <a:latin typeface="Calibri"/>
              </a:rPr>
              <a:t>CHAPTER FIVE</a:t>
            </a:r>
          </a:p>
        </p:txBody>
      </p:sp>
      <p:sp>
        <p:nvSpPr>
          <p:cNvPr id="4" name="TextBox 3"/>
          <p:cNvSpPr txBox="1"/>
          <p:nvPr/>
        </p:nvSpPr>
        <p:spPr>
          <a:xfrm>
            <a:off x="640080" y="621792"/>
            <a:ext cx="10515600" cy="731520"/>
          </a:xfrm>
          <a:prstGeom prst="rect">
            <a:avLst/>
          </a:prstGeom>
          <a:noFill/>
        </p:spPr>
        <p:txBody>
          <a:bodyPr wrap="square">
            <a:spAutoFit/>
          </a:bodyPr>
          <a:lstStyle/>
          <a:p>
            <a:pPr algn="l"/>
            <a:r>
              <a:rPr sz="3000" b="1" i="0">
                <a:solidFill>
                  <a:srgbClr val="121D21"/>
                </a:solidFill>
                <a:latin typeface="Calibri"/>
              </a:rPr>
              <a:t>Conclusion</a:t>
            </a:r>
          </a:p>
        </p:txBody>
      </p:sp>
      <p:sp>
        <p:nvSpPr>
          <p:cNvPr id="5" name="Rectangle 4"/>
          <p:cNvSpPr/>
          <p:nvPr/>
        </p:nvSpPr>
        <p:spPr>
          <a:xfrm>
            <a:off x="658368" y="1298448"/>
            <a:ext cx="1005840" cy="4445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473952"/>
            <a:ext cx="5486400" cy="274320"/>
          </a:xfrm>
          <a:prstGeom prst="rect">
            <a:avLst/>
          </a:prstGeom>
          <a:noFill/>
        </p:spPr>
        <p:txBody>
          <a:bodyPr wrap="square">
            <a:spAutoFit/>
          </a:bodyPr>
          <a:lstStyle/>
          <a:p>
            <a:pPr algn="l"/>
            <a:r>
              <a:rPr sz="1000" b="0" i="0">
                <a:solidFill>
                  <a:srgbClr val="4B5A5E"/>
                </a:solidFill>
                <a:latin typeface="Calibri"/>
              </a:rPr>
              <a:t>KopaAlert — Stanley Murangiri</a:t>
            </a:r>
          </a:p>
        </p:txBody>
      </p:sp>
      <p:sp>
        <p:nvSpPr>
          <p:cNvPr id="7" name="TextBox 6"/>
          <p:cNvSpPr txBox="1"/>
          <p:nvPr/>
        </p:nvSpPr>
        <p:spPr>
          <a:xfrm>
            <a:off x="10972800" y="6473952"/>
            <a:ext cx="548640" cy="274320"/>
          </a:xfrm>
          <a:prstGeom prst="rect">
            <a:avLst/>
          </a:prstGeom>
          <a:noFill/>
        </p:spPr>
        <p:txBody>
          <a:bodyPr wrap="square">
            <a:spAutoFit/>
          </a:bodyPr>
          <a:lstStyle/>
          <a:p>
            <a:pPr algn="r"/>
            <a:r>
              <a:rPr sz="1000" b="0" i="0">
                <a:solidFill>
                  <a:srgbClr val="4B5A5E"/>
                </a:solidFill>
                <a:latin typeface="Calibri"/>
              </a:rPr>
              <a:t>20</a:t>
            </a:r>
          </a:p>
        </p:txBody>
      </p:sp>
      <p:sp>
        <p:nvSpPr>
          <p:cNvPr id="8" name="Rectangle 7"/>
          <p:cNvSpPr/>
          <p:nvPr/>
        </p:nvSpPr>
        <p:spPr>
          <a:xfrm>
            <a:off x="685800" y="1600200"/>
            <a:ext cx="10789920" cy="4480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600200"/>
            <a:ext cx="10789920" cy="7315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874519"/>
            <a:ext cx="10149840" cy="4023360"/>
          </a:xfrm>
          <a:prstGeom prst="rect">
            <a:avLst/>
          </a:prstGeom>
          <a:noFill/>
        </p:spPr>
        <p:txBody>
          <a:bodyPr wrap="square">
            <a:spAutoFit/>
          </a:bodyPr>
          <a:lstStyle/>
          <a:p>
            <a:pPr>
              <a:lnSpc>
                <a:spcPct val="118000"/>
              </a:lnSpc>
              <a:spcAft>
                <a:spcPts val="1200"/>
              </a:spcAft>
            </a:pPr>
            <a:r>
              <a:rPr sz="1550">
                <a:solidFill>
                  <a:srgbClr val="121D21"/>
                </a:solidFill>
                <a:latin typeface="Calibri"/>
              </a:rPr>
              <a:t>KopaAlert started from a problem I did not have to imagine — I watched it happen in a real business, week after week, as debts went unrecorded and customers went unreminded. Building a system to close that gap took me through every stage of real software development: identifying a genuine problem, designing a data model and architecture around it, writing and testing code under real constraints, and confronting the practical obstacles — hardware, power, network, time, and money — that every developer eventually meets outside the classroom.</a:t>
            </a:r>
          </a:p>
          <a:p>
            <a:pPr>
              <a:lnSpc>
                <a:spcPct val="118000"/>
              </a:lnSpc>
              <a:spcAft>
                <a:spcPts val="1200"/>
              </a:spcAft>
            </a:pPr>
            <a:r>
              <a:rPr sz="1550">
                <a:solidFill>
                  <a:srgbClr val="121D21"/>
                </a:solidFill>
                <a:latin typeface="Calibri"/>
              </a:rPr>
              <a:t>The result is a system that does what the exercise book never could: it remembers, every time, for every customer, without being asked. I consider that the central achievement of this project, and the foundation I intend to keep building 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AF9"/>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7315200" cy="320040"/>
          </a:xfrm>
          <a:prstGeom prst="rect">
            <a:avLst/>
          </a:prstGeom>
          <a:noFill/>
        </p:spPr>
        <p:txBody>
          <a:bodyPr wrap="square">
            <a:spAutoFit/>
          </a:bodyPr>
          <a:lstStyle/>
          <a:p>
            <a:pPr algn="l"/>
            <a:r>
              <a:rPr sz="1300" b="1" i="0">
                <a:solidFill>
                  <a:srgbClr val="E69A1F"/>
                </a:solidFill>
                <a:latin typeface="Calibri"/>
              </a:rPr>
              <a:t>BACK MATTER</a:t>
            </a:r>
          </a:p>
        </p:txBody>
      </p:sp>
      <p:sp>
        <p:nvSpPr>
          <p:cNvPr id="4" name="TextBox 3"/>
          <p:cNvSpPr txBox="1"/>
          <p:nvPr/>
        </p:nvSpPr>
        <p:spPr>
          <a:xfrm>
            <a:off x="640080" y="621792"/>
            <a:ext cx="10515600" cy="731520"/>
          </a:xfrm>
          <a:prstGeom prst="rect">
            <a:avLst/>
          </a:prstGeom>
          <a:noFill/>
        </p:spPr>
        <p:txBody>
          <a:bodyPr wrap="square">
            <a:spAutoFit/>
          </a:bodyPr>
          <a:lstStyle/>
          <a:p>
            <a:pPr algn="l"/>
            <a:r>
              <a:rPr sz="3000" b="1" i="0">
                <a:solidFill>
                  <a:srgbClr val="121D21"/>
                </a:solidFill>
                <a:latin typeface="Calibri"/>
              </a:rPr>
              <a:t>References</a:t>
            </a:r>
          </a:p>
        </p:txBody>
      </p:sp>
      <p:sp>
        <p:nvSpPr>
          <p:cNvPr id="5" name="Rectangle 4"/>
          <p:cNvSpPr/>
          <p:nvPr/>
        </p:nvSpPr>
        <p:spPr>
          <a:xfrm>
            <a:off x="658368" y="1298448"/>
            <a:ext cx="1005840" cy="4445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473952"/>
            <a:ext cx="5486400" cy="274320"/>
          </a:xfrm>
          <a:prstGeom prst="rect">
            <a:avLst/>
          </a:prstGeom>
          <a:noFill/>
        </p:spPr>
        <p:txBody>
          <a:bodyPr wrap="square">
            <a:spAutoFit/>
          </a:bodyPr>
          <a:lstStyle/>
          <a:p>
            <a:pPr algn="l"/>
            <a:r>
              <a:rPr sz="1000" b="0" i="0">
                <a:solidFill>
                  <a:srgbClr val="4B5A5E"/>
                </a:solidFill>
                <a:latin typeface="Calibri"/>
              </a:rPr>
              <a:t>KopaAlert — Stanley Murangiri</a:t>
            </a:r>
          </a:p>
        </p:txBody>
      </p:sp>
      <p:sp>
        <p:nvSpPr>
          <p:cNvPr id="7" name="TextBox 6"/>
          <p:cNvSpPr txBox="1"/>
          <p:nvPr/>
        </p:nvSpPr>
        <p:spPr>
          <a:xfrm>
            <a:off x="10972800" y="6473952"/>
            <a:ext cx="548640" cy="274320"/>
          </a:xfrm>
          <a:prstGeom prst="rect">
            <a:avLst/>
          </a:prstGeom>
          <a:noFill/>
        </p:spPr>
        <p:txBody>
          <a:bodyPr wrap="square">
            <a:spAutoFit/>
          </a:bodyPr>
          <a:lstStyle/>
          <a:p>
            <a:pPr algn="r"/>
            <a:r>
              <a:rPr sz="1000" b="0" i="0">
                <a:solidFill>
                  <a:srgbClr val="4B5A5E"/>
                </a:solidFill>
                <a:latin typeface="Calibri"/>
              </a:rPr>
              <a:t>21</a:t>
            </a:r>
          </a:p>
        </p:txBody>
      </p:sp>
      <p:sp>
        <p:nvSpPr>
          <p:cNvPr id="8" name="Rectangle 7"/>
          <p:cNvSpPr/>
          <p:nvPr/>
        </p:nvSpPr>
        <p:spPr>
          <a:xfrm>
            <a:off x="685800" y="1600200"/>
            <a:ext cx="10789920" cy="4114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20240"/>
            <a:ext cx="10058400" cy="3474720"/>
          </a:xfrm>
          <a:prstGeom prst="rect">
            <a:avLst/>
          </a:prstGeom>
          <a:noFill/>
        </p:spPr>
        <p:txBody>
          <a:bodyPr wrap="square">
            <a:spAutoFit/>
          </a:bodyPr>
          <a:lstStyle/>
          <a:p>
            <a:pPr algn="l">
              <a:lnSpc>
                <a:spcPct val="130000"/>
              </a:lnSpc>
            </a:pPr>
            <a:r>
              <a:rPr sz="1400" b="0" i="1">
                <a:solidFill>
                  <a:srgbClr val="4B5A5E"/>
                </a:solidFill>
                <a:latin typeface="Calibri"/>
              </a:rPr>
              <a:t>[Add the textbooks, journal articles, official documentation, and websites you cited in your full project report here, formatted in the citation style your institution requires (e.g. APA). Suggested items to include:
  •  Next.js official documentation
  •  Supabase official documentation (Postgres, Auth, Row Level Security)
  •  Africa's Talking API documentation
  •  Resend API documentation
  •  Any software engineering / systems analysis and design textbook used in your course
  •  Any journal articles on SME credit management or fintech in Kenya you reference]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21D21"/>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93408"/>
            <a:ext cx="12191695" cy="164592"/>
          </a:xfrm>
          <a:prstGeom prst="rect">
            <a:avLst/>
          </a:prstGeom>
          <a:solidFill>
            <a:srgbClr val="E6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651760"/>
            <a:ext cx="10515600" cy="1097280"/>
          </a:xfrm>
          <a:prstGeom prst="rect">
            <a:avLst/>
          </a:prstGeom>
          <a:noFill/>
        </p:spPr>
        <p:txBody>
          <a:bodyPr wrap="square">
            <a:spAutoFit/>
          </a:bodyPr>
          <a:lstStyle/>
          <a:p>
            <a:pPr algn="l"/>
            <a:r>
              <a:rPr sz="5400" b="1" i="0">
                <a:solidFill>
                  <a:srgbClr val="FFFFFF"/>
                </a:solidFill>
                <a:latin typeface="Calibri"/>
              </a:rPr>
              <a:t>Thank You</a:t>
            </a:r>
          </a:p>
        </p:txBody>
      </p:sp>
      <p:sp>
        <p:nvSpPr>
          <p:cNvPr id="5" name="TextBox 4"/>
          <p:cNvSpPr txBox="1"/>
          <p:nvPr/>
        </p:nvSpPr>
        <p:spPr>
          <a:xfrm>
            <a:off x="822960" y="3703320"/>
            <a:ext cx="10515600" cy="548640"/>
          </a:xfrm>
          <a:prstGeom prst="rect">
            <a:avLst/>
          </a:prstGeom>
          <a:noFill/>
        </p:spPr>
        <p:txBody>
          <a:bodyPr wrap="square">
            <a:spAutoFit/>
          </a:bodyPr>
          <a:lstStyle/>
          <a:p>
            <a:pPr algn="l"/>
            <a:r>
              <a:rPr sz="2000" b="0" i="0">
                <a:solidFill>
                  <a:srgbClr val="CFE3E0"/>
                </a:solidFill>
                <a:latin typeface="Calibri"/>
              </a:rPr>
              <a:t>Questions and Discussion</a:t>
            </a:r>
          </a:p>
        </p:txBody>
      </p:sp>
      <p:sp>
        <p:nvSpPr>
          <p:cNvPr id="6" name="TextBox 5"/>
          <p:cNvSpPr txBox="1"/>
          <p:nvPr/>
        </p:nvSpPr>
        <p:spPr>
          <a:xfrm>
            <a:off x="822960" y="4663440"/>
            <a:ext cx="10515600" cy="365760"/>
          </a:xfrm>
          <a:prstGeom prst="rect">
            <a:avLst/>
          </a:prstGeom>
          <a:noFill/>
        </p:spPr>
        <p:txBody>
          <a:bodyPr wrap="square">
            <a:spAutoFit/>
          </a:bodyPr>
          <a:lstStyle/>
          <a:p>
            <a:pPr algn="l"/>
            <a:r>
              <a:rPr sz="1500" b="1" i="0">
                <a:solidFill>
                  <a:srgbClr val="E69A1F"/>
                </a:solidFill>
                <a:latin typeface="Calibri"/>
              </a:rPr>
              <a:t>Stanley Murangiri  —  Mama Ngina University College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
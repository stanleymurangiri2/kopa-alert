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7" r:id="rId23"/>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1D21"/>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3408"/>
            <a:ext cx="12191695" cy="164592"/>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51560"/>
            <a:ext cx="9144000" cy="457200"/>
          </a:xfrm>
          <a:prstGeom prst="rect">
            <a:avLst/>
          </a:prstGeom>
          <a:noFill/>
        </p:spPr>
        <p:txBody>
          <a:bodyPr wrap="square">
            <a:spAutoFit/>
          </a:bodyPr>
          <a:lstStyle/>
          <a:p>
            <a:pPr algn="l"/>
            <a:r>
              <a:rPr sz="1500" b="1" i="0">
                <a:solidFill>
                  <a:srgbClr val="E69A1F"/>
                </a:solidFill>
                <a:latin typeface="Calibri" panose="020F0502020204030204"/>
              </a:rPr>
              <a:t>FINAL YEAR PROJECT DOCUMENTATION</a:t>
            </a:r>
            <a:endParaRPr sz="1500" b="1" i="0">
              <a:solidFill>
                <a:srgbClr val="E69A1F"/>
              </a:solidFill>
              <a:latin typeface="Calibri" panose="020F0502020204030204"/>
            </a:endParaRPr>
          </a:p>
        </p:txBody>
      </p:sp>
      <p:sp>
        <p:nvSpPr>
          <p:cNvPr id="5" name="TextBox 4"/>
          <p:cNvSpPr txBox="1"/>
          <p:nvPr/>
        </p:nvSpPr>
        <p:spPr>
          <a:xfrm>
            <a:off x="777240" y="1600200"/>
            <a:ext cx="10515600" cy="1737360"/>
          </a:xfrm>
          <a:prstGeom prst="rect">
            <a:avLst/>
          </a:prstGeom>
          <a:noFill/>
        </p:spPr>
        <p:txBody>
          <a:bodyPr wrap="square">
            <a:spAutoFit/>
          </a:bodyPr>
          <a:lstStyle/>
          <a:p>
            <a:pPr algn="l"/>
            <a:r>
              <a:rPr sz="6400" b="1" i="0">
                <a:solidFill>
                  <a:srgbClr val="FFFFFF"/>
                </a:solidFill>
                <a:latin typeface="Calibri" panose="020F0502020204030204"/>
              </a:rPr>
              <a:t>KopaAlert</a:t>
            </a:r>
            <a:endParaRPr sz="6400" b="1" i="0">
              <a:solidFill>
                <a:srgbClr val="FFFFFF"/>
              </a:solidFill>
              <a:latin typeface="Calibri" panose="020F0502020204030204"/>
            </a:endParaRPr>
          </a:p>
        </p:txBody>
      </p:sp>
      <p:sp>
        <p:nvSpPr>
          <p:cNvPr id="6" name="TextBox 5"/>
          <p:cNvSpPr txBox="1"/>
          <p:nvPr/>
        </p:nvSpPr>
        <p:spPr>
          <a:xfrm>
            <a:off x="822960" y="2880360"/>
            <a:ext cx="10058400" cy="914400"/>
          </a:xfrm>
          <a:prstGeom prst="rect">
            <a:avLst/>
          </a:prstGeom>
          <a:noFill/>
        </p:spPr>
        <p:txBody>
          <a:bodyPr wrap="square">
            <a:spAutoFit/>
          </a:bodyPr>
          <a:lstStyle/>
          <a:p>
            <a:pPr algn="l"/>
            <a:r>
              <a:rPr sz="2200" b="0" i="0">
                <a:solidFill>
                  <a:srgbClr val="CFE3E0"/>
                </a:solidFill>
                <a:latin typeface="Calibri" panose="020F0502020204030204"/>
              </a:rPr>
              <a:t>An Automated Debt-Tracking and SMS/Email Payment-Reminder
System for Small Businesses</a:t>
            </a:r>
            <a:endParaRPr sz="2200" b="0" i="0">
              <a:solidFill>
                <a:srgbClr val="CFE3E0"/>
              </a:solidFill>
              <a:latin typeface="Calibri" panose="020F0502020204030204"/>
            </a:endParaRPr>
          </a:p>
        </p:txBody>
      </p:sp>
      <p:sp>
        <p:nvSpPr>
          <p:cNvPr id="7" name="Rectangle 6"/>
          <p:cNvSpPr/>
          <p:nvPr/>
        </p:nvSpPr>
        <p:spPr>
          <a:xfrm>
            <a:off x="822960" y="3977639"/>
            <a:ext cx="3840480" cy="317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251960"/>
            <a:ext cx="2377440" cy="320040"/>
          </a:xfrm>
          <a:prstGeom prst="rect">
            <a:avLst/>
          </a:prstGeom>
          <a:noFill/>
        </p:spPr>
        <p:txBody>
          <a:bodyPr wrap="square">
            <a:spAutoFit/>
          </a:bodyPr>
          <a:lstStyle/>
          <a:p>
            <a:pPr algn="l"/>
            <a:r>
              <a:rPr sz="1300" b="1" i="0">
                <a:solidFill>
                  <a:srgbClr val="E69A1F"/>
                </a:solidFill>
                <a:latin typeface="Calibri" panose="020F0502020204030204"/>
              </a:rPr>
              <a:t>Prepared by</a:t>
            </a:r>
            <a:endParaRPr sz="1300" b="1" i="0">
              <a:solidFill>
                <a:srgbClr val="E69A1F"/>
              </a:solidFill>
              <a:latin typeface="Calibri" panose="020F0502020204030204"/>
            </a:endParaRPr>
          </a:p>
        </p:txBody>
      </p:sp>
      <p:sp>
        <p:nvSpPr>
          <p:cNvPr id="9" name="TextBox 8"/>
          <p:cNvSpPr txBox="1"/>
          <p:nvPr/>
        </p:nvSpPr>
        <p:spPr>
          <a:xfrm>
            <a:off x="3291840" y="4251960"/>
            <a:ext cx="7863840" cy="365760"/>
          </a:xfrm>
          <a:prstGeom prst="rect">
            <a:avLst/>
          </a:prstGeom>
          <a:noFill/>
        </p:spPr>
        <p:txBody>
          <a:bodyPr wrap="square">
            <a:spAutoFit/>
          </a:bodyPr>
          <a:lstStyle/>
          <a:p>
            <a:pPr algn="l"/>
            <a:r>
              <a:rPr sz="1300" b="0" i="0">
                <a:solidFill>
                  <a:srgbClr val="FFFFFF"/>
                </a:solidFill>
                <a:latin typeface="Calibri" panose="020F0502020204030204"/>
              </a:rPr>
              <a:t>Stanley Murangiri</a:t>
            </a:r>
            <a:endParaRPr sz="1300" b="0" i="0">
              <a:solidFill>
                <a:srgbClr val="FFFFFF"/>
              </a:solidFill>
              <a:latin typeface="Calibri" panose="020F0502020204030204"/>
            </a:endParaRPr>
          </a:p>
        </p:txBody>
      </p:sp>
      <p:sp>
        <p:nvSpPr>
          <p:cNvPr id="10" name="TextBox 9"/>
          <p:cNvSpPr txBox="1"/>
          <p:nvPr/>
        </p:nvSpPr>
        <p:spPr>
          <a:xfrm>
            <a:off x="822960" y="4599432"/>
            <a:ext cx="2377440" cy="320040"/>
          </a:xfrm>
          <a:prstGeom prst="rect">
            <a:avLst/>
          </a:prstGeom>
          <a:noFill/>
        </p:spPr>
        <p:txBody>
          <a:bodyPr wrap="square">
            <a:spAutoFit/>
          </a:bodyPr>
          <a:lstStyle/>
          <a:p>
            <a:pPr algn="l"/>
            <a:r>
              <a:rPr sz="1300" b="1" i="0">
                <a:solidFill>
                  <a:srgbClr val="E69A1F"/>
                </a:solidFill>
                <a:latin typeface="Calibri" panose="020F0502020204030204"/>
              </a:rPr>
              <a:t>Institution</a:t>
            </a:r>
            <a:endParaRPr sz="1300" b="1" i="0">
              <a:solidFill>
                <a:srgbClr val="E69A1F"/>
              </a:solidFill>
              <a:latin typeface="Calibri" panose="020F0502020204030204"/>
            </a:endParaRPr>
          </a:p>
        </p:txBody>
      </p:sp>
      <p:sp>
        <p:nvSpPr>
          <p:cNvPr id="11" name="TextBox 10"/>
          <p:cNvSpPr txBox="1"/>
          <p:nvPr/>
        </p:nvSpPr>
        <p:spPr>
          <a:xfrm>
            <a:off x="3291840" y="4599432"/>
            <a:ext cx="7863840" cy="365760"/>
          </a:xfrm>
          <a:prstGeom prst="rect">
            <a:avLst/>
          </a:prstGeom>
          <a:noFill/>
        </p:spPr>
        <p:txBody>
          <a:bodyPr wrap="square">
            <a:spAutoFit/>
          </a:bodyPr>
          <a:lstStyle/>
          <a:p>
            <a:pPr algn="l"/>
            <a:r>
              <a:rPr sz="1300" b="0" i="0">
                <a:solidFill>
                  <a:srgbClr val="FFFFFF"/>
                </a:solidFill>
                <a:latin typeface="Calibri" panose="020F0502020204030204"/>
              </a:rPr>
              <a:t>Mama Ngina University College</a:t>
            </a:r>
            <a:endParaRPr sz="1300" b="0" i="0">
              <a:solidFill>
                <a:srgbClr val="FFFFFF"/>
              </a:solidFill>
              <a:latin typeface="Calibri" panose="020F0502020204030204"/>
            </a:endParaRPr>
          </a:p>
        </p:txBody>
      </p:sp>
      <p:sp>
        <p:nvSpPr>
          <p:cNvPr id="12" name="TextBox 11"/>
          <p:cNvSpPr txBox="1"/>
          <p:nvPr/>
        </p:nvSpPr>
        <p:spPr>
          <a:xfrm>
            <a:off x="822960" y="4946904"/>
            <a:ext cx="2377440" cy="320040"/>
          </a:xfrm>
          <a:prstGeom prst="rect">
            <a:avLst/>
          </a:prstGeom>
          <a:noFill/>
        </p:spPr>
        <p:txBody>
          <a:bodyPr wrap="square">
            <a:spAutoFit/>
          </a:bodyPr>
          <a:lstStyle/>
          <a:p>
            <a:pPr algn="l"/>
            <a:r>
              <a:rPr sz="1300" b="1" i="0">
                <a:solidFill>
                  <a:srgbClr val="E69A1F"/>
                </a:solidFill>
                <a:latin typeface="Calibri" panose="020F0502020204030204"/>
              </a:rPr>
              <a:t>Programme</a:t>
            </a:r>
            <a:endParaRPr sz="1300" b="1" i="0">
              <a:solidFill>
                <a:srgbClr val="E69A1F"/>
              </a:solidFill>
              <a:latin typeface="Calibri" panose="020F0502020204030204"/>
            </a:endParaRPr>
          </a:p>
        </p:txBody>
      </p:sp>
      <p:sp>
        <p:nvSpPr>
          <p:cNvPr id="13" name="TextBox 12"/>
          <p:cNvSpPr txBox="1"/>
          <p:nvPr/>
        </p:nvSpPr>
        <p:spPr>
          <a:xfrm>
            <a:off x="3291840" y="4946904"/>
            <a:ext cx="7863840" cy="291465"/>
          </a:xfrm>
          <a:prstGeom prst="rect">
            <a:avLst/>
          </a:prstGeom>
          <a:noFill/>
        </p:spPr>
        <p:txBody>
          <a:bodyPr wrap="square">
            <a:spAutoFit/>
          </a:bodyPr>
          <a:lstStyle/>
          <a:p>
            <a:pPr algn="l"/>
            <a:r>
              <a:rPr lang="en-US" sz="1300" b="0" i="0">
                <a:solidFill>
                  <a:srgbClr val="FFFFFF"/>
                </a:solidFill>
                <a:latin typeface="Calibri" panose="020F0502020204030204"/>
              </a:rPr>
              <a:t>Compuet scince</a:t>
            </a:r>
            <a:endParaRPr lang="en-US" sz="1300" b="0" i="0">
              <a:solidFill>
                <a:srgbClr val="FFFFFF"/>
              </a:solidFill>
              <a:latin typeface="Calibri" panose="020F0502020204030204"/>
            </a:endParaRPr>
          </a:p>
        </p:txBody>
      </p:sp>
      <p:sp>
        <p:nvSpPr>
          <p:cNvPr id="14" name="TextBox 13"/>
          <p:cNvSpPr txBox="1"/>
          <p:nvPr/>
        </p:nvSpPr>
        <p:spPr>
          <a:xfrm>
            <a:off x="822960" y="5294376"/>
            <a:ext cx="2377440" cy="320040"/>
          </a:xfrm>
          <a:prstGeom prst="rect">
            <a:avLst/>
          </a:prstGeom>
          <a:noFill/>
        </p:spPr>
        <p:txBody>
          <a:bodyPr wrap="square">
            <a:spAutoFit/>
          </a:bodyPr>
          <a:lstStyle/>
          <a:p>
            <a:pPr algn="l"/>
            <a:r>
              <a:rPr sz="1300" b="1" i="0">
                <a:solidFill>
                  <a:srgbClr val="E69A1F"/>
                </a:solidFill>
                <a:latin typeface="Calibri" panose="020F0502020204030204"/>
              </a:rPr>
              <a:t>Registration No.</a:t>
            </a:r>
            <a:endParaRPr sz="1300" b="1" i="0">
              <a:solidFill>
                <a:srgbClr val="E69A1F"/>
              </a:solidFill>
              <a:latin typeface="Calibri" panose="020F0502020204030204"/>
            </a:endParaRPr>
          </a:p>
        </p:txBody>
      </p:sp>
      <p:sp>
        <p:nvSpPr>
          <p:cNvPr id="15" name="TextBox 14"/>
          <p:cNvSpPr txBox="1"/>
          <p:nvPr/>
        </p:nvSpPr>
        <p:spPr>
          <a:xfrm>
            <a:off x="3291840" y="5294376"/>
            <a:ext cx="7863840" cy="291465"/>
          </a:xfrm>
          <a:prstGeom prst="rect">
            <a:avLst/>
          </a:prstGeom>
          <a:noFill/>
        </p:spPr>
        <p:txBody>
          <a:bodyPr wrap="square">
            <a:spAutoFit/>
          </a:bodyPr>
          <a:lstStyle/>
          <a:p>
            <a:pPr algn="l"/>
            <a:r>
              <a:rPr lang="en-US" sz="1300" b="0" i="0">
                <a:solidFill>
                  <a:srgbClr val="FFFFFF"/>
                </a:solidFill>
                <a:latin typeface="Calibri" panose="020F0502020204030204"/>
              </a:rPr>
              <a:t>P01/0328/2023</a:t>
            </a:r>
            <a:endParaRPr lang="en-US" sz="1300" b="0" i="0">
              <a:solidFill>
                <a:srgbClr val="FFFFFF"/>
              </a:solidFill>
              <a:latin typeface="Calibri" panose="020F050202020403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ROADMAP</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Table of Contents</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2</a:t>
            </a:r>
            <a:endParaRPr sz="1000" b="0" i="0">
              <a:solidFill>
                <a:srgbClr val="4B5A5E"/>
              </a:solidFill>
              <a:latin typeface="Calibri" panose="020F0502020204030204"/>
            </a:endParaRPr>
          </a:p>
        </p:txBody>
      </p:sp>
      <p:sp>
        <p:nvSpPr>
          <p:cNvPr id="8" name="TextBox 7"/>
          <p:cNvSpPr txBox="1"/>
          <p:nvPr/>
        </p:nvSpPr>
        <p:spPr>
          <a:xfrm>
            <a:off x="731520" y="1691640"/>
            <a:ext cx="5212080" cy="4572000"/>
          </a:xfrm>
          <a:prstGeom prst="rect">
            <a:avLst/>
          </a:prstGeom>
          <a:noFill/>
        </p:spPr>
        <p:txBody>
          <a:bodyPr wrap="square">
            <a:spAutoFit/>
          </a:bodyPr>
          <a:lstStyle/>
          <a:p>
            <a:pPr>
              <a:lnSpc>
                <a:spcPct val="108000"/>
              </a:lnSpc>
              <a:spcAft>
                <a:spcPts val="1600"/>
              </a:spcAft>
            </a:pPr>
            <a:r>
              <a:rPr sz="1700">
                <a:solidFill>
                  <a:srgbClr val="121D21"/>
                </a:solidFill>
                <a:latin typeface="Calibri" panose="020F0502020204030204"/>
              </a:rPr>
              <a:t>•  1. Abstract</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2. Introduction / Background</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3. Problem Statement — The Gap I Identified</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4. Objectives</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5. Vision</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6. Scope of the Project</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7. Significance of the Study</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8. Technology Stack</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9. System Architecture — Developer View</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10. System Architecture — User View</a:t>
            </a:r>
            <a:endParaRPr sz="1700">
              <a:solidFill>
                <a:srgbClr val="121D21"/>
              </a:solidFill>
              <a:latin typeface="Calibri" panose="020F0502020204030204"/>
            </a:endParaRPr>
          </a:p>
        </p:txBody>
      </p:sp>
      <p:sp>
        <p:nvSpPr>
          <p:cNvPr id="9" name="TextBox 8"/>
          <p:cNvSpPr txBox="1"/>
          <p:nvPr/>
        </p:nvSpPr>
        <p:spPr>
          <a:xfrm>
            <a:off x="6309360" y="1691640"/>
            <a:ext cx="5212080" cy="4572000"/>
          </a:xfrm>
          <a:prstGeom prst="rect">
            <a:avLst/>
          </a:prstGeom>
          <a:noFill/>
        </p:spPr>
        <p:txBody>
          <a:bodyPr wrap="square">
            <a:spAutoFit/>
          </a:bodyPr>
          <a:lstStyle/>
          <a:p>
            <a:pPr>
              <a:lnSpc>
                <a:spcPct val="108000"/>
              </a:lnSpc>
              <a:spcAft>
                <a:spcPts val="1600"/>
              </a:spcAft>
            </a:pPr>
            <a:r>
              <a:rPr sz="1700">
                <a:solidFill>
                  <a:srgbClr val="121D21"/>
                </a:solidFill>
                <a:latin typeface="Calibri" panose="020F0502020204030204"/>
              </a:rPr>
              <a:t>•  11. Core Modules and Features</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12. Database Design Overview</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13. Methodology</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14. Challenges Encountered</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15. Testing and Quality Assurance</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16. Results and Outcomes</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17. Future Enhancements</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18. Conclusion</a:t>
            </a:r>
            <a:endParaRPr sz="1700">
              <a:solidFill>
                <a:srgbClr val="121D21"/>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OVERVIEW</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Abstract</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3</a:t>
            </a:r>
            <a:endParaRPr sz="1000" b="0" i="0">
              <a:solidFill>
                <a:srgbClr val="4B5A5E"/>
              </a:solidFill>
              <a:latin typeface="Calibri" panose="020F0502020204030204"/>
            </a:endParaRPr>
          </a:p>
        </p:txBody>
      </p:sp>
      <p:sp>
        <p:nvSpPr>
          <p:cNvPr id="8" name="Rectangle 7"/>
          <p:cNvSpPr/>
          <p:nvPr/>
        </p:nvSpPr>
        <p:spPr>
          <a:xfrm>
            <a:off x="685800" y="1600200"/>
            <a:ext cx="1078992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600200"/>
            <a:ext cx="73152" cy="44805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28800"/>
            <a:ext cx="10149840" cy="4023360"/>
          </a:xfrm>
          <a:prstGeom prst="rect">
            <a:avLst/>
          </a:prstGeom>
          <a:noFill/>
        </p:spPr>
        <p:txBody>
          <a:bodyPr wrap="square">
            <a:spAutoFit/>
          </a:bodyPr>
          <a:lstStyle/>
          <a:p>
            <a:pPr>
              <a:lnSpc>
                <a:spcPct val="115000"/>
              </a:lnSpc>
              <a:spcAft>
                <a:spcPts val="1200"/>
              </a:spcAft>
            </a:pPr>
            <a:r>
              <a:rPr sz="1500">
                <a:solidFill>
                  <a:srgbClr val="121D21"/>
                </a:solidFill>
                <a:latin typeface="Calibri" panose="020F0502020204030204"/>
              </a:rPr>
              <a:t>Many small businesses in Kenya extend goods and services to customers on credit, and track these debts by hand in an exercise book. I saw this problem first-hand in the business I was working in: entries were forgotten, pages got lost or damaged, and there was no reliable way to remind a customer that a payment was due. Debts that were owed simply went untracked and, often, unpaid.</a:t>
            </a:r>
            <a:endParaRPr sz="1500">
              <a:solidFill>
                <a:srgbClr val="121D21"/>
              </a:solidFill>
              <a:latin typeface="Calibri" panose="020F0502020204030204"/>
            </a:endParaRPr>
          </a:p>
          <a:p>
            <a:pPr>
              <a:lnSpc>
                <a:spcPct val="115000"/>
              </a:lnSpc>
              <a:spcAft>
                <a:spcPts val="1200"/>
              </a:spcAft>
            </a:pPr>
            <a:r>
              <a:rPr sz="1500">
                <a:solidFill>
                  <a:srgbClr val="121D21"/>
                </a:solidFill>
                <a:latin typeface="Calibri" panose="020F0502020204030204"/>
              </a:rPr>
              <a:t>KopaAlert is the web-based system I designed and built to close that gap. It lets a business owner register customers, record debts as they are issued, log payments as they come in, and it automatically sends SMS and email reminders as due dates approach or are missed. It also scores each customer's payment behaviour, flags customers who fall persistently overdue, and gives the owner a single dashboard that shows exactly who owes what.</a:t>
            </a:r>
            <a:endParaRPr sz="1500">
              <a:solidFill>
                <a:srgbClr val="121D21"/>
              </a:solidFill>
              <a:latin typeface="Calibri" panose="020F0502020204030204"/>
            </a:endParaRPr>
          </a:p>
          <a:p>
            <a:pPr>
              <a:lnSpc>
                <a:spcPct val="115000"/>
              </a:lnSpc>
              <a:spcAft>
                <a:spcPts val="1200"/>
              </a:spcAft>
            </a:pPr>
            <a:r>
              <a:rPr sz="1500">
                <a:solidFill>
                  <a:srgbClr val="121D21"/>
                </a:solidFill>
                <a:latin typeface="Calibri" panose="020F0502020204030204"/>
              </a:rPr>
              <a:t>I built it with Next.js, Supabase (PostgreSQL with Row Level Security), Africa's Talking for SMS, and Resend for email — a stack chosen to be reliable, affordable, and realistic for a small Kenyan business to actually run on.</a:t>
            </a:r>
            <a:endParaRPr sz="1500">
              <a:solidFill>
                <a:srgbClr val="121D21"/>
              </a:solidFill>
              <a:latin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ONE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Introduction / Background</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4</a:t>
            </a:r>
            <a:endParaRPr sz="1000" b="0" i="0">
              <a:solidFill>
                <a:srgbClr val="4B5A5E"/>
              </a:solidFill>
              <a:latin typeface="Calibri" panose="020F0502020204030204"/>
            </a:endParaRPr>
          </a:p>
        </p:txBody>
      </p:sp>
      <p:sp>
        <p:nvSpPr>
          <p:cNvPr id="8" name="TextBox 7"/>
          <p:cNvSpPr txBox="1"/>
          <p:nvPr/>
        </p:nvSpPr>
        <p:spPr>
          <a:xfrm>
            <a:off x="685800" y="1600200"/>
            <a:ext cx="10789920" cy="4572000"/>
          </a:xfrm>
          <a:prstGeom prst="rect">
            <a:avLst/>
          </a:prstGeom>
          <a:noFill/>
        </p:spPr>
        <p:txBody>
          <a:bodyPr wrap="square">
            <a:spAutoFit/>
          </a:bodyPr>
          <a:lstStyle/>
          <a:p>
            <a:pPr>
              <a:lnSpc>
                <a:spcPct val="108000"/>
              </a:lnSpc>
              <a:spcAft>
                <a:spcPts val="1000"/>
              </a:spcAft>
            </a:pPr>
            <a:r>
              <a:rPr sz="1700">
                <a:solidFill>
                  <a:srgbClr val="121D21"/>
                </a:solidFill>
                <a:latin typeface="Calibri" panose="020F0502020204030204"/>
              </a:rPr>
              <a:t>•  Credit is part of everyday small business in Kenya — a duka, salon, hardware store or wholesaler routinely lets trusted, regular customers take goods or services now and pay later.</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This trust-based credit is almost always tracked the same way across thousands of small businesses: a physical exercise book, or at best a spreadsheet a staff member is expected to remember to update.</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I have worked inside a business that ran this way, and I experienced directly how fragile that system is — it depends entirely on someone remembering to write, remembering to check, and remembering to follow up.</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KopaAlert began as my answer to a very specific, very ordinary problem: what if the business never had to remember, because the system remembered for it?</a:t>
            </a:r>
            <a:endParaRPr sz="1700">
              <a:solidFill>
                <a:srgbClr val="121D21"/>
              </a:solidFill>
              <a:latin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ONE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Problem Statement — The Gap I Identified</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5</a:t>
            </a:r>
            <a:endParaRPr sz="1000" b="0" i="0">
              <a:solidFill>
                <a:srgbClr val="4B5A5E"/>
              </a:solidFill>
              <a:latin typeface="Calibri" panose="020F0502020204030204"/>
            </a:endParaRPr>
          </a:p>
        </p:txBody>
      </p:sp>
      <p:sp>
        <p:nvSpPr>
          <p:cNvPr id="8" name="TextBox 7"/>
          <p:cNvSpPr txBox="1"/>
          <p:nvPr/>
        </p:nvSpPr>
        <p:spPr>
          <a:xfrm>
            <a:off x="685800" y="1554480"/>
            <a:ext cx="10789920" cy="502920"/>
          </a:xfrm>
          <a:prstGeom prst="rect">
            <a:avLst/>
          </a:prstGeom>
          <a:noFill/>
        </p:spPr>
        <p:txBody>
          <a:bodyPr wrap="square">
            <a:spAutoFit/>
          </a:bodyPr>
          <a:lstStyle/>
          <a:p>
            <a:pPr algn="l"/>
            <a:r>
              <a:rPr sz="1550" b="0" i="0">
                <a:solidFill>
                  <a:srgbClr val="4B5A5E"/>
                </a:solidFill>
                <a:latin typeface="Calibri" panose="020F0502020204030204"/>
              </a:rPr>
              <a:t>While working in a business that recorded customer debt manually, I identified the following recurring, costly problems:</a:t>
            </a:r>
            <a:endParaRPr sz="1550" b="0" i="0">
              <a:solidFill>
                <a:srgbClr val="4B5A5E"/>
              </a:solidFill>
              <a:latin typeface="Calibri" panose="020F0502020204030204"/>
            </a:endParaRPr>
          </a:p>
        </p:txBody>
      </p:sp>
      <p:sp>
        <p:nvSpPr>
          <p:cNvPr id="9" name="TextBox 8"/>
          <p:cNvSpPr txBox="1"/>
          <p:nvPr/>
        </p:nvSpPr>
        <p:spPr>
          <a:xfrm>
            <a:off x="685800" y="2148840"/>
            <a:ext cx="10789920" cy="3291840"/>
          </a:xfrm>
          <a:prstGeom prst="rect">
            <a:avLst/>
          </a:prstGeom>
          <a:noFill/>
        </p:spPr>
        <p:txBody>
          <a:bodyPr wrap="square">
            <a:spAutoFit/>
          </a:bodyPr>
          <a:lstStyle/>
          <a:p>
            <a:pPr>
              <a:lnSpc>
                <a:spcPct val="108000"/>
              </a:lnSpc>
              <a:spcAft>
                <a:spcPts val="1300"/>
              </a:spcAft>
            </a:pPr>
            <a:r>
              <a:rPr sz="1650">
                <a:solidFill>
                  <a:srgbClr val="121D21"/>
                </a:solidFill>
                <a:latin typeface="Calibri" panose="020F0502020204030204"/>
              </a:rPr>
              <a:t>•  Debts were written into a physical book — an entry that was forgotten to be recorded was money the business silently lost.</a:t>
            </a:r>
            <a:endParaRPr sz="1650">
              <a:solidFill>
                <a:srgbClr val="121D21"/>
              </a:solidFill>
              <a:latin typeface="Calibri" panose="020F0502020204030204"/>
            </a:endParaRPr>
          </a:p>
          <a:p>
            <a:pPr>
              <a:lnSpc>
                <a:spcPct val="108000"/>
              </a:lnSpc>
              <a:spcAft>
                <a:spcPts val="1300"/>
              </a:spcAft>
            </a:pPr>
            <a:r>
              <a:rPr sz="1650">
                <a:solidFill>
                  <a:srgbClr val="121D21"/>
                </a:solidFill>
                <a:latin typeface="Calibri" panose="020F0502020204030204"/>
              </a:rPr>
              <a:t>•  There was no reminder mechanism. Customers were only reminded if a staff member personally remembered to call or ask them.</a:t>
            </a:r>
            <a:endParaRPr sz="1650">
              <a:solidFill>
                <a:srgbClr val="121D21"/>
              </a:solidFill>
              <a:latin typeface="Calibri" panose="020F0502020204030204"/>
            </a:endParaRPr>
          </a:p>
          <a:p>
            <a:pPr>
              <a:lnSpc>
                <a:spcPct val="108000"/>
              </a:lnSpc>
              <a:spcAft>
                <a:spcPts val="1300"/>
              </a:spcAft>
            </a:pPr>
            <a:r>
              <a:rPr sz="1650">
                <a:solidFill>
                  <a:srgbClr val="121D21"/>
                </a:solidFill>
                <a:latin typeface="Calibri" panose="020F0502020204030204"/>
              </a:rPr>
              <a:t>•  The book itself was a single point of failure — it could be lost, torn, or spoiled, taking financial history with it.</a:t>
            </a:r>
            <a:endParaRPr sz="1650">
              <a:solidFill>
                <a:srgbClr val="121D21"/>
              </a:solidFill>
              <a:latin typeface="Calibri" panose="020F0502020204030204"/>
            </a:endParaRPr>
          </a:p>
          <a:p>
            <a:pPr>
              <a:lnSpc>
                <a:spcPct val="108000"/>
              </a:lnSpc>
              <a:spcAft>
                <a:spcPts val="1300"/>
              </a:spcAft>
            </a:pPr>
            <a:r>
              <a:rPr sz="1650">
                <a:solidFill>
                  <a:srgbClr val="121D21"/>
                </a:solidFill>
                <a:latin typeface="Calibri" panose="020F0502020204030204"/>
              </a:rPr>
              <a:t>•  Different staff members writing in the same book caused duplicate, conflicting, or illegible entries.</a:t>
            </a:r>
            <a:endParaRPr sz="1650">
              <a:solidFill>
                <a:srgbClr val="121D21"/>
              </a:solidFill>
              <a:latin typeface="Calibri" panose="020F0502020204030204"/>
            </a:endParaRPr>
          </a:p>
          <a:p>
            <a:pPr>
              <a:lnSpc>
                <a:spcPct val="108000"/>
              </a:lnSpc>
              <a:spcAft>
                <a:spcPts val="1300"/>
              </a:spcAft>
            </a:pPr>
            <a:r>
              <a:rPr sz="1650">
                <a:solidFill>
                  <a:srgbClr val="121D21"/>
                </a:solidFill>
                <a:latin typeface="Calibri" panose="020F0502020204030204"/>
              </a:rPr>
              <a:t>•  The owner had no single view of who owed what, for how long, or who was becoming a payment risk.</a:t>
            </a:r>
            <a:endParaRPr sz="1650">
              <a:solidFill>
                <a:srgbClr val="121D21"/>
              </a:solidFill>
              <a:latin typeface="Calibri" panose="020F0502020204030204"/>
            </a:endParaRPr>
          </a:p>
        </p:txBody>
      </p:sp>
      <p:sp>
        <p:nvSpPr>
          <p:cNvPr id="10" name="Rectangle 9"/>
          <p:cNvSpPr/>
          <p:nvPr/>
        </p:nvSpPr>
        <p:spPr>
          <a:xfrm>
            <a:off x="685800" y="5623560"/>
            <a:ext cx="10789920"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742432"/>
            <a:ext cx="10332720" cy="457200"/>
          </a:xfrm>
          <a:prstGeom prst="rect">
            <a:avLst/>
          </a:prstGeom>
          <a:noFill/>
        </p:spPr>
        <p:txBody>
          <a:bodyPr wrap="square" anchor="ctr">
            <a:spAutoFit/>
          </a:bodyPr>
          <a:lstStyle/>
          <a:p>
            <a:pPr algn="l"/>
            <a:r>
              <a:rPr sz="1400" b="1" i="0">
                <a:solidFill>
                  <a:srgbClr val="FFFFFF"/>
                </a:solidFill>
                <a:latin typeface="Calibri" panose="020F0502020204030204"/>
              </a:rPr>
              <a:t>This gap — a time-sensitive, money-critical task left entirely to human memory and paper — is exactly what KopaAlert was built to close.</a:t>
            </a:r>
            <a:endParaRPr sz="1400" b="1" i="0">
              <a:solidFill>
                <a:srgbClr val="FFFFFF"/>
              </a:solidFill>
              <a:latin typeface="Calibri" panose="020F050202020403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ONE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Objectives</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6</a:t>
            </a:r>
            <a:endParaRPr sz="1000" b="0" i="0">
              <a:solidFill>
                <a:srgbClr val="4B5A5E"/>
              </a:solidFill>
              <a:latin typeface="Calibri" panose="020F0502020204030204"/>
            </a:endParaRPr>
          </a:p>
        </p:txBody>
      </p:sp>
      <p:sp>
        <p:nvSpPr>
          <p:cNvPr id="8" name="Rectangle 7"/>
          <p:cNvSpPr/>
          <p:nvPr/>
        </p:nvSpPr>
        <p:spPr>
          <a:xfrm>
            <a:off x="685800" y="1554480"/>
            <a:ext cx="10789920"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27632"/>
            <a:ext cx="10332720" cy="685800"/>
          </a:xfrm>
          <a:prstGeom prst="rect">
            <a:avLst/>
          </a:prstGeom>
          <a:noFill/>
        </p:spPr>
        <p:txBody>
          <a:bodyPr wrap="square" anchor="ctr">
            <a:spAutoFit/>
          </a:bodyPr>
          <a:lstStyle/>
          <a:p>
            <a:pPr algn="l"/>
            <a:r>
              <a:rPr sz="1500" b="1" i="0">
                <a:solidFill>
                  <a:srgbClr val="FFFFFF"/>
                </a:solidFill>
                <a:latin typeface="Calibri" panose="020F0502020204030204"/>
              </a:rPr>
              <a:t>General Objective: To design and develop a web-based system that automates debt recording and payment reminders for small businesses, replacing manual, paper-based debt tracking.</a:t>
            </a:r>
            <a:endParaRPr sz="1500" b="1" i="0">
              <a:solidFill>
                <a:srgbClr val="FFFFFF"/>
              </a:solidFill>
              <a:latin typeface="Calibri" panose="020F0502020204030204"/>
            </a:endParaRPr>
          </a:p>
        </p:txBody>
      </p:sp>
      <p:sp>
        <p:nvSpPr>
          <p:cNvPr id="10" name="TextBox 9"/>
          <p:cNvSpPr txBox="1"/>
          <p:nvPr/>
        </p:nvSpPr>
        <p:spPr>
          <a:xfrm>
            <a:off x="685800" y="2606040"/>
            <a:ext cx="5486400" cy="365760"/>
          </a:xfrm>
          <a:prstGeom prst="rect">
            <a:avLst/>
          </a:prstGeom>
          <a:noFill/>
        </p:spPr>
        <p:txBody>
          <a:bodyPr wrap="square">
            <a:spAutoFit/>
          </a:bodyPr>
          <a:lstStyle/>
          <a:p>
            <a:pPr algn="l"/>
            <a:r>
              <a:rPr sz="1600" b="1" i="0">
                <a:solidFill>
                  <a:srgbClr val="0F766E"/>
                </a:solidFill>
                <a:latin typeface="Calibri" panose="020F0502020204030204"/>
              </a:rPr>
              <a:t>Specific Objectives</a:t>
            </a:r>
            <a:endParaRPr sz="1600" b="1" i="0">
              <a:solidFill>
                <a:srgbClr val="0F766E"/>
              </a:solidFill>
              <a:latin typeface="Calibri" panose="020F0502020204030204"/>
            </a:endParaRPr>
          </a:p>
        </p:txBody>
      </p:sp>
      <p:sp>
        <p:nvSpPr>
          <p:cNvPr id="11" name="TextBox 10"/>
          <p:cNvSpPr txBox="1"/>
          <p:nvPr/>
        </p:nvSpPr>
        <p:spPr>
          <a:xfrm>
            <a:off x="685800" y="3017520"/>
            <a:ext cx="10789920" cy="3200400"/>
          </a:xfrm>
          <a:prstGeom prst="rect">
            <a:avLst/>
          </a:prstGeom>
          <a:noFill/>
        </p:spPr>
        <p:txBody>
          <a:bodyPr wrap="square">
            <a:spAutoFit/>
          </a:bodyPr>
          <a:lstStyle/>
          <a:p>
            <a:pPr>
              <a:lnSpc>
                <a:spcPct val="108000"/>
              </a:lnSpc>
              <a:spcAft>
                <a:spcPts val="1000"/>
              </a:spcAft>
            </a:pPr>
            <a:r>
              <a:rPr sz="1550">
                <a:solidFill>
                  <a:srgbClr val="121D21"/>
                </a:solidFill>
                <a:latin typeface="Calibri" panose="020F0502020204030204"/>
              </a:rPr>
              <a:t>•  Allow business owners to register and manage customer (debtor) records digitally.</a:t>
            </a:r>
            <a:endParaRPr sz="1550">
              <a:solidFill>
                <a:srgbClr val="121D21"/>
              </a:solidFill>
              <a:latin typeface="Calibri" panose="020F0502020204030204"/>
            </a:endParaRPr>
          </a:p>
          <a:p>
            <a:pPr>
              <a:lnSpc>
                <a:spcPct val="108000"/>
              </a:lnSpc>
              <a:spcAft>
                <a:spcPts val="1000"/>
              </a:spcAft>
            </a:pPr>
            <a:r>
              <a:rPr sz="1550">
                <a:solidFill>
                  <a:srgbClr val="121D21"/>
                </a:solidFill>
                <a:latin typeface="Calibri" panose="020F0502020204030204"/>
              </a:rPr>
              <a:t>•  Allow debts and payments to be recorded accurately, in real time, from any device.</a:t>
            </a:r>
            <a:endParaRPr sz="1550">
              <a:solidFill>
                <a:srgbClr val="121D21"/>
              </a:solidFill>
              <a:latin typeface="Calibri" panose="020F0502020204030204"/>
            </a:endParaRPr>
          </a:p>
          <a:p>
            <a:pPr>
              <a:lnSpc>
                <a:spcPct val="108000"/>
              </a:lnSpc>
              <a:spcAft>
                <a:spcPts val="1000"/>
              </a:spcAft>
            </a:pPr>
            <a:r>
              <a:rPr sz="1550">
                <a:solidFill>
                  <a:srgbClr val="121D21"/>
                </a:solidFill>
                <a:latin typeface="Calibri" panose="020F0502020204030204"/>
              </a:rPr>
              <a:t>•  Automatically send SMS and email payment reminders as due dates approach or lapse.</a:t>
            </a:r>
            <a:endParaRPr sz="1550">
              <a:solidFill>
                <a:srgbClr val="121D21"/>
              </a:solidFill>
              <a:latin typeface="Calibri" panose="020F0502020204030204"/>
            </a:endParaRPr>
          </a:p>
          <a:p>
            <a:pPr>
              <a:lnSpc>
                <a:spcPct val="108000"/>
              </a:lnSpc>
              <a:spcAft>
                <a:spcPts val="1000"/>
              </a:spcAft>
            </a:pPr>
            <a:r>
              <a:rPr sz="1550">
                <a:solidFill>
                  <a:srgbClr val="121D21"/>
                </a:solidFill>
                <a:latin typeface="Calibri" panose="020F0502020204030204"/>
              </a:rPr>
              <a:t>•  Provide a dashboard giving owners visibility into outstanding debts, at-risk customers, and payment trends.</a:t>
            </a:r>
            <a:endParaRPr sz="1550">
              <a:solidFill>
                <a:srgbClr val="121D21"/>
              </a:solidFill>
              <a:latin typeface="Calibri" panose="020F0502020204030204"/>
            </a:endParaRPr>
          </a:p>
          <a:p>
            <a:pPr>
              <a:lnSpc>
                <a:spcPct val="108000"/>
              </a:lnSpc>
              <a:spcAft>
                <a:spcPts val="1000"/>
              </a:spcAft>
            </a:pPr>
            <a:r>
              <a:rPr sz="1550">
                <a:solidFill>
                  <a:srgbClr val="121D21"/>
                </a:solidFill>
                <a:latin typeface="Calibri" panose="020F0502020204030204"/>
              </a:rPr>
              <a:t>•  Secure each business's data with authentication and row-level access control, so one business can never see another's records.</a:t>
            </a:r>
            <a:endParaRPr sz="1550">
              <a:solidFill>
                <a:srgbClr val="121D21"/>
              </a:solidFill>
              <a:latin typeface="Calibri" panose="020F0502020204030204"/>
            </a:endParaRPr>
          </a:p>
          <a:p>
            <a:pPr>
              <a:lnSpc>
                <a:spcPct val="108000"/>
              </a:lnSpc>
              <a:spcAft>
                <a:spcPts val="1000"/>
              </a:spcAft>
            </a:pPr>
            <a:r>
              <a:rPr sz="1550">
                <a:solidFill>
                  <a:srgbClr val="121D21"/>
                </a:solidFill>
                <a:latin typeface="Calibri" panose="020F0502020204030204"/>
              </a:rPr>
              <a:t>•  Evaluate the system through structured testing to confirm it behaves reliably under real conditions.</a:t>
            </a:r>
            <a:endParaRPr sz="1550">
              <a:solidFill>
                <a:srgbClr val="121D21"/>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ONE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Vision</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7</a:t>
            </a:r>
            <a:endParaRPr sz="1000" b="0" i="0">
              <a:solidFill>
                <a:srgbClr val="4B5A5E"/>
              </a:solidFill>
              <a:latin typeface="Calibri" panose="020F0502020204030204"/>
            </a:endParaRPr>
          </a:p>
        </p:txBody>
      </p:sp>
      <p:sp>
        <p:nvSpPr>
          <p:cNvPr id="8" name="Rectangle 7"/>
          <p:cNvSpPr/>
          <p:nvPr/>
        </p:nvSpPr>
        <p:spPr>
          <a:xfrm>
            <a:off x="1463040" y="2011680"/>
            <a:ext cx="9235440" cy="3017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63040" y="2011680"/>
            <a:ext cx="9235440" cy="73152"/>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2468880"/>
            <a:ext cx="8321040" cy="2103120"/>
          </a:xfrm>
          <a:prstGeom prst="rect">
            <a:avLst/>
          </a:prstGeom>
          <a:noFill/>
        </p:spPr>
        <p:txBody>
          <a:bodyPr wrap="square" anchor="ctr">
            <a:spAutoFit/>
          </a:bodyPr>
          <a:lstStyle/>
          <a:p>
            <a:pPr algn="ctr">
              <a:lnSpc>
                <a:spcPct val="130000"/>
              </a:lnSpc>
            </a:pPr>
            <a:r>
              <a:rPr sz="2000" b="0" i="1">
                <a:solidFill>
                  <a:srgbClr val="121D21"/>
                </a:solidFill>
                <a:latin typeface="Calibri" panose="020F0502020204030204"/>
              </a:rPr>
              <a:t>My vision for KopaAlert is a Kenya where no small business loses money simply because a debt was forgotten — where every shopkeeper, salon owner, or trader, no matter how small the business, has access to the same disciplined, automated financial follow-up that only large companies could once afford.</a:t>
            </a:r>
            <a:endParaRPr sz="2000" b="0" i="1">
              <a:solidFill>
                <a:srgbClr val="121D21"/>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ONE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Scope of the Project</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8</a:t>
            </a:r>
            <a:endParaRPr sz="1000" b="0" i="0">
              <a:solidFill>
                <a:srgbClr val="4B5A5E"/>
              </a:solidFill>
              <a:latin typeface="Calibri" panose="020F0502020204030204"/>
            </a:endParaRPr>
          </a:p>
        </p:txBody>
      </p:sp>
      <p:sp>
        <p:nvSpPr>
          <p:cNvPr id="8" name="TextBox 7"/>
          <p:cNvSpPr txBox="1"/>
          <p:nvPr/>
        </p:nvSpPr>
        <p:spPr>
          <a:xfrm>
            <a:off x="685800" y="1572768"/>
            <a:ext cx="5120640" cy="365760"/>
          </a:xfrm>
          <a:prstGeom prst="rect">
            <a:avLst/>
          </a:prstGeom>
          <a:noFill/>
        </p:spPr>
        <p:txBody>
          <a:bodyPr wrap="square">
            <a:spAutoFit/>
          </a:bodyPr>
          <a:lstStyle/>
          <a:p>
            <a:pPr algn="l"/>
            <a:r>
              <a:rPr sz="1700" b="1" i="0">
                <a:solidFill>
                  <a:srgbClr val="0F766E"/>
                </a:solidFill>
                <a:latin typeface="Calibri" panose="020F0502020204030204"/>
              </a:rPr>
              <a:t>In Scope</a:t>
            </a:r>
            <a:endParaRPr sz="1700" b="1" i="0">
              <a:solidFill>
                <a:srgbClr val="0F766E"/>
              </a:solidFill>
              <a:latin typeface="Calibri" panose="020F0502020204030204"/>
            </a:endParaRPr>
          </a:p>
        </p:txBody>
      </p:sp>
      <p:sp>
        <p:nvSpPr>
          <p:cNvPr id="9" name="TextBox 8"/>
          <p:cNvSpPr txBox="1"/>
          <p:nvPr/>
        </p:nvSpPr>
        <p:spPr>
          <a:xfrm>
            <a:off x="685800" y="2011680"/>
            <a:ext cx="5394960" cy="4206240"/>
          </a:xfrm>
          <a:prstGeom prst="rect">
            <a:avLst/>
          </a:prstGeom>
          <a:noFill/>
        </p:spPr>
        <p:txBody>
          <a:bodyPr wrap="square">
            <a:spAutoFit/>
          </a:bodyPr>
          <a:lstStyle/>
          <a:p>
            <a:pPr>
              <a:lnSpc>
                <a:spcPct val="108000"/>
              </a:lnSpc>
              <a:spcAft>
                <a:spcPts val="900"/>
              </a:spcAft>
            </a:pPr>
            <a:r>
              <a:rPr sz="1350">
                <a:solidFill>
                  <a:srgbClr val="121D21"/>
                </a:solidFill>
                <a:latin typeface="Calibri" panose="020F0502020204030204"/>
              </a:rPr>
              <a:t>•  Customer (debtor) registration and management</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Debt recording, due dates, and payment logging</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Automated SMS reminders (Africa's Talking) and email reminders (Resend)</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Customer payment-behaviour rating and auto-blacklisting of chronic defaulters</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Business team management with staff roles and permissions</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Subscription billing (monthly and one-time lifetime plans)</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A platform admin console to approve new businesses and audit activity</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Reporting and analytics on debts, payments, customers, and SMS delivery</a:t>
            </a:r>
            <a:endParaRPr sz="1350">
              <a:solidFill>
                <a:srgbClr val="121D21"/>
              </a:solidFill>
              <a:latin typeface="Calibri" panose="020F0502020204030204"/>
            </a:endParaRPr>
          </a:p>
        </p:txBody>
      </p:sp>
      <p:sp>
        <p:nvSpPr>
          <p:cNvPr id="10" name="TextBox 9"/>
          <p:cNvSpPr txBox="1"/>
          <p:nvPr/>
        </p:nvSpPr>
        <p:spPr>
          <a:xfrm>
            <a:off x="6309360" y="1572768"/>
            <a:ext cx="5120640" cy="365760"/>
          </a:xfrm>
          <a:prstGeom prst="rect">
            <a:avLst/>
          </a:prstGeom>
          <a:noFill/>
        </p:spPr>
        <p:txBody>
          <a:bodyPr wrap="square">
            <a:spAutoFit/>
          </a:bodyPr>
          <a:lstStyle/>
          <a:p>
            <a:pPr algn="l"/>
            <a:r>
              <a:rPr sz="1700" b="1" i="0">
                <a:solidFill>
                  <a:srgbClr val="E69A1F"/>
                </a:solidFill>
                <a:latin typeface="Calibri" panose="020F0502020204030204"/>
              </a:rPr>
              <a:t>Out of Scope (for now)</a:t>
            </a:r>
            <a:endParaRPr sz="1700" b="1" i="0">
              <a:solidFill>
                <a:srgbClr val="E69A1F"/>
              </a:solidFill>
              <a:latin typeface="Calibri" panose="020F0502020204030204"/>
            </a:endParaRPr>
          </a:p>
        </p:txBody>
      </p:sp>
      <p:sp>
        <p:nvSpPr>
          <p:cNvPr id="11" name="TextBox 10"/>
          <p:cNvSpPr txBox="1"/>
          <p:nvPr/>
        </p:nvSpPr>
        <p:spPr>
          <a:xfrm>
            <a:off x="6309360" y="2011680"/>
            <a:ext cx="5394960" cy="4206240"/>
          </a:xfrm>
          <a:prstGeom prst="rect">
            <a:avLst/>
          </a:prstGeom>
          <a:noFill/>
        </p:spPr>
        <p:txBody>
          <a:bodyPr wrap="square">
            <a:spAutoFit/>
          </a:bodyPr>
          <a:lstStyle/>
          <a:p>
            <a:pPr>
              <a:lnSpc>
                <a:spcPct val="108000"/>
              </a:lnSpc>
              <a:spcAft>
                <a:spcPts val="900"/>
              </a:spcAft>
            </a:pPr>
            <a:r>
              <a:rPr sz="1350">
                <a:solidFill>
                  <a:srgbClr val="121D21"/>
                </a:solidFill>
                <a:latin typeface="Calibri" panose="020F0502020204030204"/>
              </a:rPr>
              <a:t>•  Direct, automated payment collection (e.g. M-Pesa STK Push) — payments are currently recorded manually once received</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Point-of-sale or inventory management</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A native mobile application</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Offline-first operation without an internet connection</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Multi-currency / non-Kenyan market support</a:t>
            </a:r>
            <a:endParaRPr sz="1350">
              <a:solidFill>
                <a:srgbClr val="121D21"/>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ONE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Significance of the Study</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9</a:t>
            </a:r>
            <a:endParaRPr sz="1000" b="0" i="0">
              <a:solidFill>
                <a:srgbClr val="4B5A5E"/>
              </a:solidFill>
              <a:latin typeface="Calibri" panose="020F0502020204030204"/>
            </a:endParaRPr>
          </a:p>
        </p:txBody>
      </p:sp>
      <p:sp>
        <p:nvSpPr>
          <p:cNvPr id="8" name="TextBox 7"/>
          <p:cNvSpPr txBox="1"/>
          <p:nvPr/>
        </p:nvSpPr>
        <p:spPr>
          <a:xfrm>
            <a:off x="685800" y="1600200"/>
            <a:ext cx="10789920" cy="4572000"/>
          </a:xfrm>
          <a:prstGeom prst="rect">
            <a:avLst/>
          </a:prstGeom>
          <a:noFill/>
        </p:spPr>
        <p:txBody>
          <a:bodyPr wrap="square">
            <a:spAutoFit/>
          </a:bodyPr>
          <a:lstStyle/>
          <a:p>
            <a:pPr>
              <a:lnSpc>
                <a:spcPct val="108000"/>
              </a:lnSpc>
              <a:spcAft>
                <a:spcPts val="1000"/>
              </a:spcAft>
            </a:pPr>
            <a:r>
              <a:rPr sz="1700">
                <a:solidFill>
                  <a:srgbClr val="121D21"/>
                </a:solidFill>
                <a:latin typeface="Calibri" panose="020F0502020204030204"/>
              </a:rPr>
              <a:t>•  To the business owner: replaces a fragile paper process with a system that cannot forget, reducing the amount of legitimately owed money that is silently lost.</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To the customer: receives timely, consistent reminders instead of an occasional, awkward in-person or phone request, making it easier to plan and pay on time.</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To the wider small-business community: demonstrates that an affordable, well-designed digital tool can replace informal credit-tracking practices used across thousands of similar businesses in Kenya.</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To me, as a student: this project let me take a real problem I personally witnessed and carry it through the full software development lifecycle — from problem identification to a working, deployed, tested system.</a:t>
            </a:r>
            <a:endParaRPr sz="1700">
              <a:solidFill>
                <a:srgbClr val="121D21"/>
              </a:solidFill>
              <a:latin typeface="Calibri" panose="020F050202020403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TWO</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Technology Stack</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10</a:t>
            </a:r>
            <a:endParaRPr sz="1000" b="0" i="0">
              <a:solidFill>
                <a:srgbClr val="4B5A5E"/>
              </a:solidFill>
              <a:latin typeface="Calibri" panose="020F0502020204030204"/>
            </a:endParaRPr>
          </a:p>
        </p:txBody>
      </p:sp>
      <p:sp>
        <p:nvSpPr>
          <p:cNvPr id="8" name="Rectangle 7"/>
          <p:cNvSpPr/>
          <p:nvPr/>
        </p:nvSpPr>
        <p:spPr>
          <a:xfrm>
            <a:off x="685800" y="1600200"/>
            <a:ext cx="2743200"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673352"/>
            <a:ext cx="2468880" cy="457200"/>
          </a:xfrm>
          <a:prstGeom prst="rect">
            <a:avLst/>
          </a:prstGeom>
          <a:noFill/>
        </p:spPr>
        <p:txBody>
          <a:bodyPr wrap="square" anchor="ctr">
            <a:spAutoFit/>
          </a:bodyPr>
          <a:lstStyle/>
          <a:p>
            <a:pPr algn="l"/>
            <a:r>
              <a:rPr sz="1350" b="1" i="0">
                <a:solidFill>
                  <a:srgbClr val="FFFFFF"/>
                </a:solidFill>
                <a:latin typeface="Calibri" panose="020F0502020204030204"/>
              </a:rPr>
              <a:t>Frontend &amp; Backend</a:t>
            </a:r>
            <a:endParaRPr sz="1350" b="1" i="0">
              <a:solidFill>
                <a:srgbClr val="FFFFFF"/>
              </a:solidFill>
              <a:latin typeface="Calibri" panose="020F0502020204030204"/>
            </a:endParaRPr>
          </a:p>
        </p:txBody>
      </p:sp>
      <p:sp>
        <p:nvSpPr>
          <p:cNvPr id="10" name="Rectangle 9"/>
          <p:cNvSpPr/>
          <p:nvPr/>
        </p:nvSpPr>
        <p:spPr>
          <a:xfrm>
            <a:off x="3520440" y="1600200"/>
            <a:ext cx="795527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45920"/>
            <a:ext cx="7726679" cy="475488"/>
          </a:xfrm>
          <a:prstGeom prst="rect">
            <a:avLst/>
          </a:prstGeom>
          <a:noFill/>
        </p:spPr>
        <p:txBody>
          <a:bodyPr wrap="square" anchor="ctr">
            <a:spAutoFit/>
          </a:bodyPr>
          <a:lstStyle/>
          <a:p>
            <a:pPr algn="l"/>
            <a:r>
              <a:rPr sz="1250" b="0" i="0">
                <a:solidFill>
                  <a:srgbClr val="121D21"/>
                </a:solidFill>
                <a:latin typeface="Calibri" panose="020F0502020204030204"/>
              </a:rPr>
              <a:t>Next.js 15 (App Router) with React 19 and TypeScript, styled with Tailwind CSS</a:t>
            </a:r>
            <a:endParaRPr sz="1250" b="0" i="0">
              <a:solidFill>
                <a:srgbClr val="121D21"/>
              </a:solidFill>
              <a:latin typeface="Calibri" panose="020F0502020204030204"/>
            </a:endParaRPr>
          </a:p>
        </p:txBody>
      </p:sp>
      <p:sp>
        <p:nvSpPr>
          <p:cNvPr id="12" name="Rectangle 11"/>
          <p:cNvSpPr/>
          <p:nvPr/>
        </p:nvSpPr>
        <p:spPr>
          <a:xfrm>
            <a:off x="685800" y="2258568"/>
            <a:ext cx="2743200"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331720"/>
            <a:ext cx="2468880" cy="457200"/>
          </a:xfrm>
          <a:prstGeom prst="rect">
            <a:avLst/>
          </a:prstGeom>
          <a:noFill/>
        </p:spPr>
        <p:txBody>
          <a:bodyPr wrap="square" anchor="ctr">
            <a:spAutoFit/>
          </a:bodyPr>
          <a:lstStyle/>
          <a:p>
            <a:pPr algn="l"/>
            <a:r>
              <a:rPr sz="1350" b="1" i="0">
                <a:solidFill>
                  <a:srgbClr val="FFFFFF"/>
                </a:solidFill>
                <a:latin typeface="Calibri" panose="020F0502020204030204"/>
              </a:rPr>
              <a:t>Database &amp; Auth</a:t>
            </a:r>
            <a:endParaRPr sz="1350" b="1" i="0">
              <a:solidFill>
                <a:srgbClr val="FFFFFF"/>
              </a:solidFill>
              <a:latin typeface="Calibri" panose="020F0502020204030204"/>
            </a:endParaRPr>
          </a:p>
        </p:txBody>
      </p:sp>
      <p:sp>
        <p:nvSpPr>
          <p:cNvPr id="14" name="Rectangle 13"/>
          <p:cNvSpPr/>
          <p:nvPr/>
        </p:nvSpPr>
        <p:spPr>
          <a:xfrm>
            <a:off x="3520440" y="2258568"/>
            <a:ext cx="795527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2304288"/>
            <a:ext cx="7726679" cy="475488"/>
          </a:xfrm>
          <a:prstGeom prst="rect">
            <a:avLst/>
          </a:prstGeom>
          <a:noFill/>
        </p:spPr>
        <p:txBody>
          <a:bodyPr wrap="square" anchor="ctr">
            <a:spAutoFit/>
          </a:bodyPr>
          <a:lstStyle/>
          <a:p>
            <a:pPr algn="l"/>
            <a:r>
              <a:rPr sz="1250" b="0" i="0">
                <a:solidFill>
                  <a:srgbClr val="121D21"/>
                </a:solidFill>
                <a:latin typeface="Calibri" panose="020F0502020204030204"/>
              </a:rPr>
              <a:t>Supabase — managed PostgreSQL with Row Level Security (RLS) and built-in authentication</a:t>
            </a:r>
            <a:endParaRPr sz="1250" b="0" i="0">
              <a:solidFill>
                <a:srgbClr val="121D21"/>
              </a:solidFill>
              <a:latin typeface="Calibri" panose="020F0502020204030204"/>
            </a:endParaRPr>
          </a:p>
        </p:txBody>
      </p:sp>
      <p:sp>
        <p:nvSpPr>
          <p:cNvPr id="16" name="Rectangle 15"/>
          <p:cNvSpPr/>
          <p:nvPr/>
        </p:nvSpPr>
        <p:spPr>
          <a:xfrm>
            <a:off x="685800" y="2916936"/>
            <a:ext cx="2743200"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990088"/>
            <a:ext cx="2468880" cy="457200"/>
          </a:xfrm>
          <a:prstGeom prst="rect">
            <a:avLst/>
          </a:prstGeom>
          <a:noFill/>
        </p:spPr>
        <p:txBody>
          <a:bodyPr wrap="square" anchor="ctr">
            <a:spAutoFit/>
          </a:bodyPr>
          <a:lstStyle/>
          <a:p>
            <a:pPr algn="l"/>
            <a:r>
              <a:rPr sz="1350" b="1" i="0">
                <a:solidFill>
                  <a:srgbClr val="FFFFFF"/>
                </a:solidFill>
                <a:latin typeface="Calibri" panose="020F0502020204030204"/>
              </a:rPr>
              <a:t>SMS Delivery</a:t>
            </a:r>
            <a:endParaRPr sz="1350" b="1" i="0">
              <a:solidFill>
                <a:srgbClr val="FFFFFF"/>
              </a:solidFill>
              <a:latin typeface="Calibri" panose="020F0502020204030204"/>
            </a:endParaRPr>
          </a:p>
        </p:txBody>
      </p:sp>
      <p:sp>
        <p:nvSpPr>
          <p:cNvPr id="18" name="Rectangle 17"/>
          <p:cNvSpPr/>
          <p:nvPr/>
        </p:nvSpPr>
        <p:spPr>
          <a:xfrm>
            <a:off x="3520440" y="2916936"/>
            <a:ext cx="795527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0" y="2962656"/>
            <a:ext cx="7726679" cy="475488"/>
          </a:xfrm>
          <a:prstGeom prst="rect">
            <a:avLst/>
          </a:prstGeom>
          <a:noFill/>
        </p:spPr>
        <p:txBody>
          <a:bodyPr wrap="square" anchor="ctr">
            <a:spAutoFit/>
          </a:bodyPr>
          <a:lstStyle/>
          <a:p>
            <a:pPr algn="l"/>
            <a:r>
              <a:rPr sz="1250" b="0" i="0">
                <a:solidFill>
                  <a:srgbClr val="121D21"/>
                </a:solidFill>
                <a:latin typeface="Calibri" panose="020F0502020204030204"/>
              </a:rPr>
              <a:t>Africa's Talking API — sends debt reminder SMS to customers in Kenya</a:t>
            </a:r>
            <a:endParaRPr sz="1250" b="0" i="0">
              <a:solidFill>
                <a:srgbClr val="121D21"/>
              </a:solidFill>
              <a:latin typeface="Calibri" panose="020F0502020204030204"/>
            </a:endParaRPr>
          </a:p>
        </p:txBody>
      </p:sp>
      <p:sp>
        <p:nvSpPr>
          <p:cNvPr id="20" name="Rectangle 19"/>
          <p:cNvSpPr/>
          <p:nvPr/>
        </p:nvSpPr>
        <p:spPr>
          <a:xfrm>
            <a:off x="685800" y="3575304"/>
            <a:ext cx="2743200"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648456"/>
            <a:ext cx="2468880" cy="457200"/>
          </a:xfrm>
          <a:prstGeom prst="rect">
            <a:avLst/>
          </a:prstGeom>
          <a:noFill/>
        </p:spPr>
        <p:txBody>
          <a:bodyPr wrap="square" anchor="ctr">
            <a:spAutoFit/>
          </a:bodyPr>
          <a:lstStyle/>
          <a:p>
            <a:pPr algn="l"/>
            <a:r>
              <a:rPr sz="1350" b="1" i="0">
                <a:solidFill>
                  <a:srgbClr val="FFFFFF"/>
                </a:solidFill>
                <a:latin typeface="Calibri" panose="020F0502020204030204"/>
              </a:rPr>
              <a:t>Email Delivery</a:t>
            </a:r>
            <a:endParaRPr sz="1350" b="1" i="0">
              <a:solidFill>
                <a:srgbClr val="FFFFFF"/>
              </a:solidFill>
              <a:latin typeface="Calibri" panose="020F0502020204030204"/>
            </a:endParaRPr>
          </a:p>
        </p:txBody>
      </p:sp>
      <p:sp>
        <p:nvSpPr>
          <p:cNvPr id="22" name="Rectangle 21"/>
          <p:cNvSpPr/>
          <p:nvPr/>
        </p:nvSpPr>
        <p:spPr>
          <a:xfrm>
            <a:off x="3520440" y="3575304"/>
            <a:ext cx="795527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0" y="3621024"/>
            <a:ext cx="7726679" cy="475488"/>
          </a:xfrm>
          <a:prstGeom prst="rect">
            <a:avLst/>
          </a:prstGeom>
          <a:noFill/>
        </p:spPr>
        <p:txBody>
          <a:bodyPr wrap="square" anchor="ctr">
            <a:spAutoFit/>
          </a:bodyPr>
          <a:lstStyle/>
          <a:p>
            <a:pPr algn="l"/>
            <a:r>
              <a:rPr sz="1250" b="0" i="0">
                <a:solidFill>
                  <a:srgbClr val="121D21"/>
                </a:solidFill>
                <a:latin typeface="Calibri" panose="020F0502020204030204"/>
              </a:rPr>
              <a:t>Resend — sends email reminders and account/approval notifications</a:t>
            </a:r>
            <a:endParaRPr sz="1250" b="0" i="0">
              <a:solidFill>
                <a:srgbClr val="121D21"/>
              </a:solidFill>
              <a:latin typeface="Calibri" panose="020F0502020204030204"/>
            </a:endParaRPr>
          </a:p>
        </p:txBody>
      </p:sp>
      <p:sp>
        <p:nvSpPr>
          <p:cNvPr id="24" name="Rectangle 23"/>
          <p:cNvSpPr/>
          <p:nvPr/>
        </p:nvSpPr>
        <p:spPr>
          <a:xfrm>
            <a:off x="685800" y="4233672"/>
            <a:ext cx="2743200"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306824"/>
            <a:ext cx="2468880" cy="457200"/>
          </a:xfrm>
          <a:prstGeom prst="rect">
            <a:avLst/>
          </a:prstGeom>
          <a:noFill/>
        </p:spPr>
        <p:txBody>
          <a:bodyPr wrap="square" anchor="ctr">
            <a:spAutoFit/>
          </a:bodyPr>
          <a:lstStyle/>
          <a:p>
            <a:pPr algn="l"/>
            <a:r>
              <a:rPr sz="1350" b="1" i="0">
                <a:solidFill>
                  <a:srgbClr val="FFFFFF"/>
                </a:solidFill>
                <a:latin typeface="Calibri" panose="020F0502020204030204"/>
              </a:rPr>
              <a:t>Scheduled Jobs</a:t>
            </a:r>
            <a:endParaRPr sz="1350" b="1" i="0">
              <a:solidFill>
                <a:srgbClr val="FFFFFF"/>
              </a:solidFill>
              <a:latin typeface="Calibri" panose="020F0502020204030204"/>
            </a:endParaRPr>
          </a:p>
        </p:txBody>
      </p:sp>
      <p:sp>
        <p:nvSpPr>
          <p:cNvPr id="26" name="Rectangle 25"/>
          <p:cNvSpPr/>
          <p:nvPr/>
        </p:nvSpPr>
        <p:spPr>
          <a:xfrm>
            <a:off x="3520440" y="4233672"/>
            <a:ext cx="795527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0" y="4279392"/>
            <a:ext cx="7726679" cy="475488"/>
          </a:xfrm>
          <a:prstGeom prst="rect">
            <a:avLst/>
          </a:prstGeom>
          <a:noFill/>
        </p:spPr>
        <p:txBody>
          <a:bodyPr wrap="square" anchor="ctr">
            <a:spAutoFit/>
          </a:bodyPr>
          <a:lstStyle/>
          <a:p>
            <a:pPr algn="l"/>
            <a:r>
              <a:rPr sz="1250" b="0" i="0">
                <a:solidFill>
                  <a:srgbClr val="121D21"/>
                </a:solidFill>
                <a:latin typeface="Calibri" panose="020F0502020204030204"/>
              </a:rPr>
              <a:t>Cron-triggered API routes handle reminders, ratings, auto-blacklisting, and subscription billing on a schedule</a:t>
            </a:r>
            <a:endParaRPr sz="1250" b="0" i="0">
              <a:solidFill>
                <a:srgbClr val="121D21"/>
              </a:solidFill>
              <a:latin typeface="Calibri" panose="020F0502020204030204"/>
            </a:endParaRPr>
          </a:p>
        </p:txBody>
      </p:sp>
      <p:sp>
        <p:nvSpPr>
          <p:cNvPr id="28" name="Rectangle 27"/>
          <p:cNvSpPr/>
          <p:nvPr/>
        </p:nvSpPr>
        <p:spPr>
          <a:xfrm>
            <a:off x="685800" y="4892040"/>
            <a:ext cx="2743200"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965192"/>
            <a:ext cx="2468880" cy="457200"/>
          </a:xfrm>
          <a:prstGeom prst="rect">
            <a:avLst/>
          </a:prstGeom>
          <a:noFill/>
        </p:spPr>
        <p:txBody>
          <a:bodyPr wrap="square" anchor="ctr">
            <a:spAutoFit/>
          </a:bodyPr>
          <a:lstStyle/>
          <a:p>
            <a:pPr algn="l"/>
            <a:r>
              <a:rPr sz="1350" b="1" i="0">
                <a:solidFill>
                  <a:srgbClr val="FFFFFF"/>
                </a:solidFill>
                <a:latin typeface="Calibri" panose="020F0502020204030204"/>
              </a:rPr>
              <a:t>Testing</a:t>
            </a:r>
            <a:endParaRPr sz="1350" b="1" i="0">
              <a:solidFill>
                <a:srgbClr val="FFFFFF"/>
              </a:solidFill>
              <a:latin typeface="Calibri" panose="020F0502020204030204"/>
            </a:endParaRPr>
          </a:p>
        </p:txBody>
      </p:sp>
      <p:sp>
        <p:nvSpPr>
          <p:cNvPr id="30" name="Rectangle 29"/>
          <p:cNvSpPr/>
          <p:nvPr/>
        </p:nvSpPr>
        <p:spPr>
          <a:xfrm>
            <a:off x="3520440" y="4892040"/>
            <a:ext cx="795527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0" y="4937760"/>
            <a:ext cx="7726679" cy="475488"/>
          </a:xfrm>
          <a:prstGeom prst="rect">
            <a:avLst/>
          </a:prstGeom>
          <a:noFill/>
        </p:spPr>
        <p:txBody>
          <a:bodyPr wrap="square" anchor="ctr">
            <a:spAutoFit/>
          </a:bodyPr>
          <a:lstStyle/>
          <a:p>
            <a:pPr algn="l"/>
            <a:r>
              <a:rPr sz="1250" b="0" i="0">
                <a:solidFill>
                  <a:srgbClr val="121D21"/>
                </a:solidFill>
                <a:latin typeface="Calibri" panose="020F0502020204030204"/>
              </a:rPr>
              <a:t>Jest for unit tests, Playwright for end-to-end browser tests</a:t>
            </a:r>
            <a:endParaRPr sz="1250" b="0" i="0">
              <a:solidFill>
                <a:srgbClr val="121D21"/>
              </a:solidFill>
              <a:latin typeface="Calibri" panose="020F0502020204030204"/>
            </a:endParaRPr>
          </a:p>
        </p:txBody>
      </p:sp>
      <p:sp>
        <p:nvSpPr>
          <p:cNvPr id="32" name="Rectangle 31"/>
          <p:cNvSpPr/>
          <p:nvPr/>
        </p:nvSpPr>
        <p:spPr>
          <a:xfrm>
            <a:off x="685800" y="5550408"/>
            <a:ext cx="2743200"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623560"/>
            <a:ext cx="2468880" cy="457200"/>
          </a:xfrm>
          <a:prstGeom prst="rect">
            <a:avLst/>
          </a:prstGeom>
          <a:noFill/>
        </p:spPr>
        <p:txBody>
          <a:bodyPr wrap="square" anchor="ctr">
            <a:spAutoFit/>
          </a:bodyPr>
          <a:lstStyle/>
          <a:p>
            <a:pPr algn="l"/>
            <a:r>
              <a:rPr sz="1350" b="1" i="0">
                <a:solidFill>
                  <a:srgbClr val="FFFFFF"/>
                </a:solidFill>
                <a:latin typeface="Calibri" panose="020F0502020204030204"/>
              </a:rPr>
              <a:t>Hosting</a:t>
            </a:r>
            <a:endParaRPr sz="1350" b="1" i="0">
              <a:solidFill>
                <a:srgbClr val="FFFFFF"/>
              </a:solidFill>
              <a:latin typeface="Calibri" panose="020F0502020204030204"/>
            </a:endParaRPr>
          </a:p>
        </p:txBody>
      </p:sp>
      <p:sp>
        <p:nvSpPr>
          <p:cNvPr id="34" name="Rectangle 33"/>
          <p:cNvSpPr/>
          <p:nvPr/>
        </p:nvSpPr>
        <p:spPr>
          <a:xfrm>
            <a:off x="3520440" y="5550408"/>
            <a:ext cx="795527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0" y="5596128"/>
            <a:ext cx="7726679" cy="475488"/>
          </a:xfrm>
          <a:prstGeom prst="rect">
            <a:avLst/>
          </a:prstGeom>
          <a:noFill/>
        </p:spPr>
        <p:txBody>
          <a:bodyPr wrap="square" anchor="ctr">
            <a:spAutoFit/>
          </a:bodyPr>
          <a:lstStyle/>
          <a:p>
            <a:pPr algn="l"/>
            <a:r>
              <a:rPr sz="1250" b="0" i="0">
                <a:solidFill>
                  <a:srgbClr val="121D21"/>
                </a:solidFill>
                <a:latin typeface="Calibri" panose="020F0502020204030204"/>
              </a:rPr>
              <a:t>Deployed as a serverless Next.js application (Vercel-style hosting)</a:t>
            </a:r>
            <a:endParaRPr sz="1250" b="0" i="0">
              <a:solidFill>
                <a:srgbClr val="121D21"/>
              </a:solidFill>
              <a:latin typeface="Calibri" panose="020F0502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TWO</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System Architecture — Developer View</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11</a:t>
            </a:r>
            <a:endParaRPr sz="1000" b="0" i="0">
              <a:solidFill>
                <a:srgbClr val="4B5A5E"/>
              </a:solidFill>
              <a:latin typeface="Calibri" panose="020F0502020204030204"/>
            </a:endParaRPr>
          </a:p>
        </p:txBody>
      </p:sp>
      <p:sp>
        <p:nvSpPr>
          <p:cNvPr id="8" name="Rectangle 7"/>
          <p:cNvSpPr/>
          <p:nvPr/>
        </p:nvSpPr>
        <p:spPr>
          <a:xfrm>
            <a:off x="685800" y="1600200"/>
            <a:ext cx="10789920"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91640"/>
            <a:ext cx="2743200" cy="365760"/>
          </a:xfrm>
          <a:prstGeom prst="rect">
            <a:avLst/>
          </a:prstGeom>
          <a:noFill/>
        </p:spPr>
        <p:txBody>
          <a:bodyPr wrap="square">
            <a:spAutoFit/>
          </a:bodyPr>
          <a:lstStyle/>
          <a:p>
            <a:pPr algn="l"/>
            <a:r>
              <a:rPr sz="1500" b="1" i="0">
                <a:solidFill>
                  <a:srgbClr val="FFFFFF"/>
                </a:solidFill>
                <a:latin typeface="Calibri" panose="020F0502020204030204"/>
              </a:rPr>
              <a:t>Client</a:t>
            </a:r>
            <a:endParaRPr sz="1500" b="1" i="0">
              <a:solidFill>
                <a:srgbClr val="FFFFFF"/>
              </a:solidFill>
              <a:latin typeface="Calibri" panose="020F0502020204030204"/>
            </a:endParaRPr>
          </a:p>
        </p:txBody>
      </p:sp>
      <p:sp>
        <p:nvSpPr>
          <p:cNvPr id="10" name="TextBox 9"/>
          <p:cNvSpPr txBox="1"/>
          <p:nvPr/>
        </p:nvSpPr>
        <p:spPr>
          <a:xfrm>
            <a:off x="914400" y="2057400"/>
            <a:ext cx="10241280" cy="411480"/>
          </a:xfrm>
          <a:prstGeom prst="rect">
            <a:avLst/>
          </a:prstGeom>
          <a:noFill/>
        </p:spPr>
        <p:txBody>
          <a:bodyPr wrap="square">
            <a:spAutoFit/>
          </a:bodyPr>
          <a:lstStyle/>
          <a:p>
            <a:pPr algn="l"/>
            <a:r>
              <a:rPr sz="1250" b="0" i="0">
                <a:solidFill>
                  <a:srgbClr val="E7F2F1"/>
                </a:solidFill>
                <a:latin typeface="Calibri" panose="020F0502020204030204"/>
              </a:rPr>
              <a:t>Browser / Mobile Browser</a:t>
            </a:r>
            <a:endParaRPr sz="1250" b="0" i="0">
              <a:solidFill>
                <a:srgbClr val="E7F2F1"/>
              </a:solidFill>
              <a:latin typeface="Calibri" panose="020F0502020204030204"/>
            </a:endParaRPr>
          </a:p>
        </p:txBody>
      </p:sp>
      <p:sp>
        <p:nvSpPr>
          <p:cNvPr id="11" name="Down Arrow 10"/>
          <p:cNvSpPr/>
          <p:nvPr/>
        </p:nvSpPr>
        <p:spPr>
          <a:xfrm>
            <a:off x="5806440" y="2532888"/>
            <a:ext cx="457200" cy="146304"/>
          </a:xfrm>
          <a:prstGeom prst="downArrow">
            <a:avLst/>
          </a:prstGeom>
          <a:solidFill>
            <a:srgbClr val="4B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2679192"/>
            <a:ext cx="10789920" cy="932688"/>
          </a:xfrm>
          <a:prstGeom prst="rect">
            <a:avLst/>
          </a:prstGeom>
          <a:solidFill>
            <a:srgbClr val="0A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770632"/>
            <a:ext cx="2743200" cy="365760"/>
          </a:xfrm>
          <a:prstGeom prst="rect">
            <a:avLst/>
          </a:prstGeom>
          <a:noFill/>
        </p:spPr>
        <p:txBody>
          <a:bodyPr wrap="square">
            <a:spAutoFit/>
          </a:bodyPr>
          <a:lstStyle/>
          <a:p>
            <a:pPr algn="l"/>
            <a:r>
              <a:rPr sz="1500" b="1" i="0">
                <a:solidFill>
                  <a:srgbClr val="FFFFFF"/>
                </a:solidFill>
                <a:latin typeface="Calibri" panose="020F0502020204030204"/>
              </a:rPr>
              <a:t>Application Layer</a:t>
            </a:r>
            <a:endParaRPr sz="1500" b="1" i="0">
              <a:solidFill>
                <a:srgbClr val="FFFFFF"/>
              </a:solidFill>
              <a:latin typeface="Calibri" panose="020F0502020204030204"/>
            </a:endParaRPr>
          </a:p>
        </p:txBody>
      </p:sp>
      <p:sp>
        <p:nvSpPr>
          <p:cNvPr id="14" name="TextBox 13"/>
          <p:cNvSpPr txBox="1"/>
          <p:nvPr/>
        </p:nvSpPr>
        <p:spPr>
          <a:xfrm>
            <a:off x="914400" y="3136392"/>
            <a:ext cx="10241280" cy="411480"/>
          </a:xfrm>
          <a:prstGeom prst="rect">
            <a:avLst/>
          </a:prstGeom>
          <a:noFill/>
        </p:spPr>
        <p:txBody>
          <a:bodyPr wrap="square">
            <a:spAutoFit/>
          </a:bodyPr>
          <a:lstStyle/>
          <a:p>
            <a:pPr algn="l"/>
            <a:r>
              <a:rPr sz="1250" b="0" i="0">
                <a:solidFill>
                  <a:srgbClr val="E7F2F1"/>
                </a:solidFill>
                <a:latin typeface="Calibri" panose="020F0502020204030204"/>
              </a:rPr>
              <a:t>Next.js App Router — pages, API routes, middleware (auth &amp; route guarding)</a:t>
            </a:r>
            <a:endParaRPr sz="1250" b="0" i="0">
              <a:solidFill>
                <a:srgbClr val="E7F2F1"/>
              </a:solidFill>
              <a:latin typeface="Calibri" panose="020F0502020204030204"/>
            </a:endParaRPr>
          </a:p>
        </p:txBody>
      </p:sp>
      <p:sp>
        <p:nvSpPr>
          <p:cNvPr id="15" name="Down Arrow 14"/>
          <p:cNvSpPr/>
          <p:nvPr/>
        </p:nvSpPr>
        <p:spPr>
          <a:xfrm>
            <a:off x="5806440" y="3611880"/>
            <a:ext cx="457200" cy="146304"/>
          </a:xfrm>
          <a:prstGeom prst="downArrow">
            <a:avLst/>
          </a:prstGeom>
          <a:solidFill>
            <a:srgbClr val="4B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758184"/>
            <a:ext cx="10789920" cy="932688"/>
          </a:xfrm>
          <a:prstGeom prst="rect">
            <a:avLst/>
          </a:prstGeom>
          <a:solidFill>
            <a:srgbClr val="12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849624"/>
            <a:ext cx="2743200" cy="365760"/>
          </a:xfrm>
          <a:prstGeom prst="rect">
            <a:avLst/>
          </a:prstGeom>
          <a:noFill/>
        </p:spPr>
        <p:txBody>
          <a:bodyPr wrap="square">
            <a:spAutoFit/>
          </a:bodyPr>
          <a:lstStyle/>
          <a:p>
            <a:pPr algn="l"/>
            <a:r>
              <a:rPr sz="1500" b="1" i="0">
                <a:solidFill>
                  <a:srgbClr val="FFFFFF"/>
                </a:solidFill>
                <a:latin typeface="Calibri" panose="020F0502020204030204"/>
              </a:rPr>
              <a:t>Data &amp; Auth Layer</a:t>
            </a:r>
            <a:endParaRPr sz="1500" b="1" i="0">
              <a:solidFill>
                <a:srgbClr val="FFFFFF"/>
              </a:solidFill>
              <a:latin typeface="Calibri" panose="020F0502020204030204"/>
            </a:endParaRPr>
          </a:p>
        </p:txBody>
      </p:sp>
      <p:sp>
        <p:nvSpPr>
          <p:cNvPr id="18" name="TextBox 17"/>
          <p:cNvSpPr txBox="1"/>
          <p:nvPr/>
        </p:nvSpPr>
        <p:spPr>
          <a:xfrm>
            <a:off x="914400" y="4215384"/>
            <a:ext cx="10241280" cy="411480"/>
          </a:xfrm>
          <a:prstGeom prst="rect">
            <a:avLst/>
          </a:prstGeom>
          <a:noFill/>
        </p:spPr>
        <p:txBody>
          <a:bodyPr wrap="square">
            <a:spAutoFit/>
          </a:bodyPr>
          <a:lstStyle/>
          <a:p>
            <a:pPr algn="l"/>
            <a:r>
              <a:rPr sz="1250" b="0" i="0">
                <a:solidFill>
                  <a:srgbClr val="E7F2F1"/>
                </a:solidFill>
                <a:latin typeface="Calibri" panose="020F0502020204030204"/>
              </a:rPr>
              <a:t>Supabase — PostgreSQL, Row Level Security policies, Auth, RPC functions</a:t>
            </a:r>
            <a:endParaRPr sz="1250" b="0" i="0">
              <a:solidFill>
                <a:srgbClr val="E7F2F1"/>
              </a:solidFill>
              <a:latin typeface="Calibri" panose="020F0502020204030204"/>
            </a:endParaRPr>
          </a:p>
        </p:txBody>
      </p:sp>
      <p:sp>
        <p:nvSpPr>
          <p:cNvPr id="19" name="Down Arrow 18"/>
          <p:cNvSpPr/>
          <p:nvPr/>
        </p:nvSpPr>
        <p:spPr>
          <a:xfrm>
            <a:off x="5806440" y="4690872"/>
            <a:ext cx="457200" cy="146304"/>
          </a:xfrm>
          <a:prstGeom prst="downArrow">
            <a:avLst/>
          </a:prstGeom>
          <a:solidFill>
            <a:srgbClr val="4B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4837176"/>
            <a:ext cx="10789920" cy="932688"/>
          </a:xfrm>
          <a:prstGeom prst="rect">
            <a:avLst/>
          </a:prstGeom>
          <a:solidFill>
            <a:srgbClr val="0A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928616"/>
            <a:ext cx="2743200" cy="365760"/>
          </a:xfrm>
          <a:prstGeom prst="rect">
            <a:avLst/>
          </a:prstGeom>
          <a:noFill/>
        </p:spPr>
        <p:txBody>
          <a:bodyPr wrap="square">
            <a:spAutoFit/>
          </a:bodyPr>
          <a:lstStyle/>
          <a:p>
            <a:pPr algn="l"/>
            <a:r>
              <a:rPr sz="1500" b="1" i="0">
                <a:solidFill>
                  <a:srgbClr val="FFFFFF"/>
                </a:solidFill>
                <a:latin typeface="Calibri" panose="020F0502020204030204"/>
              </a:rPr>
              <a:t>External Services</a:t>
            </a:r>
            <a:endParaRPr sz="1500" b="1" i="0">
              <a:solidFill>
                <a:srgbClr val="FFFFFF"/>
              </a:solidFill>
              <a:latin typeface="Calibri" panose="020F0502020204030204"/>
            </a:endParaRPr>
          </a:p>
        </p:txBody>
      </p:sp>
      <p:sp>
        <p:nvSpPr>
          <p:cNvPr id="22" name="TextBox 21"/>
          <p:cNvSpPr txBox="1"/>
          <p:nvPr/>
        </p:nvSpPr>
        <p:spPr>
          <a:xfrm>
            <a:off x="914400" y="5294376"/>
            <a:ext cx="10241280" cy="411480"/>
          </a:xfrm>
          <a:prstGeom prst="rect">
            <a:avLst/>
          </a:prstGeom>
          <a:noFill/>
        </p:spPr>
        <p:txBody>
          <a:bodyPr wrap="square">
            <a:spAutoFit/>
          </a:bodyPr>
          <a:lstStyle/>
          <a:p>
            <a:pPr algn="l"/>
            <a:r>
              <a:rPr sz="1250" b="0" i="0">
                <a:solidFill>
                  <a:srgbClr val="E7F2F1"/>
                </a:solidFill>
                <a:latin typeface="Calibri" panose="020F0502020204030204"/>
              </a:rPr>
              <a:t>Africa's Talking (SMS)   •   Resend (Email)   •   Cron-triggered jobs</a:t>
            </a:r>
            <a:endParaRPr sz="1250" b="0" i="0">
              <a:solidFill>
                <a:srgbClr val="E7F2F1"/>
              </a:solidFill>
              <a:latin typeface="Calibri" panose="020F0502020204030204"/>
            </a:endParaRPr>
          </a:p>
        </p:txBody>
      </p:sp>
      <p:sp>
        <p:nvSpPr>
          <p:cNvPr id="23" name="TextBox 22"/>
          <p:cNvSpPr txBox="1"/>
          <p:nvPr/>
        </p:nvSpPr>
        <p:spPr>
          <a:xfrm>
            <a:off x="685800" y="5806440"/>
            <a:ext cx="10789920" cy="548640"/>
          </a:xfrm>
          <a:prstGeom prst="rect">
            <a:avLst/>
          </a:prstGeom>
          <a:noFill/>
        </p:spPr>
        <p:txBody>
          <a:bodyPr wrap="square">
            <a:spAutoFit/>
          </a:bodyPr>
          <a:lstStyle/>
          <a:p>
            <a:pPr algn="l"/>
            <a:r>
              <a:rPr sz="1250" b="0" i="1">
                <a:solidFill>
                  <a:srgbClr val="4B5A5E"/>
                </a:solidFill>
                <a:latin typeface="Calibri" panose="020F0502020204030204"/>
              </a:rPr>
              <a:t>Every request from the business dashboard flows through Next.js middleware, which checks the authenticated user's session and business_id before Supabase's own Row Level Security enforces it again at the database layer — two independent checks, not one.</a:t>
            </a:r>
            <a:endParaRPr sz="1250" b="0" i="1">
              <a:solidFill>
                <a:srgbClr val="4B5A5E"/>
              </a:solidFill>
              <a:latin typeface="Calibri" panose="020F050202020403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TWO</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System Architecture — User View</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12</a:t>
            </a:r>
            <a:endParaRPr sz="1000" b="0" i="0">
              <a:solidFill>
                <a:srgbClr val="4B5A5E"/>
              </a:solidFill>
              <a:latin typeface="Calibri" panose="020F0502020204030204"/>
            </a:endParaRPr>
          </a:p>
        </p:txBody>
      </p:sp>
      <p:sp>
        <p:nvSpPr>
          <p:cNvPr id="8" name="Rounded Rectangle 7"/>
          <p:cNvSpPr/>
          <p:nvPr/>
        </p:nvSpPr>
        <p:spPr>
          <a:xfrm>
            <a:off x="548640" y="1828800"/>
            <a:ext cx="1481328" cy="12344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FFFFF"/>
                </a:solidFill>
                <a:latin typeface="Calibri" panose="020F0502020204030204"/>
              </a:rPr>
              <a:t>Business
Registers</a:t>
            </a:r>
            <a:endParaRPr sz="1250" b="1">
              <a:solidFill>
                <a:srgbClr val="FFFFFF"/>
              </a:solidFill>
              <a:latin typeface="Calibri" panose="020F0502020204030204"/>
            </a:endParaRPr>
          </a:p>
        </p:txBody>
      </p:sp>
      <p:sp>
        <p:nvSpPr>
          <p:cNvPr id="9" name="Right Arrow 8"/>
          <p:cNvSpPr/>
          <p:nvPr/>
        </p:nvSpPr>
        <p:spPr>
          <a:xfrm>
            <a:off x="2049968" y="2363724"/>
            <a:ext cx="109728" cy="164592"/>
          </a:xfrm>
          <a:prstGeom prst="rightArrow">
            <a:avLst/>
          </a:prstGeom>
          <a:solidFill>
            <a:srgbClr val="4B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139696" y="1828800"/>
            <a:ext cx="1481328" cy="1234440"/>
          </a:xfrm>
          <a:prstGeom prst="roundRect">
            <a:avLst/>
          </a:prstGeom>
          <a:solidFill>
            <a:srgbClr val="0A4F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FFFFF"/>
                </a:solidFill>
                <a:latin typeface="Calibri" panose="020F0502020204030204"/>
              </a:rPr>
              <a:t>Admin
Approves</a:t>
            </a:r>
            <a:endParaRPr sz="1250" b="1">
              <a:solidFill>
                <a:srgbClr val="FFFFFF"/>
              </a:solidFill>
              <a:latin typeface="Calibri" panose="020F0502020204030204"/>
            </a:endParaRPr>
          </a:p>
        </p:txBody>
      </p:sp>
      <p:sp>
        <p:nvSpPr>
          <p:cNvPr id="11" name="Right Arrow 10"/>
          <p:cNvSpPr/>
          <p:nvPr/>
        </p:nvSpPr>
        <p:spPr>
          <a:xfrm>
            <a:off x="3641024" y="2363724"/>
            <a:ext cx="109728" cy="164592"/>
          </a:xfrm>
          <a:prstGeom prst="rightArrow">
            <a:avLst/>
          </a:prstGeom>
          <a:solidFill>
            <a:srgbClr val="4B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730752" y="1828800"/>
            <a:ext cx="1481328" cy="12344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FFFFF"/>
                </a:solidFill>
                <a:latin typeface="Calibri" panose="020F0502020204030204"/>
              </a:rPr>
              <a:t>Owner Adds
Customers</a:t>
            </a:r>
            <a:endParaRPr sz="1250" b="1">
              <a:solidFill>
                <a:srgbClr val="FFFFFF"/>
              </a:solidFill>
              <a:latin typeface="Calibri" panose="020F0502020204030204"/>
            </a:endParaRPr>
          </a:p>
        </p:txBody>
      </p:sp>
      <p:sp>
        <p:nvSpPr>
          <p:cNvPr id="13" name="Right Arrow 12"/>
          <p:cNvSpPr/>
          <p:nvPr/>
        </p:nvSpPr>
        <p:spPr>
          <a:xfrm>
            <a:off x="5232080" y="2363724"/>
            <a:ext cx="109728" cy="164592"/>
          </a:xfrm>
          <a:prstGeom prst="rightArrow">
            <a:avLst/>
          </a:prstGeom>
          <a:solidFill>
            <a:srgbClr val="4B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321808" y="1828800"/>
            <a:ext cx="1481328" cy="1234440"/>
          </a:xfrm>
          <a:prstGeom prst="roundRect">
            <a:avLst/>
          </a:prstGeom>
          <a:solidFill>
            <a:srgbClr val="0A4F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FFFFF"/>
                </a:solidFill>
                <a:latin typeface="Calibri" panose="020F0502020204030204"/>
              </a:rPr>
              <a:t>Owner Records
Debt + Due Date</a:t>
            </a:r>
            <a:endParaRPr sz="1250" b="1">
              <a:solidFill>
                <a:srgbClr val="FFFFFF"/>
              </a:solidFill>
              <a:latin typeface="Calibri" panose="020F0502020204030204"/>
            </a:endParaRPr>
          </a:p>
        </p:txBody>
      </p:sp>
      <p:sp>
        <p:nvSpPr>
          <p:cNvPr id="15" name="Rounded Rectangle 14"/>
          <p:cNvSpPr/>
          <p:nvPr/>
        </p:nvSpPr>
        <p:spPr>
          <a:xfrm>
            <a:off x="548640" y="3749040"/>
            <a:ext cx="1481328" cy="12344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FFFFF"/>
                </a:solidFill>
                <a:latin typeface="Calibri" panose="020F0502020204030204"/>
              </a:rPr>
              <a:t>System Sends
SMS / Email
Reminders</a:t>
            </a:r>
            <a:endParaRPr sz="1250" b="1">
              <a:solidFill>
                <a:srgbClr val="FFFFFF"/>
              </a:solidFill>
              <a:latin typeface="Calibri" panose="020F0502020204030204"/>
            </a:endParaRPr>
          </a:p>
        </p:txBody>
      </p:sp>
      <p:sp>
        <p:nvSpPr>
          <p:cNvPr id="16" name="Rounded Rectangle 15"/>
          <p:cNvSpPr/>
          <p:nvPr/>
        </p:nvSpPr>
        <p:spPr>
          <a:xfrm>
            <a:off x="2139696" y="3749040"/>
            <a:ext cx="1481328" cy="1234440"/>
          </a:xfrm>
          <a:prstGeom prst="roundRect">
            <a:avLst/>
          </a:prstGeom>
          <a:solidFill>
            <a:srgbClr val="0A4F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FFFFF"/>
                </a:solidFill>
                <a:latin typeface="Calibri" panose="020F0502020204030204"/>
              </a:rPr>
              <a:t>Customer Pays;
Owner Logs It</a:t>
            </a:r>
            <a:endParaRPr sz="1250" b="1">
              <a:solidFill>
                <a:srgbClr val="FFFFFF"/>
              </a:solidFill>
              <a:latin typeface="Calibri" panose="020F0502020204030204"/>
            </a:endParaRPr>
          </a:p>
        </p:txBody>
      </p:sp>
      <p:sp>
        <p:nvSpPr>
          <p:cNvPr id="17" name="Rounded Rectangle 16"/>
          <p:cNvSpPr/>
          <p:nvPr/>
        </p:nvSpPr>
        <p:spPr>
          <a:xfrm>
            <a:off x="3730752" y="3749040"/>
            <a:ext cx="1481328" cy="12344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FFFFF"/>
                </a:solidFill>
                <a:latin typeface="Calibri" panose="020F0502020204030204"/>
              </a:rPr>
              <a:t>Dashboard
Updates Live</a:t>
            </a:r>
            <a:endParaRPr sz="1250" b="1">
              <a:solidFill>
                <a:srgbClr val="FFFFFF"/>
              </a:solidFill>
              <a:latin typeface="Calibri" panose="020F0502020204030204"/>
            </a:endParaRPr>
          </a:p>
        </p:txBody>
      </p:sp>
      <p:sp>
        <p:nvSpPr>
          <p:cNvPr id="18" name="TextBox 17"/>
          <p:cNvSpPr txBox="1"/>
          <p:nvPr/>
        </p:nvSpPr>
        <p:spPr>
          <a:xfrm>
            <a:off x="685800" y="4892040"/>
            <a:ext cx="10789920" cy="1280160"/>
          </a:xfrm>
          <a:prstGeom prst="rect">
            <a:avLst/>
          </a:prstGeom>
          <a:noFill/>
        </p:spPr>
        <p:txBody>
          <a:bodyPr wrap="square">
            <a:spAutoFit/>
          </a:bodyPr>
          <a:lstStyle/>
          <a:p>
            <a:pPr algn="l"/>
            <a:r>
              <a:rPr sz="1450" b="0" i="1">
                <a:solidFill>
                  <a:srgbClr val="4B5A5E"/>
                </a:solidFill>
                <a:latin typeface="Calibri" panose="020F0502020204030204"/>
              </a:rPr>
              <a:t>From a business owner's point of view, KopaAlert is deliberately simple: register, add customers, record what is owed, and let the system handle remembering to follow up. No step requires technical knowledge beyond filling in a form.</a:t>
            </a:r>
            <a:endParaRPr sz="1450" b="0" i="1">
              <a:solidFill>
                <a:srgbClr val="4B5A5E"/>
              </a:solidFill>
              <a:latin typeface="Calibri" panose="020F050202020403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TWO</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Core Modules and Features</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13</a:t>
            </a:r>
            <a:endParaRPr sz="1000" b="0" i="0">
              <a:solidFill>
                <a:srgbClr val="4B5A5E"/>
              </a:solidFill>
              <a:latin typeface="Calibri" panose="020F0502020204030204"/>
            </a:endParaRPr>
          </a:p>
        </p:txBody>
      </p:sp>
      <p:sp>
        <p:nvSpPr>
          <p:cNvPr id="8" name="Rectangle 7"/>
          <p:cNvSpPr/>
          <p:nvPr/>
        </p:nvSpPr>
        <p:spPr>
          <a:xfrm>
            <a:off x="685800" y="1554480"/>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554480"/>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755648"/>
            <a:ext cx="3035808" cy="457200"/>
          </a:xfrm>
          <a:prstGeom prst="rect">
            <a:avLst/>
          </a:prstGeom>
          <a:noFill/>
        </p:spPr>
        <p:txBody>
          <a:bodyPr wrap="square">
            <a:spAutoFit/>
          </a:bodyPr>
          <a:lstStyle/>
          <a:p>
            <a:pPr algn="l"/>
            <a:r>
              <a:rPr sz="1700" b="1" i="0">
                <a:solidFill>
                  <a:srgbClr val="0F766E"/>
                </a:solidFill>
                <a:latin typeface="Calibri" panose="020F0502020204030204"/>
              </a:rPr>
              <a:t>Customer Management</a:t>
            </a:r>
            <a:endParaRPr sz="1700" b="1" i="0">
              <a:solidFill>
                <a:srgbClr val="0F766E"/>
              </a:solidFill>
              <a:latin typeface="Calibri" panose="020F0502020204030204"/>
            </a:endParaRPr>
          </a:p>
        </p:txBody>
      </p:sp>
      <p:sp>
        <p:nvSpPr>
          <p:cNvPr id="11" name="TextBox 10"/>
          <p:cNvSpPr txBox="1"/>
          <p:nvPr/>
        </p:nvSpPr>
        <p:spPr>
          <a:xfrm>
            <a:off x="941832" y="2286000"/>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Register, view, edit, and blacklist customers</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Search and filter the customer list</a:t>
            </a:r>
            <a:endParaRPr sz="1150">
              <a:solidFill>
                <a:srgbClr val="121D21"/>
              </a:solidFill>
              <a:latin typeface="Calibri" panose="020F0502020204030204"/>
            </a:endParaRPr>
          </a:p>
        </p:txBody>
      </p:sp>
      <p:sp>
        <p:nvSpPr>
          <p:cNvPr id="12" name="Rectangle 11"/>
          <p:cNvSpPr/>
          <p:nvPr/>
        </p:nvSpPr>
        <p:spPr>
          <a:xfrm>
            <a:off x="4343400" y="1554480"/>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554480"/>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1755648"/>
            <a:ext cx="3035808" cy="457200"/>
          </a:xfrm>
          <a:prstGeom prst="rect">
            <a:avLst/>
          </a:prstGeom>
          <a:noFill/>
        </p:spPr>
        <p:txBody>
          <a:bodyPr wrap="square">
            <a:spAutoFit/>
          </a:bodyPr>
          <a:lstStyle/>
          <a:p>
            <a:pPr algn="l"/>
            <a:r>
              <a:rPr sz="1700" b="1" i="0">
                <a:solidFill>
                  <a:srgbClr val="0F766E"/>
                </a:solidFill>
                <a:latin typeface="Calibri" panose="020F0502020204030204"/>
              </a:rPr>
              <a:t>Debt Management</a:t>
            </a:r>
            <a:endParaRPr sz="1700" b="1" i="0">
              <a:solidFill>
                <a:srgbClr val="0F766E"/>
              </a:solidFill>
              <a:latin typeface="Calibri" panose="020F0502020204030204"/>
            </a:endParaRPr>
          </a:p>
        </p:txBody>
      </p:sp>
      <p:sp>
        <p:nvSpPr>
          <p:cNvPr id="15" name="TextBox 14"/>
          <p:cNvSpPr txBox="1"/>
          <p:nvPr/>
        </p:nvSpPr>
        <p:spPr>
          <a:xfrm>
            <a:off x="4599432" y="2286000"/>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Record debts with amount, description, and due date</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Apply available customer credit automatically</a:t>
            </a:r>
            <a:endParaRPr sz="1150">
              <a:solidFill>
                <a:srgbClr val="121D21"/>
              </a:solidFill>
              <a:latin typeface="Calibri" panose="020F0502020204030204"/>
            </a:endParaRPr>
          </a:p>
        </p:txBody>
      </p:sp>
      <p:sp>
        <p:nvSpPr>
          <p:cNvPr id="16" name="Rectangle 15"/>
          <p:cNvSpPr/>
          <p:nvPr/>
        </p:nvSpPr>
        <p:spPr>
          <a:xfrm>
            <a:off x="8001000" y="1554480"/>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01000" y="1554480"/>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1755648"/>
            <a:ext cx="3035808" cy="457200"/>
          </a:xfrm>
          <a:prstGeom prst="rect">
            <a:avLst/>
          </a:prstGeom>
          <a:noFill/>
        </p:spPr>
        <p:txBody>
          <a:bodyPr wrap="square">
            <a:spAutoFit/>
          </a:bodyPr>
          <a:lstStyle/>
          <a:p>
            <a:pPr algn="l"/>
            <a:r>
              <a:rPr sz="1700" b="1" i="0">
                <a:solidFill>
                  <a:srgbClr val="0F766E"/>
                </a:solidFill>
                <a:latin typeface="Calibri" panose="020F0502020204030204"/>
              </a:rPr>
              <a:t>Payment Recording</a:t>
            </a:r>
            <a:endParaRPr sz="1700" b="1" i="0">
              <a:solidFill>
                <a:srgbClr val="0F766E"/>
              </a:solidFill>
              <a:latin typeface="Calibri" panose="020F0502020204030204"/>
            </a:endParaRPr>
          </a:p>
        </p:txBody>
      </p:sp>
      <p:sp>
        <p:nvSpPr>
          <p:cNvPr id="19" name="TextBox 18"/>
          <p:cNvSpPr txBox="1"/>
          <p:nvPr/>
        </p:nvSpPr>
        <p:spPr>
          <a:xfrm>
            <a:off x="8257032" y="2286000"/>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Log full or partial payments against a debt</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Automatic debt status updates (open, partial, paid)</a:t>
            </a:r>
            <a:endParaRPr sz="1150">
              <a:solidFill>
                <a:srgbClr val="121D21"/>
              </a:solidFill>
              <a:latin typeface="Calibri" panose="020F0502020204030204"/>
            </a:endParaRPr>
          </a:p>
        </p:txBody>
      </p:sp>
      <p:sp>
        <p:nvSpPr>
          <p:cNvPr id="20" name="Rectangle 19"/>
          <p:cNvSpPr/>
          <p:nvPr/>
        </p:nvSpPr>
        <p:spPr>
          <a:xfrm>
            <a:off x="685800" y="3136392"/>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 y="3136392"/>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 y="3337560"/>
            <a:ext cx="3035808" cy="457200"/>
          </a:xfrm>
          <a:prstGeom prst="rect">
            <a:avLst/>
          </a:prstGeom>
          <a:noFill/>
        </p:spPr>
        <p:txBody>
          <a:bodyPr wrap="square">
            <a:spAutoFit/>
          </a:bodyPr>
          <a:lstStyle/>
          <a:p>
            <a:pPr algn="l"/>
            <a:r>
              <a:rPr sz="1700" b="1" i="0">
                <a:solidFill>
                  <a:srgbClr val="0F766E"/>
                </a:solidFill>
                <a:latin typeface="Calibri" panose="020F0502020204030204"/>
              </a:rPr>
              <a:t>Automated Reminders</a:t>
            </a:r>
            <a:endParaRPr sz="1700" b="1" i="0">
              <a:solidFill>
                <a:srgbClr val="0F766E"/>
              </a:solidFill>
              <a:latin typeface="Calibri" panose="020F0502020204030204"/>
            </a:endParaRPr>
          </a:p>
        </p:txBody>
      </p:sp>
      <p:sp>
        <p:nvSpPr>
          <p:cNvPr id="23" name="TextBox 22"/>
          <p:cNvSpPr txBox="1"/>
          <p:nvPr/>
        </p:nvSpPr>
        <p:spPr>
          <a:xfrm>
            <a:off x="941832" y="3867912"/>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Scheduled SMS via Africa's Talking</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Scheduled email via Resend</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Configurable reminder templates</a:t>
            </a:r>
            <a:endParaRPr sz="1150">
              <a:solidFill>
                <a:srgbClr val="121D21"/>
              </a:solidFill>
              <a:latin typeface="Calibri" panose="020F0502020204030204"/>
            </a:endParaRPr>
          </a:p>
        </p:txBody>
      </p:sp>
      <p:sp>
        <p:nvSpPr>
          <p:cNvPr id="24" name="Rectangle 23"/>
          <p:cNvSpPr/>
          <p:nvPr/>
        </p:nvSpPr>
        <p:spPr>
          <a:xfrm>
            <a:off x="4343400" y="3136392"/>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3400" y="3136392"/>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9432" y="3337560"/>
            <a:ext cx="3035808" cy="457200"/>
          </a:xfrm>
          <a:prstGeom prst="rect">
            <a:avLst/>
          </a:prstGeom>
          <a:noFill/>
        </p:spPr>
        <p:txBody>
          <a:bodyPr wrap="square">
            <a:spAutoFit/>
          </a:bodyPr>
          <a:lstStyle/>
          <a:p>
            <a:pPr algn="l"/>
            <a:r>
              <a:rPr sz="1700" b="1" i="0">
                <a:solidFill>
                  <a:srgbClr val="0F766E"/>
                </a:solidFill>
                <a:latin typeface="Calibri" panose="020F0502020204030204"/>
              </a:rPr>
              <a:t>Ratings &amp; Blacklisting</a:t>
            </a:r>
            <a:endParaRPr sz="1700" b="1" i="0">
              <a:solidFill>
                <a:srgbClr val="0F766E"/>
              </a:solidFill>
              <a:latin typeface="Calibri" panose="020F0502020204030204"/>
            </a:endParaRPr>
          </a:p>
        </p:txBody>
      </p:sp>
      <p:sp>
        <p:nvSpPr>
          <p:cNvPr id="27" name="TextBox 26"/>
          <p:cNvSpPr txBox="1"/>
          <p:nvPr/>
        </p:nvSpPr>
        <p:spPr>
          <a:xfrm>
            <a:off x="4599432" y="3867912"/>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Customers scored on payment behaviour</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Chronic defaulters auto-blacklisted</a:t>
            </a:r>
            <a:endParaRPr sz="1150">
              <a:solidFill>
                <a:srgbClr val="121D21"/>
              </a:solidFill>
              <a:latin typeface="Calibri" panose="020F0502020204030204"/>
            </a:endParaRPr>
          </a:p>
        </p:txBody>
      </p:sp>
      <p:sp>
        <p:nvSpPr>
          <p:cNvPr id="28" name="Rectangle 27"/>
          <p:cNvSpPr/>
          <p:nvPr/>
        </p:nvSpPr>
        <p:spPr>
          <a:xfrm>
            <a:off x="8001000" y="3136392"/>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01000" y="3136392"/>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2" y="3337560"/>
            <a:ext cx="3035808" cy="457200"/>
          </a:xfrm>
          <a:prstGeom prst="rect">
            <a:avLst/>
          </a:prstGeom>
          <a:noFill/>
        </p:spPr>
        <p:txBody>
          <a:bodyPr wrap="square">
            <a:spAutoFit/>
          </a:bodyPr>
          <a:lstStyle/>
          <a:p>
            <a:pPr algn="l"/>
            <a:r>
              <a:rPr sz="1700" b="1" i="0">
                <a:solidFill>
                  <a:srgbClr val="0F766E"/>
                </a:solidFill>
                <a:latin typeface="Calibri" panose="020F0502020204030204"/>
              </a:rPr>
              <a:t>Team Management</a:t>
            </a:r>
            <a:endParaRPr sz="1700" b="1" i="0">
              <a:solidFill>
                <a:srgbClr val="0F766E"/>
              </a:solidFill>
              <a:latin typeface="Calibri" panose="020F0502020204030204"/>
            </a:endParaRPr>
          </a:p>
        </p:txBody>
      </p:sp>
      <p:sp>
        <p:nvSpPr>
          <p:cNvPr id="31" name="TextBox 30"/>
          <p:cNvSpPr txBox="1"/>
          <p:nvPr/>
        </p:nvSpPr>
        <p:spPr>
          <a:xfrm>
            <a:off x="8257032" y="3867912"/>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Invite staff with defined roles</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Role-based access within a business</a:t>
            </a:r>
            <a:endParaRPr sz="1150">
              <a:solidFill>
                <a:srgbClr val="121D21"/>
              </a:solidFill>
              <a:latin typeface="Calibri" panose="020F0502020204030204"/>
            </a:endParaRPr>
          </a:p>
        </p:txBody>
      </p:sp>
      <p:sp>
        <p:nvSpPr>
          <p:cNvPr id="32" name="Rectangle 31"/>
          <p:cNvSpPr/>
          <p:nvPr/>
        </p:nvSpPr>
        <p:spPr>
          <a:xfrm>
            <a:off x="685800" y="4718304"/>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5800" y="4718304"/>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1832" y="4919472"/>
            <a:ext cx="3035808" cy="457200"/>
          </a:xfrm>
          <a:prstGeom prst="rect">
            <a:avLst/>
          </a:prstGeom>
          <a:noFill/>
        </p:spPr>
        <p:txBody>
          <a:bodyPr wrap="square">
            <a:spAutoFit/>
          </a:bodyPr>
          <a:lstStyle/>
          <a:p>
            <a:pPr algn="l"/>
            <a:r>
              <a:rPr sz="1700" b="1" i="0">
                <a:solidFill>
                  <a:srgbClr val="0F766E"/>
                </a:solidFill>
                <a:latin typeface="Calibri" panose="020F0502020204030204"/>
              </a:rPr>
              <a:t>Subscription &amp; Billing</a:t>
            </a:r>
            <a:endParaRPr sz="1700" b="1" i="0">
              <a:solidFill>
                <a:srgbClr val="0F766E"/>
              </a:solidFill>
              <a:latin typeface="Calibri" panose="020F0502020204030204"/>
            </a:endParaRPr>
          </a:p>
        </p:txBody>
      </p:sp>
      <p:sp>
        <p:nvSpPr>
          <p:cNvPr id="35" name="TextBox 34"/>
          <p:cNvSpPr txBox="1"/>
          <p:nvPr/>
        </p:nvSpPr>
        <p:spPr>
          <a:xfrm>
            <a:off x="941832" y="5449824"/>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Monthly and one-time lifetime plans</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Automated billing cron job</a:t>
            </a:r>
            <a:endParaRPr sz="1150">
              <a:solidFill>
                <a:srgbClr val="121D21"/>
              </a:solidFill>
              <a:latin typeface="Calibri" panose="020F0502020204030204"/>
            </a:endParaRPr>
          </a:p>
        </p:txBody>
      </p:sp>
      <p:sp>
        <p:nvSpPr>
          <p:cNvPr id="36" name="Rectangle 35"/>
          <p:cNvSpPr/>
          <p:nvPr/>
        </p:nvSpPr>
        <p:spPr>
          <a:xfrm>
            <a:off x="4343400" y="4718304"/>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343400" y="4718304"/>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99432" y="4919472"/>
            <a:ext cx="3035808" cy="457200"/>
          </a:xfrm>
          <a:prstGeom prst="rect">
            <a:avLst/>
          </a:prstGeom>
          <a:noFill/>
        </p:spPr>
        <p:txBody>
          <a:bodyPr wrap="square">
            <a:spAutoFit/>
          </a:bodyPr>
          <a:lstStyle/>
          <a:p>
            <a:pPr algn="l"/>
            <a:r>
              <a:rPr sz="1700" b="1" i="0">
                <a:solidFill>
                  <a:srgbClr val="0F766E"/>
                </a:solidFill>
                <a:latin typeface="Calibri" panose="020F0502020204030204"/>
              </a:rPr>
              <a:t>Admin Console</a:t>
            </a:r>
            <a:endParaRPr sz="1700" b="1" i="0">
              <a:solidFill>
                <a:srgbClr val="0F766E"/>
              </a:solidFill>
              <a:latin typeface="Calibri" panose="020F0502020204030204"/>
            </a:endParaRPr>
          </a:p>
        </p:txBody>
      </p:sp>
      <p:sp>
        <p:nvSpPr>
          <p:cNvPr id="39" name="TextBox 38"/>
          <p:cNvSpPr txBox="1"/>
          <p:nvPr/>
        </p:nvSpPr>
        <p:spPr>
          <a:xfrm>
            <a:off x="4599432" y="5449824"/>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Approve/reject new business signups</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Platform-wide audit trail and settings</a:t>
            </a:r>
            <a:endParaRPr sz="1150">
              <a:solidFill>
                <a:srgbClr val="121D21"/>
              </a:solidFill>
              <a:latin typeface="Calibri" panose="020F0502020204030204"/>
            </a:endParaRPr>
          </a:p>
        </p:txBody>
      </p:sp>
      <p:sp>
        <p:nvSpPr>
          <p:cNvPr id="40" name="Rectangle 39"/>
          <p:cNvSpPr/>
          <p:nvPr/>
        </p:nvSpPr>
        <p:spPr>
          <a:xfrm>
            <a:off x="8001000" y="4718304"/>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01000" y="4718304"/>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57032" y="4919472"/>
            <a:ext cx="3035808" cy="457200"/>
          </a:xfrm>
          <a:prstGeom prst="rect">
            <a:avLst/>
          </a:prstGeom>
          <a:noFill/>
        </p:spPr>
        <p:txBody>
          <a:bodyPr wrap="square">
            <a:spAutoFit/>
          </a:bodyPr>
          <a:lstStyle/>
          <a:p>
            <a:pPr algn="l"/>
            <a:r>
              <a:rPr sz="1700" b="1" i="0">
                <a:solidFill>
                  <a:srgbClr val="0F766E"/>
                </a:solidFill>
                <a:latin typeface="Calibri" panose="020F0502020204030204"/>
              </a:rPr>
              <a:t>Reports &amp; Analytics</a:t>
            </a:r>
            <a:endParaRPr sz="1700" b="1" i="0">
              <a:solidFill>
                <a:srgbClr val="0F766E"/>
              </a:solidFill>
              <a:latin typeface="Calibri" panose="020F0502020204030204"/>
            </a:endParaRPr>
          </a:p>
        </p:txBody>
      </p:sp>
      <p:sp>
        <p:nvSpPr>
          <p:cNvPr id="43" name="TextBox 42"/>
          <p:cNvSpPr txBox="1"/>
          <p:nvPr/>
        </p:nvSpPr>
        <p:spPr>
          <a:xfrm>
            <a:off x="8257032" y="5449824"/>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Debts, payments, customers, and SMS delivery reports</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Business dashboard overview</a:t>
            </a:r>
            <a:endParaRPr sz="1150">
              <a:solidFill>
                <a:srgbClr val="121D21"/>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TWO</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Database Design Overview</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14</a:t>
            </a:r>
            <a:endParaRPr sz="1000" b="0" i="0">
              <a:solidFill>
                <a:srgbClr val="4B5A5E"/>
              </a:solidFill>
              <a:latin typeface="Calibri" panose="020F0502020204030204"/>
            </a:endParaRPr>
          </a:p>
        </p:txBody>
      </p:sp>
      <p:sp>
        <p:nvSpPr>
          <p:cNvPr id="8" name="TextBox 7"/>
          <p:cNvSpPr txBox="1"/>
          <p:nvPr/>
        </p:nvSpPr>
        <p:spPr>
          <a:xfrm>
            <a:off x="685800" y="1600200"/>
            <a:ext cx="10789920" cy="3931920"/>
          </a:xfrm>
          <a:prstGeom prst="rect">
            <a:avLst/>
          </a:prstGeom>
          <a:noFill/>
        </p:spPr>
        <p:txBody>
          <a:bodyPr wrap="square">
            <a:spAutoFit/>
          </a:bodyPr>
          <a:lstStyle/>
          <a:p>
            <a:pPr>
              <a:lnSpc>
                <a:spcPct val="108000"/>
              </a:lnSpc>
              <a:spcAft>
                <a:spcPts val="1100"/>
              </a:spcAft>
            </a:pPr>
            <a:r>
              <a:rPr sz="1500">
                <a:solidFill>
                  <a:srgbClr val="121D21"/>
                </a:solidFill>
                <a:latin typeface="Calibri" panose="020F0502020204030204"/>
              </a:rPr>
              <a:t>•  businesses — one row per registered business (name, subscription status)</a:t>
            </a:r>
            <a:endParaRPr sz="1500">
              <a:solidFill>
                <a:srgbClr val="121D21"/>
              </a:solidFill>
              <a:latin typeface="Calibri" panose="020F0502020204030204"/>
            </a:endParaRPr>
          </a:p>
          <a:p>
            <a:pPr>
              <a:lnSpc>
                <a:spcPct val="108000"/>
              </a:lnSpc>
              <a:spcAft>
                <a:spcPts val="1100"/>
              </a:spcAft>
            </a:pPr>
            <a:r>
              <a:rPr sz="1500">
                <a:solidFill>
                  <a:srgbClr val="121D21"/>
                </a:solidFill>
                <a:latin typeface="Calibri" panose="020F0502020204030204"/>
              </a:rPr>
              <a:t>•  users — staff accounts, linked to a business, with a role</a:t>
            </a:r>
            <a:endParaRPr sz="1500">
              <a:solidFill>
                <a:srgbClr val="121D21"/>
              </a:solidFill>
              <a:latin typeface="Calibri" panose="020F0502020204030204"/>
            </a:endParaRPr>
          </a:p>
          <a:p>
            <a:pPr>
              <a:lnSpc>
                <a:spcPct val="108000"/>
              </a:lnSpc>
              <a:spcAft>
                <a:spcPts val="1100"/>
              </a:spcAft>
            </a:pPr>
            <a:r>
              <a:rPr sz="1500">
                <a:solidFill>
                  <a:srgbClr val="121D21"/>
                </a:solidFill>
                <a:latin typeface="Calibri" panose="020F0502020204030204"/>
              </a:rPr>
              <a:t>•  business_requests — pending sign-ups awaiting admin approval</a:t>
            </a:r>
            <a:endParaRPr sz="1500">
              <a:solidFill>
                <a:srgbClr val="121D21"/>
              </a:solidFill>
              <a:latin typeface="Calibri" panose="020F0502020204030204"/>
            </a:endParaRPr>
          </a:p>
          <a:p>
            <a:pPr>
              <a:lnSpc>
                <a:spcPct val="108000"/>
              </a:lnSpc>
              <a:spcAft>
                <a:spcPts val="1100"/>
              </a:spcAft>
            </a:pPr>
            <a:r>
              <a:rPr sz="1500">
                <a:solidFill>
                  <a:srgbClr val="121D21"/>
                </a:solidFill>
                <a:latin typeface="Calibri" panose="020F0502020204030204"/>
              </a:rPr>
              <a:t>•  customers — debtors belonging to a business (name, phone, email, rating, blacklist flag)</a:t>
            </a:r>
            <a:endParaRPr sz="1500">
              <a:solidFill>
                <a:srgbClr val="121D21"/>
              </a:solidFill>
              <a:latin typeface="Calibri" panose="020F0502020204030204"/>
            </a:endParaRPr>
          </a:p>
          <a:p>
            <a:pPr>
              <a:lnSpc>
                <a:spcPct val="108000"/>
              </a:lnSpc>
              <a:spcAft>
                <a:spcPts val="1100"/>
              </a:spcAft>
            </a:pPr>
            <a:r>
              <a:rPr sz="1500">
                <a:solidFill>
                  <a:srgbClr val="121D21"/>
                </a:solidFill>
                <a:latin typeface="Calibri" panose="020F0502020204030204"/>
              </a:rPr>
              <a:t>•  debts — amount owed, due date, description, status, linked to a customer</a:t>
            </a:r>
            <a:endParaRPr sz="1500">
              <a:solidFill>
                <a:srgbClr val="121D21"/>
              </a:solidFill>
              <a:latin typeface="Calibri" panose="020F0502020204030204"/>
            </a:endParaRPr>
          </a:p>
          <a:p>
            <a:pPr>
              <a:lnSpc>
                <a:spcPct val="108000"/>
              </a:lnSpc>
              <a:spcAft>
                <a:spcPts val="1100"/>
              </a:spcAft>
            </a:pPr>
            <a:r>
              <a:rPr sz="1500">
                <a:solidFill>
                  <a:srgbClr val="121D21"/>
                </a:solidFill>
                <a:latin typeface="Calibri" panose="020F0502020204030204"/>
              </a:rPr>
              <a:t>•  payments — amounts paid against a debt, with method and date</a:t>
            </a:r>
            <a:endParaRPr sz="1500">
              <a:solidFill>
                <a:srgbClr val="121D21"/>
              </a:solidFill>
              <a:latin typeface="Calibri" panose="020F0502020204030204"/>
            </a:endParaRPr>
          </a:p>
          <a:p>
            <a:pPr>
              <a:lnSpc>
                <a:spcPct val="108000"/>
              </a:lnSpc>
              <a:spcAft>
                <a:spcPts val="1100"/>
              </a:spcAft>
            </a:pPr>
            <a:r>
              <a:rPr sz="1500">
                <a:solidFill>
                  <a:srgbClr val="121D21"/>
                </a:solidFill>
                <a:latin typeface="Calibri" panose="020F0502020204030204"/>
              </a:rPr>
              <a:t>•  notification_templates / notification_queue — SMS &amp; email templates and the scheduled send queue</a:t>
            </a:r>
            <a:endParaRPr sz="1500">
              <a:solidFill>
                <a:srgbClr val="121D21"/>
              </a:solidFill>
              <a:latin typeface="Calibri" panose="020F0502020204030204"/>
            </a:endParaRPr>
          </a:p>
          <a:p>
            <a:pPr>
              <a:lnSpc>
                <a:spcPct val="108000"/>
              </a:lnSpc>
              <a:spcAft>
                <a:spcPts val="1100"/>
              </a:spcAft>
            </a:pPr>
            <a:r>
              <a:rPr sz="1500">
                <a:solidFill>
                  <a:srgbClr val="121D21"/>
                </a:solidFill>
                <a:latin typeface="Calibri" panose="020F0502020204030204"/>
              </a:rPr>
              <a:t>•  business_settings / platform_settings — per-business and platform-wide configuration</a:t>
            </a:r>
            <a:endParaRPr sz="1500">
              <a:solidFill>
                <a:srgbClr val="121D21"/>
              </a:solidFill>
              <a:latin typeface="Calibri" panose="020F0502020204030204"/>
            </a:endParaRPr>
          </a:p>
        </p:txBody>
      </p:sp>
      <p:sp>
        <p:nvSpPr>
          <p:cNvPr id="9" name="TextBox 8"/>
          <p:cNvSpPr txBox="1"/>
          <p:nvPr/>
        </p:nvSpPr>
        <p:spPr>
          <a:xfrm>
            <a:off x="685800" y="5623560"/>
            <a:ext cx="10789920" cy="640080"/>
          </a:xfrm>
          <a:prstGeom prst="rect">
            <a:avLst/>
          </a:prstGeom>
          <a:noFill/>
        </p:spPr>
        <p:txBody>
          <a:bodyPr wrap="square">
            <a:spAutoFit/>
          </a:bodyPr>
          <a:lstStyle/>
          <a:p>
            <a:pPr algn="l"/>
            <a:r>
              <a:rPr sz="1300" b="1" i="1">
                <a:solidFill>
                  <a:srgbClr val="0A4F4A"/>
                </a:solidFill>
                <a:latin typeface="Calibri" panose="020F0502020204030204"/>
              </a:rPr>
              <a:t>Every business-owned table carries a business_id, enforced by Supabase Row Level Security policies — the database itself refuses a query that reaches outside your own business.</a:t>
            </a:r>
            <a:endParaRPr sz="1300" b="1" i="1">
              <a:solidFill>
                <a:srgbClr val="0A4F4A"/>
              </a:solidFill>
              <a:latin typeface="Calibri" panose="020F05020202040302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THREE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Methodology</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15</a:t>
            </a:r>
            <a:endParaRPr sz="1000" b="0" i="0">
              <a:solidFill>
                <a:srgbClr val="4B5A5E"/>
              </a:solidFill>
              <a:latin typeface="Calibri" panose="020F0502020204030204"/>
            </a:endParaRPr>
          </a:p>
        </p:txBody>
      </p:sp>
      <p:sp>
        <p:nvSpPr>
          <p:cNvPr id="8" name="TextBox 7"/>
          <p:cNvSpPr txBox="1"/>
          <p:nvPr/>
        </p:nvSpPr>
        <p:spPr>
          <a:xfrm>
            <a:off x="685800" y="1600200"/>
            <a:ext cx="10789920" cy="4572000"/>
          </a:xfrm>
          <a:prstGeom prst="rect">
            <a:avLst/>
          </a:prstGeom>
          <a:noFill/>
        </p:spPr>
        <p:txBody>
          <a:bodyPr wrap="square">
            <a:spAutoFit/>
          </a:bodyPr>
          <a:lstStyle/>
          <a:p>
            <a:pPr>
              <a:lnSpc>
                <a:spcPct val="108000"/>
              </a:lnSpc>
              <a:spcAft>
                <a:spcPts val="1000"/>
              </a:spcAft>
            </a:pPr>
            <a:r>
              <a:rPr sz="1700">
                <a:solidFill>
                  <a:srgbClr val="121D21"/>
                </a:solidFill>
                <a:latin typeface="Calibri" panose="020F0502020204030204"/>
              </a:rPr>
              <a:t>•  I followed an iterative, incremental development approach — building and shipping one working feature at a time rather than attempting the whole system before testing anything.</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Each feature began with identifying the real-world behaviour it needed to replace (e.g. "the book showed who owed what" became the debts table and the dashboard).</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I used Git for version control, with focused commits so that each change could be reviewed and, if needed, reversed independently.</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Automated tests (Jest for logic, Playwright for full user flows) were written alongside features to catch regressions as the system grew.</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Bugs found in real use (for example, redirect issues and duplicate-record edge cases) were logged, root-caused, and fixed as part of the same iterative cycle.</a:t>
            </a:r>
            <a:endParaRPr sz="1700">
              <a:solidFill>
                <a:srgbClr val="121D21"/>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THREE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Challenges Encountered</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16</a:t>
            </a:r>
            <a:endParaRPr sz="1000" b="0" i="0">
              <a:solidFill>
                <a:srgbClr val="4B5A5E"/>
              </a:solidFill>
              <a:latin typeface="Calibri" panose="020F0502020204030204"/>
            </a:endParaRPr>
          </a:p>
        </p:txBody>
      </p:sp>
      <p:sp>
        <p:nvSpPr>
          <p:cNvPr id="8" name="Rectangle 7"/>
          <p:cNvSpPr/>
          <p:nvPr/>
        </p:nvSpPr>
        <p:spPr>
          <a:xfrm>
            <a:off x="685800" y="1572768"/>
            <a:ext cx="534924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572768"/>
            <a:ext cx="73152" cy="1417320"/>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700784"/>
            <a:ext cx="4892040" cy="320040"/>
          </a:xfrm>
          <a:prstGeom prst="rect">
            <a:avLst/>
          </a:prstGeom>
          <a:noFill/>
        </p:spPr>
        <p:txBody>
          <a:bodyPr wrap="square">
            <a:spAutoFit/>
          </a:bodyPr>
          <a:lstStyle/>
          <a:p>
            <a:pPr algn="l"/>
            <a:r>
              <a:rPr sz="1450" b="1" i="0">
                <a:solidFill>
                  <a:srgbClr val="0F766E"/>
                </a:solidFill>
                <a:latin typeface="Calibri" panose="020F0502020204030204"/>
              </a:rPr>
              <a:t>Hardware reliability</a:t>
            </a:r>
            <a:endParaRPr sz="1450" b="1" i="0">
              <a:solidFill>
                <a:srgbClr val="0F766E"/>
              </a:solidFill>
              <a:latin typeface="Calibri" panose="020F0502020204030204"/>
            </a:endParaRPr>
          </a:p>
        </p:txBody>
      </p:sp>
      <p:sp>
        <p:nvSpPr>
          <p:cNvPr id="11" name="TextBox 10"/>
          <p:cNvSpPr txBox="1"/>
          <p:nvPr/>
        </p:nvSpPr>
        <p:spPr>
          <a:xfrm>
            <a:off x="941832" y="2048256"/>
            <a:ext cx="4892040" cy="868680"/>
          </a:xfrm>
          <a:prstGeom prst="rect">
            <a:avLst/>
          </a:prstGeom>
          <a:noFill/>
        </p:spPr>
        <p:txBody>
          <a:bodyPr wrap="square">
            <a:spAutoFit/>
          </a:bodyPr>
          <a:lstStyle/>
          <a:p>
            <a:pPr algn="l">
              <a:lnSpc>
                <a:spcPct val="110000"/>
              </a:lnSpc>
            </a:pPr>
            <a:r>
              <a:rPr sz="1150" b="0" i="0">
                <a:solidFill>
                  <a:srgbClr val="121D21"/>
                </a:solidFill>
                <a:latin typeface="Calibri" panose="020F0502020204030204"/>
              </a:rPr>
              <a:t>My laptop would frequently hang or freeze during long coding sessions, costing time and occasionally unsaved work.</a:t>
            </a:r>
            <a:endParaRPr sz="1150" b="0" i="0">
              <a:solidFill>
                <a:srgbClr val="121D21"/>
              </a:solidFill>
              <a:latin typeface="Calibri" panose="020F0502020204030204"/>
            </a:endParaRPr>
          </a:p>
        </p:txBody>
      </p:sp>
      <p:sp>
        <p:nvSpPr>
          <p:cNvPr id="12" name="Rectangle 11"/>
          <p:cNvSpPr/>
          <p:nvPr/>
        </p:nvSpPr>
        <p:spPr>
          <a:xfrm>
            <a:off x="6172200" y="1572768"/>
            <a:ext cx="534924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72768"/>
            <a:ext cx="73152" cy="1417320"/>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700784"/>
            <a:ext cx="4892040" cy="320040"/>
          </a:xfrm>
          <a:prstGeom prst="rect">
            <a:avLst/>
          </a:prstGeom>
          <a:noFill/>
        </p:spPr>
        <p:txBody>
          <a:bodyPr wrap="square">
            <a:spAutoFit/>
          </a:bodyPr>
          <a:lstStyle/>
          <a:p>
            <a:pPr algn="l"/>
            <a:r>
              <a:rPr sz="1450" b="1" i="0">
                <a:solidFill>
                  <a:srgbClr val="0F766E"/>
                </a:solidFill>
                <a:latin typeface="Calibri" panose="020F0502020204030204"/>
              </a:rPr>
              <a:t>Electricity</a:t>
            </a:r>
            <a:endParaRPr sz="1450" b="1" i="0">
              <a:solidFill>
                <a:srgbClr val="0F766E"/>
              </a:solidFill>
              <a:latin typeface="Calibri" panose="020F0502020204030204"/>
            </a:endParaRPr>
          </a:p>
        </p:txBody>
      </p:sp>
      <p:sp>
        <p:nvSpPr>
          <p:cNvPr id="15" name="TextBox 14"/>
          <p:cNvSpPr txBox="1"/>
          <p:nvPr/>
        </p:nvSpPr>
        <p:spPr>
          <a:xfrm>
            <a:off x="6428232" y="2048256"/>
            <a:ext cx="4892040" cy="868680"/>
          </a:xfrm>
          <a:prstGeom prst="rect">
            <a:avLst/>
          </a:prstGeom>
          <a:noFill/>
        </p:spPr>
        <p:txBody>
          <a:bodyPr wrap="square">
            <a:spAutoFit/>
          </a:bodyPr>
          <a:lstStyle/>
          <a:p>
            <a:pPr algn="l">
              <a:lnSpc>
                <a:spcPct val="110000"/>
              </a:lnSpc>
            </a:pPr>
            <a:r>
              <a:rPr sz="1150" b="0" i="0">
                <a:solidFill>
                  <a:srgbClr val="121D21"/>
                </a:solidFill>
                <a:latin typeface="Calibri" panose="020F0502020204030204"/>
              </a:rPr>
              <a:t>Unpredictable power outages interrupted development sessions, especially during testing and deployment work.</a:t>
            </a:r>
            <a:endParaRPr sz="1150" b="0" i="0">
              <a:solidFill>
                <a:srgbClr val="121D21"/>
              </a:solidFill>
              <a:latin typeface="Calibri" panose="020F0502020204030204"/>
            </a:endParaRPr>
          </a:p>
        </p:txBody>
      </p:sp>
      <p:sp>
        <p:nvSpPr>
          <p:cNvPr id="16" name="Rectangle 15"/>
          <p:cNvSpPr/>
          <p:nvPr/>
        </p:nvSpPr>
        <p:spPr>
          <a:xfrm>
            <a:off x="685800" y="3099816"/>
            <a:ext cx="534924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5800" y="3099816"/>
            <a:ext cx="73152" cy="1417320"/>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3227832"/>
            <a:ext cx="4892040" cy="320040"/>
          </a:xfrm>
          <a:prstGeom prst="rect">
            <a:avLst/>
          </a:prstGeom>
          <a:noFill/>
        </p:spPr>
        <p:txBody>
          <a:bodyPr wrap="square">
            <a:spAutoFit/>
          </a:bodyPr>
          <a:lstStyle/>
          <a:p>
            <a:pPr algn="l"/>
            <a:r>
              <a:rPr sz="1450" b="1" i="0">
                <a:solidFill>
                  <a:srgbClr val="0F766E"/>
                </a:solidFill>
                <a:latin typeface="Calibri" panose="020F0502020204030204"/>
              </a:rPr>
              <a:t>Network connectivity</a:t>
            </a:r>
            <a:endParaRPr sz="1450" b="1" i="0">
              <a:solidFill>
                <a:srgbClr val="0F766E"/>
              </a:solidFill>
              <a:latin typeface="Calibri" panose="020F0502020204030204"/>
            </a:endParaRPr>
          </a:p>
        </p:txBody>
      </p:sp>
      <p:sp>
        <p:nvSpPr>
          <p:cNvPr id="19" name="TextBox 18"/>
          <p:cNvSpPr txBox="1"/>
          <p:nvPr/>
        </p:nvSpPr>
        <p:spPr>
          <a:xfrm>
            <a:off x="941832" y="3575304"/>
            <a:ext cx="4892040" cy="868680"/>
          </a:xfrm>
          <a:prstGeom prst="rect">
            <a:avLst/>
          </a:prstGeom>
          <a:noFill/>
        </p:spPr>
        <p:txBody>
          <a:bodyPr wrap="square">
            <a:spAutoFit/>
          </a:bodyPr>
          <a:lstStyle/>
          <a:p>
            <a:pPr algn="l">
              <a:lnSpc>
                <a:spcPct val="110000"/>
              </a:lnSpc>
            </a:pPr>
            <a:r>
              <a:rPr sz="1150" b="0" i="0">
                <a:solidFill>
                  <a:srgbClr val="121D21"/>
                </a:solidFill>
                <a:latin typeface="Calibri" panose="020F0502020204030204"/>
              </a:rPr>
              <a:t>Slow or unstable internet made cloud-dependent work (Supabase, deployments, SMS/email testing) unreliable at times.</a:t>
            </a:r>
            <a:endParaRPr sz="1150" b="0" i="0">
              <a:solidFill>
                <a:srgbClr val="121D21"/>
              </a:solidFill>
              <a:latin typeface="Calibri" panose="020F0502020204030204"/>
            </a:endParaRPr>
          </a:p>
        </p:txBody>
      </p:sp>
      <p:sp>
        <p:nvSpPr>
          <p:cNvPr id="20" name="Rectangle 19"/>
          <p:cNvSpPr/>
          <p:nvPr/>
        </p:nvSpPr>
        <p:spPr>
          <a:xfrm>
            <a:off x="6172200" y="3099816"/>
            <a:ext cx="534924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72200" y="3099816"/>
            <a:ext cx="73152" cy="1417320"/>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3227832"/>
            <a:ext cx="4892040" cy="320040"/>
          </a:xfrm>
          <a:prstGeom prst="rect">
            <a:avLst/>
          </a:prstGeom>
          <a:noFill/>
        </p:spPr>
        <p:txBody>
          <a:bodyPr wrap="square">
            <a:spAutoFit/>
          </a:bodyPr>
          <a:lstStyle/>
          <a:p>
            <a:pPr algn="l"/>
            <a:r>
              <a:rPr sz="1450" b="1" i="0">
                <a:solidFill>
                  <a:srgbClr val="0F766E"/>
                </a:solidFill>
                <a:latin typeface="Calibri" panose="020F0502020204030204"/>
              </a:rPr>
              <a:t>Balancing routine</a:t>
            </a:r>
            <a:endParaRPr sz="1450" b="1" i="0">
              <a:solidFill>
                <a:srgbClr val="0F766E"/>
              </a:solidFill>
              <a:latin typeface="Calibri" panose="020F0502020204030204"/>
            </a:endParaRPr>
          </a:p>
        </p:txBody>
      </p:sp>
      <p:sp>
        <p:nvSpPr>
          <p:cNvPr id="23" name="TextBox 22"/>
          <p:cNvSpPr txBox="1"/>
          <p:nvPr/>
        </p:nvSpPr>
        <p:spPr>
          <a:xfrm>
            <a:off x="6428232" y="3575304"/>
            <a:ext cx="4892040" cy="868680"/>
          </a:xfrm>
          <a:prstGeom prst="rect">
            <a:avLst/>
          </a:prstGeom>
          <a:noFill/>
        </p:spPr>
        <p:txBody>
          <a:bodyPr wrap="square">
            <a:spAutoFit/>
          </a:bodyPr>
          <a:lstStyle/>
          <a:p>
            <a:pPr algn="l">
              <a:lnSpc>
                <a:spcPct val="110000"/>
              </a:lnSpc>
            </a:pPr>
            <a:r>
              <a:rPr sz="1150" b="0" i="0">
                <a:solidFill>
                  <a:srgbClr val="121D21"/>
                </a:solidFill>
                <a:latin typeface="Calibri" panose="020F0502020204030204"/>
              </a:rPr>
              <a:t>Fitting sustained project work around my daily routine, coursework, and other responsibilities required careful time management.</a:t>
            </a:r>
            <a:endParaRPr sz="1150" b="0" i="0">
              <a:solidFill>
                <a:srgbClr val="121D21"/>
              </a:solidFill>
              <a:latin typeface="Calibri" panose="020F0502020204030204"/>
            </a:endParaRPr>
          </a:p>
        </p:txBody>
      </p:sp>
      <p:sp>
        <p:nvSpPr>
          <p:cNvPr id="24" name="Rectangle 23"/>
          <p:cNvSpPr/>
          <p:nvPr/>
        </p:nvSpPr>
        <p:spPr>
          <a:xfrm>
            <a:off x="685800" y="4626864"/>
            <a:ext cx="534924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800" y="4626864"/>
            <a:ext cx="73152" cy="1417320"/>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 y="4754880"/>
            <a:ext cx="4892040" cy="320040"/>
          </a:xfrm>
          <a:prstGeom prst="rect">
            <a:avLst/>
          </a:prstGeom>
          <a:noFill/>
        </p:spPr>
        <p:txBody>
          <a:bodyPr wrap="square">
            <a:spAutoFit/>
          </a:bodyPr>
          <a:lstStyle/>
          <a:p>
            <a:pPr algn="l"/>
            <a:r>
              <a:rPr sz="1450" b="1" i="0">
                <a:solidFill>
                  <a:srgbClr val="0F766E"/>
                </a:solidFill>
                <a:latin typeface="Calibri" panose="020F0502020204030204"/>
              </a:rPr>
              <a:t>Funding</a:t>
            </a:r>
            <a:endParaRPr sz="1450" b="1" i="0">
              <a:solidFill>
                <a:srgbClr val="0F766E"/>
              </a:solidFill>
              <a:latin typeface="Calibri" panose="020F0502020204030204"/>
            </a:endParaRPr>
          </a:p>
        </p:txBody>
      </p:sp>
      <p:sp>
        <p:nvSpPr>
          <p:cNvPr id="27" name="TextBox 26"/>
          <p:cNvSpPr txBox="1"/>
          <p:nvPr/>
        </p:nvSpPr>
        <p:spPr>
          <a:xfrm>
            <a:off x="941832" y="5102352"/>
            <a:ext cx="4892040" cy="868680"/>
          </a:xfrm>
          <a:prstGeom prst="rect">
            <a:avLst/>
          </a:prstGeom>
          <a:noFill/>
        </p:spPr>
        <p:txBody>
          <a:bodyPr wrap="square">
            <a:spAutoFit/>
          </a:bodyPr>
          <a:lstStyle/>
          <a:p>
            <a:pPr algn="l">
              <a:lnSpc>
                <a:spcPct val="110000"/>
              </a:lnSpc>
            </a:pPr>
            <a:r>
              <a:rPr sz="1150" b="0" i="0">
                <a:solidFill>
                  <a:srgbClr val="121D21"/>
                </a:solidFill>
                <a:latin typeface="Calibri" panose="020F0502020204030204"/>
              </a:rPr>
              <a:t>Covering costs such as hosting, domain, and SMS test credits on a student budget was a recurring constraint.</a:t>
            </a:r>
            <a:endParaRPr sz="1150" b="0" i="0">
              <a:solidFill>
                <a:srgbClr val="121D21"/>
              </a:solidFill>
              <a:latin typeface="Calibri" panose="020F0502020204030204"/>
            </a:endParaRPr>
          </a:p>
        </p:txBody>
      </p:sp>
      <p:sp>
        <p:nvSpPr>
          <p:cNvPr id="28" name="Rectangle 27"/>
          <p:cNvSpPr/>
          <p:nvPr/>
        </p:nvSpPr>
        <p:spPr>
          <a:xfrm>
            <a:off x="6172200" y="4626864"/>
            <a:ext cx="534924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72200" y="4626864"/>
            <a:ext cx="73152" cy="1417320"/>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8232" y="4754880"/>
            <a:ext cx="4892040" cy="320040"/>
          </a:xfrm>
          <a:prstGeom prst="rect">
            <a:avLst/>
          </a:prstGeom>
          <a:noFill/>
        </p:spPr>
        <p:txBody>
          <a:bodyPr wrap="square">
            <a:spAutoFit/>
          </a:bodyPr>
          <a:lstStyle/>
          <a:p>
            <a:pPr algn="l"/>
            <a:r>
              <a:rPr sz="1450" b="1" i="0">
                <a:solidFill>
                  <a:srgbClr val="0F766E"/>
                </a:solidFill>
                <a:latin typeface="Calibri" panose="020F0502020204030204"/>
              </a:rPr>
              <a:t>Learning curve</a:t>
            </a:r>
            <a:endParaRPr sz="1450" b="1" i="0">
              <a:solidFill>
                <a:srgbClr val="0F766E"/>
              </a:solidFill>
              <a:latin typeface="Calibri" panose="020F0502020204030204"/>
            </a:endParaRPr>
          </a:p>
        </p:txBody>
      </p:sp>
      <p:sp>
        <p:nvSpPr>
          <p:cNvPr id="31" name="TextBox 30"/>
          <p:cNvSpPr txBox="1"/>
          <p:nvPr/>
        </p:nvSpPr>
        <p:spPr>
          <a:xfrm>
            <a:off x="6428232" y="5102352"/>
            <a:ext cx="4892040" cy="868680"/>
          </a:xfrm>
          <a:prstGeom prst="rect">
            <a:avLst/>
          </a:prstGeom>
          <a:noFill/>
        </p:spPr>
        <p:txBody>
          <a:bodyPr wrap="square">
            <a:spAutoFit/>
          </a:bodyPr>
          <a:lstStyle/>
          <a:p>
            <a:pPr algn="l">
              <a:lnSpc>
                <a:spcPct val="110000"/>
              </a:lnSpc>
            </a:pPr>
            <a:r>
              <a:rPr sz="1150" b="0" i="0">
                <a:solidFill>
                  <a:srgbClr val="121D21"/>
                </a:solidFill>
                <a:latin typeface="Calibri" panose="020F0502020204030204"/>
              </a:rPr>
              <a:t>Several parts of the stack (Supabase RLS, Next.js App Router, scheduled cron jobs) were new to me and had to be learned while building.</a:t>
            </a:r>
            <a:endParaRPr sz="1150" b="0" i="0">
              <a:solidFill>
                <a:srgbClr val="121D21"/>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FOUR</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Testing and Quality Assurance</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17</a:t>
            </a:r>
            <a:endParaRPr sz="1000" b="0" i="0">
              <a:solidFill>
                <a:srgbClr val="4B5A5E"/>
              </a:solidFill>
              <a:latin typeface="Calibri" panose="020F0502020204030204"/>
            </a:endParaRPr>
          </a:p>
        </p:txBody>
      </p:sp>
      <p:sp>
        <p:nvSpPr>
          <p:cNvPr id="8" name="TextBox 7"/>
          <p:cNvSpPr txBox="1"/>
          <p:nvPr/>
        </p:nvSpPr>
        <p:spPr>
          <a:xfrm>
            <a:off x="685800" y="1600200"/>
            <a:ext cx="10789920" cy="4572000"/>
          </a:xfrm>
          <a:prstGeom prst="rect">
            <a:avLst/>
          </a:prstGeom>
          <a:noFill/>
        </p:spPr>
        <p:txBody>
          <a:bodyPr wrap="square">
            <a:spAutoFit/>
          </a:bodyPr>
          <a:lstStyle/>
          <a:p>
            <a:pPr>
              <a:lnSpc>
                <a:spcPct val="108000"/>
              </a:lnSpc>
              <a:spcAft>
                <a:spcPts val="1000"/>
              </a:spcAft>
            </a:pPr>
            <a:r>
              <a:rPr sz="1700">
                <a:solidFill>
                  <a:srgbClr val="121D21"/>
                </a:solidFill>
                <a:latin typeface="Calibri" panose="020F0502020204030204"/>
              </a:rPr>
              <a:t>•  Unit tests (Jest) — cover pure logic such as phone-number validation and normalisation, and reporting calculations.</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End-to-end tests (Playwright) — simulate a real business owner using the browser: registering, logging in, adding customers, recording debts, and recording payments.</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Manual exploratory testing — used throughout development to catch edge cases automated tests did not anticipate (e.g. a business appearing to owe itself money, duplicate customer records).</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Regression discipline — every fixed bug was paired with a test or a documented check, so the same defect could not silently return.</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A TypeScript-first codebase — the compiler itself catches an entire class of mistakes before the code is ever run.</a:t>
            </a:r>
            <a:endParaRPr sz="1700">
              <a:solidFill>
                <a:srgbClr val="121D21"/>
              </a:solidFill>
              <a:latin typeface="Calibri" panose="020F0502020204030204"/>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FOUR</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Results and Outcomes</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18</a:t>
            </a:r>
            <a:endParaRPr sz="1000" b="0" i="0">
              <a:solidFill>
                <a:srgbClr val="4B5A5E"/>
              </a:solidFill>
              <a:latin typeface="Calibri" panose="020F0502020204030204"/>
            </a:endParaRPr>
          </a:p>
        </p:txBody>
      </p:sp>
      <p:sp>
        <p:nvSpPr>
          <p:cNvPr id="8" name="TextBox 7"/>
          <p:cNvSpPr txBox="1"/>
          <p:nvPr/>
        </p:nvSpPr>
        <p:spPr>
          <a:xfrm>
            <a:off x="685800" y="1572768"/>
            <a:ext cx="10789920" cy="457200"/>
          </a:xfrm>
          <a:prstGeom prst="rect">
            <a:avLst/>
          </a:prstGeom>
          <a:noFill/>
        </p:spPr>
        <p:txBody>
          <a:bodyPr wrap="square">
            <a:spAutoFit/>
          </a:bodyPr>
          <a:lstStyle/>
          <a:p>
            <a:pPr algn="l"/>
            <a:r>
              <a:rPr sz="1350" b="0" i="1">
                <a:solidFill>
                  <a:srgbClr val="4B5A5E"/>
                </a:solidFill>
                <a:latin typeface="Calibri" panose="020F0502020204030204"/>
              </a:rPr>
              <a:t>[Insert screenshots of the running system here — e.g. Dashboard, Add Debt, Reminder SMS]</a:t>
            </a:r>
            <a:endParaRPr sz="1350" b="0" i="1">
              <a:solidFill>
                <a:srgbClr val="4B5A5E"/>
              </a:solidFill>
              <a:latin typeface="Calibri" panose="020F0502020204030204"/>
            </a:endParaRPr>
          </a:p>
        </p:txBody>
      </p:sp>
      <p:sp>
        <p:nvSpPr>
          <p:cNvPr id="9" name="Rectangle 8"/>
          <p:cNvSpPr/>
          <p:nvPr/>
        </p:nvSpPr>
        <p:spPr>
          <a:xfrm>
            <a:off x="685800" y="2057400"/>
            <a:ext cx="3566160" cy="2651760"/>
          </a:xfrm>
          <a:prstGeom prst="rect">
            <a:avLst/>
          </a:prstGeom>
          <a:solidFill>
            <a:srgbClr val="FFFFFF"/>
          </a:solidFill>
          <a:ln w="15875">
            <a:solidFill>
              <a:srgbClr val="DC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246120"/>
            <a:ext cx="3566160" cy="365760"/>
          </a:xfrm>
          <a:prstGeom prst="rect">
            <a:avLst/>
          </a:prstGeom>
          <a:noFill/>
        </p:spPr>
        <p:txBody>
          <a:bodyPr wrap="square">
            <a:spAutoFit/>
          </a:bodyPr>
          <a:lstStyle/>
          <a:p>
            <a:pPr algn="ctr"/>
            <a:r>
              <a:rPr sz="1300" b="0" i="0">
                <a:solidFill>
                  <a:srgbClr val="4B5A5E"/>
                </a:solidFill>
                <a:latin typeface="Calibri" panose="020F0502020204030204"/>
              </a:rPr>
              <a:t>[ Screenshot ]</a:t>
            </a:r>
            <a:endParaRPr sz="1300" b="0" i="0">
              <a:solidFill>
                <a:srgbClr val="4B5A5E"/>
              </a:solidFill>
              <a:latin typeface="Calibri" panose="020F0502020204030204"/>
            </a:endParaRPr>
          </a:p>
        </p:txBody>
      </p:sp>
      <p:sp>
        <p:nvSpPr>
          <p:cNvPr id="11" name="Rectangle 10"/>
          <p:cNvSpPr/>
          <p:nvPr/>
        </p:nvSpPr>
        <p:spPr>
          <a:xfrm>
            <a:off x="4279392" y="2057400"/>
            <a:ext cx="3566160" cy="2651760"/>
          </a:xfrm>
          <a:prstGeom prst="rect">
            <a:avLst/>
          </a:prstGeom>
          <a:solidFill>
            <a:srgbClr val="FFFFFF"/>
          </a:solidFill>
          <a:ln w="15875">
            <a:solidFill>
              <a:srgbClr val="DC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9392" y="3246120"/>
            <a:ext cx="3566160" cy="365760"/>
          </a:xfrm>
          <a:prstGeom prst="rect">
            <a:avLst/>
          </a:prstGeom>
          <a:noFill/>
        </p:spPr>
        <p:txBody>
          <a:bodyPr wrap="square">
            <a:spAutoFit/>
          </a:bodyPr>
          <a:lstStyle/>
          <a:p>
            <a:pPr algn="ctr"/>
            <a:r>
              <a:rPr sz="1300" b="0" i="0">
                <a:solidFill>
                  <a:srgbClr val="4B5A5E"/>
                </a:solidFill>
                <a:latin typeface="Calibri" panose="020F0502020204030204"/>
              </a:rPr>
              <a:t>[ Screenshot ]</a:t>
            </a:r>
            <a:endParaRPr sz="1300" b="0" i="0">
              <a:solidFill>
                <a:srgbClr val="4B5A5E"/>
              </a:solidFill>
              <a:latin typeface="Calibri" panose="020F0502020204030204"/>
            </a:endParaRPr>
          </a:p>
        </p:txBody>
      </p:sp>
      <p:sp>
        <p:nvSpPr>
          <p:cNvPr id="13" name="Rectangle 12"/>
          <p:cNvSpPr/>
          <p:nvPr/>
        </p:nvSpPr>
        <p:spPr>
          <a:xfrm>
            <a:off x="7872983" y="2057400"/>
            <a:ext cx="3566160" cy="2651760"/>
          </a:xfrm>
          <a:prstGeom prst="rect">
            <a:avLst/>
          </a:prstGeom>
          <a:solidFill>
            <a:srgbClr val="FFFFFF"/>
          </a:solidFill>
          <a:ln w="15875">
            <a:solidFill>
              <a:srgbClr val="DC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72983" y="3246120"/>
            <a:ext cx="3566160" cy="365760"/>
          </a:xfrm>
          <a:prstGeom prst="rect">
            <a:avLst/>
          </a:prstGeom>
          <a:noFill/>
        </p:spPr>
        <p:txBody>
          <a:bodyPr wrap="square">
            <a:spAutoFit/>
          </a:bodyPr>
          <a:lstStyle/>
          <a:p>
            <a:pPr algn="ctr"/>
            <a:r>
              <a:rPr sz="1300" b="0" i="0">
                <a:solidFill>
                  <a:srgbClr val="4B5A5E"/>
                </a:solidFill>
                <a:latin typeface="Calibri" panose="020F0502020204030204"/>
              </a:rPr>
              <a:t>[ Screenshot ]</a:t>
            </a:r>
            <a:endParaRPr sz="1300" b="0" i="0">
              <a:solidFill>
                <a:srgbClr val="4B5A5E"/>
              </a:solidFill>
              <a:latin typeface="Calibri" panose="020F0502020204030204"/>
            </a:endParaRPr>
          </a:p>
        </p:txBody>
      </p:sp>
      <p:sp>
        <p:nvSpPr>
          <p:cNvPr id="15" name="TextBox 14"/>
          <p:cNvSpPr txBox="1"/>
          <p:nvPr/>
        </p:nvSpPr>
        <p:spPr>
          <a:xfrm>
            <a:off x="685800" y="4892040"/>
            <a:ext cx="10789920" cy="1463040"/>
          </a:xfrm>
          <a:prstGeom prst="rect">
            <a:avLst/>
          </a:prstGeom>
          <a:noFill/>
        </p:spPr>
        <p:txBody>
          <a:bodyPr wrap="square">
            <a:spAutoFit/>
          </a:bodyPr>
          <a:lstStyle/>
          <a:p>
            <a:pPr>
              <a:lnSpc>
                <a:spcPct val="108000"/>
              </a:lnSpc>
              <a:spcAft>
                <a:spcPts val="1000"/>
              </a:spcAft>
            </a:pPr>
            <a:r>
              <a:rPr sz="1400">
                <a:solidFill>
                  <a:srgbClr val="121D21"/>
                </a:solidFill>
                <a:latin typeface="Calibri" panose="020F0502020204030204"/>
              </a:rPr>
              <a:t>•  A working system where debts and reminders no longer depend on anyone remembering.</a:t>
            </a:r>
            <a:endParaRPr sz="1400">
              <a:solidFill>
                <a:srgbClr val="121D21"/>
              </a:solidFill>
              <a:latin typeface="Calibri" panose="020F0502020204030204"/>
            </a:endParaRPr>
          </a:p>
          <a:p>
            <a:pPr>
              <a:lnSpc>
                <a:spcPct val="108000"/>
              </a:lnSpc>
              <a:spcAft>
                <a:spcPts val="1000"/>
              </a:spcAft>
            </a:pPr>
            <a:r>
              <a:rPr sz="1400">
                <a:solidFill>
                  <a:srgbClr val="121D21"/>
                </a:solidFill>
                <a:latin typeface="Calibri" panose="020F0502020204030204"/>
              </a:rPr>
              <a:t>•  Automated SMS/email reminders replacing manual, ad-hoc follow-up calls.</a:t>
            </a:r>
            <a:endParaRPr sz="1400">
              <a:solidFill>
                <a:srgbClr val="121D21"/>
              </a:solidFill>
              <a:latin typeface="Calibri" panose="020F0502020204030204"/>
            </a:endParaRPr>
          </a:p>
          <a:p>
            <a:pPr>
              <a:lnSpc>
                <a:spcPct val="108000"/>
              </a:lnSpc>
              <a:spcAft>
                <a:spcPts val="1000"/>
              </a:spcAft>
            </a:pPr>
            <a:r>
              <a:rPr sz="1400">
                <a:solidFill>
                  <a:srgbClr val="121D21"/>
                </a:solidFill>
                <a:latin typeface="Calibri" panose="020F0502020204030204"/>
              </a:rPr>
              <a:t>•  A single dashboard giving an at-a-glance view of everything a paper book could never show.</a:t>
            </a:r>
            <a:endParaRPr sz="1400">
              <a:solidFill>
                <a:srgbClr val="121D21"/>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FIVE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Future Enhancements — Room to Grow</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19</a:t>
            </a:r>
            <a:endParaRPr sz="1000" b="0" i="0">
              <a:solidFill>
                <a:srgbClr val="4B5A5E"/>
              </a:solidFill>
              <a:latin typeface="Calibri" panose="020F0502020204030204"/>
            </a:endParaRPr>
          </a:p>
        </p:txBody>
      </p:sp>
      <p:sp>
        <p:nvSpPr>
          <p:cNvPr id="8" name="TextBox 7"/>
          <p:cNvSpPr txBox="1"/>
          <p:nvPr/>
        </p:nvSpPr>
        <p:spPr>
          <a:xfrm>
            <a:off x="685800" y="1554480"/>
            <a:ext cx="10789920" cy="411480"/>
          </a:xfrm>
          <a:prstGeom prst="rect">
            <a:avLst/>
          </a:prstGeom>
          <a:noFill/>
        </p:spPr>
        <p:txBody>
          <a:bodyPr wrap="square">
            <a:spAutoFit/>
          </a:bodyPr>
          <a:lstStyle/>
          <a:p>
            <a:pPr algn="l"/>
            <a:r>
              <a:rPr sz="1450" b="0" i="0">
                <a:solidFill>
                  <a:srgbClr val="4B5A5E"/>
                </a:solidFill>
                <a:latin typeface="Calibri" panose="020F0502020204030204"/>
              </a:rPr>
              <a:t>KopaAlert solves the core problem, but I have deliberately left room for the following future work:</a:t>
            </a:r>
            <a:endParaRPr sz="1450" b="0" i="0">
              <a:solidFill>
                <a:srgbClr val="4B5A5E"/>
              </a:solidFill>
              <a:latin typeface="Calibri" panose="020F0502020204030204"/>
            </a:endParaRPr>
          </a:p>
        </p:txBody>
      </p:sp>
      <p:sp>
        <p:nvSpPr>
          <p:cNvPr id="9" name="TextBox 8"/>
          <p:cNvSpPr txBox="1"/>
          <p:nvPr/>
        </p:nvSpPr>
        <p:spPr>
          <a:xfrm>
            <a:off x="685800" y="2103120"/>
            <a:ext cx="10789920" cy="4114800"/>
          </a:xfrm>
          <a:prstGeom prst="rect">
            <a:avLst/>
          </a:prstGeom>
          <a:noFill/>
        </p:spPr>
        <p:txBody>
          <a:bodyPr wrap="square">
            <a:spAutoFit/>
          </a:bodyPr>
          <a:lstStyle/>
          <a:p>
            <a:pPr>
              <a:lnSpc>
                <a:spcPct val="108000"/>
              </a:lnSpc>
              <a:spcAft>
                <a:spcPts val="1100"/>
              </a:spcAft>
            </a:pPr>
            <a:r>
              <a:rPr sz="1550">
                <a:solidFill>
                  <a:srgbClr val="121D21"/>
                </a:solidFill>
                <a:latin typeface="Calibri" panose="020F0502020204030204"/>
              </a:rPr>
              <a:t>•  M-Pesa STK Push integration, so a payment is detected and recorded automatically instead of being entered manually.</a:t>
            </a:r>
            <a:endParaRPr sz="1550">
              <a:solidFill>
                <a:srgbClr val="121D21"/>
              </a:solidFill>
              <a:latin typeface="Calibri" panose="020F0502020204030204"/>
            </a:endParaRPr>
          </a:p>
          <a:p>
            <a:pPr>
              <a:lnSpc>
                <a:spcPct val="108000"/>
              </a:lnSpc>
              <a:spcAft>
                <a:spcPts val="1100"/>
              </a:spcAft>
            </a:pPr>
            <a:r>
              <a:rPr sz="1550">
                <a:solidFill>
                  <a:srgbClr val="121D21"/>
                </a:solidFill>
                <a:latin typeface="Calibri" panose="020F0502020204030204"/>
              </a:rPr>
              <a:t>•  WhatsApp reminders alongside SMS and email, for customers who prefer it.</a:t>
            </a:r>
            <a:endParaRPr sz="1550">
              <a:solidFill>
                <a:srgbClr val="121D21"/>
              </a:solidFill>
              <a:latin typeface="Calibri" panose="020F0502020204030204"/>
            </a:endParaRPr>
          </a:p>
          <a:p>
            <a:pPr>
              <a:lnSpc>
                <a:spcPct val="108000"/>
              </a:lnSpc>
              <a:spcAft>
                <a:spcPts val="1100"/>
              </a:spcAft>
            </a:pPr>
            <a:r>
              <a:rPr sz="1550">
                <a:solidFill>
                  <a:srgbClr val="121D21"/>
                </a:solidFill>
                <a:latin typeface="Calibri" panose="020F0502020204030204"/>
              </a:rPr>
              <a:t>•  An offline-capable mobile app that syncs once network connectivity returns — directly addressing the network challenges I faced myself while building this system.</a:t>
            </a:r>
            <a:endParaRPr sz="1550">
              <a:solidFill>
                <a:srgbClr val="121D21"/>
              </a:solidFill>
              <a:latin typeface="Calibri" panose="020F0502020204030204"/>
            </a:endParaRPr>
          </a:p>
          <a:p>
            <a:pPr>
              <a:lnSpc>
                <a:spcPct val="108000"/>
              </a:lnSpc>
              <a:spcAft>
                <a:spcPts val="1100"/>
              </a:spcAft>
            </a:pPr>
            <a:r>
              <a:rPr sz="1550">
                <a:solidFill>
                  <a:srgbClr val="121D21"/>
                </a:solidFill>
                <a:latin typeface="Calibri" panose="020F0502020204030204"/>
              </a:rPr>
              <a:t>•  AI-assisted credit-risk scoring, predicting which customers are likely to default before they do.</a:t>
            </a:r>
            <a:endParaRPr sz="1550">
              <a:solidFill>
                <a:srgbClr val="121D21"/>
              </a:solidFill>
              <a:latin typeface="Calibri" panose="020F0502020204030204"/>
            </a:endParaRPr>
          </a:p>
          <a:p>
            <a:pPr>
              <a:lnSpc>
                <a:spcPct val="108000"/>
              </a:lnSpc>
              <a:spcAft>
                <a:spcPts val="1100"/>
              </a:spcAft>
            </a:pPr>
            <a:r>
              <a:rPr sz="1550">
                <a:solidFill>
                  <a:srgbClr val="121D21"/>
                </a:solidFill>
                <a:latin typeface="Calibri" panose="020F0502020204030204"/>
              </a:rPr>
              <a:t>•  Voice-call reminders for customers without reliable access to SMS or a smartphone.</a:t>
            </a:r>
            <a:endParaRPr sz="1550">
              <a:solidFill>
                <a:srgbClr val="121D21"/>
              </a:solidFill>
              <a:latin typeface="Calibri" panose="020F0502020204030204"/>
            </a:endParaRPr>
          </a:p>
          <a:p>
            <a:pPr>
              <a:lnSpc>
                <a:spcPct val="108000"/>
              </a:lnSpc>
              <a:spcAft>
                <a:spcPts val="1100"/>
              </a:spcAft>
            </a:pPr>
            <a:r>
              <a:rPr sz="1550">
                <a:solidFill>
                  <a:srgbClr val="121D21"/>
                </a:solidFill>
                <a:latin typeface="Calibri" panose="020F0502020204030204"/>
              </a:rPr>
              <a:t>•  Multi-currency and multi-country support, to extend KopaAlert beyond Kenya.</a:t>
            </a:r>
            <a:endParaRPr sz="1550">
              <a:solidFill>
                <a:srgbClr val="121D21"/>
              </a:solidFill>
              <a:latin typeface="Calibri" panose="020F0502020204030204"/>
            </a:endParaRPr>
          </a:p>
          <a:p>
            <a:pPr>
              <a:lnSpc>
                <a:spcPct val="108000"/>
              </a:lnSpc>
              <a:spcAft>
                <a:spcPts val="1100"/>
              </a:spcAft>
            </a:pPr>
            <a:r>
              <a:rPr sz="1550">
                <a:solidFill>
                  <a:srgbClr val="121D21"/>
                </a:solidFill>
                <a:latin typeface="Calibri" panose="020F0502020204030204"/>
              </a:rPr>
              <a:t>•  Inventory and point-of-sale integration, connecting what was sold to what is owed.</a:t>
            </a:r>
            <a:endParaRPr sz="1550">
              <a:solidFill>
                <a:srgbClr val="121D21"/>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FIVE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Conclusion</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20</a:t>
            </a:r>
            <a:endParaRPr sz="1000" b="0" i="0">
              <a:solidFill>
                <a:srgbClr val="4B5A5E"/>
              </a:solidFill>
              <a:latin typeface="Calibri" panose="020F0502020204030204"/>
            </a:endParaRPr>
          </a:p>
        </p:txBody>
      </p:sp>
      <p:sp>
        <p:nvSpPr>
          <p:cNvPr id="8" name="Rectangle 7"/>
          <p:cNvSpPr/>
          <p:nvPr/>
        </p:nvSpPr>
        <p:spPr>
          <a:xfrm>
            <a:off x="685800" y="1600200"/>
            <a:ext cx="1078992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600200"/>
            <a:ext cx="10789920" cy="7315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74519"/>
            <a:ext cx="10149840" cy="4023360"/>
          </a:xfrm>
          <a:prstGeom prst="rect">
            <a:avLst/>
          </a:prstGeom>
          <a:noFill/>
        </p:spPr>
        <p:txBody>
          <a:bodyPr wrap="square">
            <a:spAutoFit/>
          </a:bodyPr>
          <a:lstStyle/>
          <a:p>
            <a:pPr>
              <a:lnSpc>
                <a:spcPct val="118000"/>
              </a:lnSpc>
              <a:spcAft>
                <a:spcPts val="1200"/>
              </a:spcAft>
            </a:pPr>
            <a:r>
              <a:rPr sz="1550">
                <a:solidFill>
                  <a:srgbClr val="121D21"/>
                </a:solidFill>
                <a:latin typeface="Calibri" panose="020F0502020204030204"/>
              </a:rPr>
              <a:t>KopaAlert started from a problem I did not have to imagine — I watched it happen in a real business, week after week, as debts went unrecorded and customers went unreminded. Building a system to close that gap took me through every stage of real software development: identifying a genuine problem, designing a data model and architecture around it, writing and testing code under real constraints, and confronting the practical obstacles — hardware, power, network, time, and money — that every developer eventually meets outside the classroom.</a:t>
            </a:r>
            <a:endParaRPr sz="1550">
              <a:solidFill>
                <a:srgbClr val="121D21"/>
              </a:solidFill>
              <a:latin typeface="Calibri" panose="020F0502020204030204"/>
            </a:endParaRPr>
          </a:p>
          <a:p>
            <a:pPr>
              <a:lnSpc>
                <a:spcPct val="118000"/>
              </a:lnSpc>
              <a:spcAft>
                <a:spcPts val="1200"/>
              </a:spcAft>
            </a:pPr>
            <a:r>
              <a:rPr sz="1550">
                <a:solidFill>
                  <a:srgbClr val="121D21"/>
                </a:solidFill>
                <a:latin typeface="Calibri" panose="020F0502020204030204"/>
              </a:rPr>
              <a:t>The result is a system that does what the exercise book never could: it remembers, every time, for every customer, without being asked. I consider that the central achievement of this project, and the foundation I intend to keep building on.</a:t>
            </a:r>
            <a:endParaRPr sz="1550">
              <a:solidFill>
                <a:srgbClr val="121D21"/>
              </a:solidFill>
              <a:latin typeface="Calibri" panose="020F0502020204030204"/>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21D21"/>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3408"/>
            <a:ext cx="12191695" cy="164592"/>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1097280"/>
          </a:xfrm>
          <a:prstGeom prst="rect">
            <a:avLst/>
          </a:prstGeom>
          <a:noFill/>
        </p:spPr>
        <p:txBody>
          <a:bodyPr wrap="square">
            <a:spAutoFit/>
          </a:bodyPr>
          <a:lstStyle/>
          <a:p>
            <a:pPr algn="l"/>
            <a:r>
              <a:rPr sz="5400" b="1" i="0">
                <a:solidFill>
                  <a:srgbClr val="FFFFFF"/>
                </a:solidFill>
                <a:latin typeface="Calibri" panose="020F0502020204030204"/>
              </a:rPr>
              <a:t>Thank You</a:t>
            </a:r>
            <a:endParaRPr sz="5400" b="1" i="0">
              <a:solidFill>
                <a:srgbClr val="FFFFFF"/>
              </a:solidFill>
              <a:latin typeface="Calibri" panose="020F0502020204030204"/>
            </a:endParaRPr>
          </a:p>
        </p:txBody>
      </p:sp>
      <p:sp>
        <p:nvSpPr>
          <p:cNvPr id="5" name="TextBox 4"/>
          <p:cNvSpPr txBox="1"/>
          <p:nvPr/>
        </p:nvSpPr>
        <p:spPr>
          <a:xfrm>
            <a:off x="822960" y="3703320"/>
            <a:ext cx="10515600" cy="548640"/>
          </a:xfrm>
          <a:prstGeom prst="rect">
            <a:avLst/>
          </a:prstGeom>
          <a:noFill/>
        </p:spPr>
        <p:txBody>
          <a:bodyPr wrap="square">
            <a:spAutoFit/>
          </a:bodyPr>
          <a:lstStyle/>
          <a:p>
            <a:pPr algn="l"/>
            <a:r>
              <a:rPr sz="2000" b="0" i="0">
                <a:solidFill>
                  <a:srgbClr val="CFE3E0"/>
                </a:solidFill>
                <a:latin typeface="Calibri" panose="020F0502020204030204"/>
              </a:rPr>
              <a:t>Questions and Discussion</a:t>
            </a:r>
            <a:endParaRPr sz="2000" b="0" i="0">
              <a:solidFill>
                <a:srgbClr val="CFE3E0"/>
              </a:solidFill>
              <a:latin typeface="Calibri" panose="020F0502020204030204"/>
            </a:endParaRPr>
          </a:p>
        </p:txBody>
      </p:sp>
      <p:sp>
        <p:nvSpPr>
          <p:cNvPr id="6" name="TextBox 5"/>
          <p:cNvSpPr txBox="1"/>
          <p:nvPr/>
        </p:nvSpPr>
        <p:spPr>
          <a:xfrm>
            <a:off x="822960" y="4663440"/>
            <a:ext cx="10515600" cy="365760"/>
          </a:xfrm>
          <a:prstGeom prst="rect">
            <a:avLst/>
          </a:prstGeom>
          <a:noFill/>
        </p:spPr>
        <p:txBody>
          <a:bodyPr wrap="square">
            <a:spAutoFit/>
          </a:bodyPr>
          <a:lstStyle/>
          <a:p>
            <a:pPr algn="l"/>
            <a:r>
              <a:rPr sz="1500" b="1" i="0">
                <a:solidFill>
                  <a:srgbClr val="E69A1F"/>
                </a:solidFill>
                <a:latin typeface="Calibri" panose="020F0502020204030204"/>
              </a:rPr>
              <a:t>Stanley Murangiri  —  Mama Ngina University College</a:t>
            </a:r>
            <a:endParaRPr sz="1500" b="1" i="0">
              <a:solidFill>
                <a:srgbClr val="E69A1F"/>
              </a:solidFill>
              <a:latin typeface="Calibri" panose="020F05020202040302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14911</Words>
  <Application>WPS Presentation</Application>
  <PresentationFormat>On-screen Show (4:3)</PresentationFormat>
  <Paragraphs>437</Paragraphs>
  <Slides>21</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21</vt:i4>
      </vt:variant>
    </vt:vector>
  </HeadingPairs>
  <TitlesOfParts>
    <vt:vector size="29" baseType="lpstr">
      <vt:lpstr>Arial</vt:lpstr>
      <vt:lpstr>SimSun</vt:lpstr>
      <vt:lpstr>Wingdings</vt:lpstr>
      <vt:lpstr>Arial</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PC</cp:lastModifiedBy>
  <cp:revision>2</cp:revision>
  <dcterms:created xsi:type="dcterms:W3CDTF">2013-01-27T09:14:00Z</dcterms:created>
  <dcterms:modified xsi:type="dcterms:W3CDTF">2026-09-10T13:44:03Z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A506809A5011482E9EF1790E42894941_12</vt:lpwstr>
  </property>
</Properties>
</file>